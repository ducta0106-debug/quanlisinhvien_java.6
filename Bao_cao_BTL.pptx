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9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5" r:id="rId39"/>
    <p:sldId id="297" r:id="rId40"/>
    <p:sldId id="298" r:id="rId41"/>
    <p:sldId id="292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367ED8-D2BE-4A70-AED3-ED0A72EAD092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AB5992-1CFE-4864-9F20-1B9B2D6E0C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268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AB5992-1CFE-4864-9F20-1B9B2D6E0CD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5054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7498079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900" b="1">
                <a:solidFill>
                  <a:srgbClr val="FFFFFF"/>
                </a:solidFill>
              </a:defRPr>
            </a:pPr>
            <a:r>
              <a:t>BÁO CÁO BÀI TẬP LỚN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7589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>
                <a:solidFill>
                  <a:srgbClr val="BFDBFE"/>
                </a:solidFill>
              </a:defRPr>
            </a:pPr>
            <a:r>
              <a:t>Hệ thống Quản lý Sinh viên</a:t>
            </a:r>
            <a:br/>
            <a:r>
              <a:t>Java Swing + MySQL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52120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E2E8F0"/>
                </a:solidFill>
              </a:defRPr>
            </a:pPr>
            <a:r>
              <a:t>Có kèm phần phân tích chức năng, cơ sở dữ liệu và code chính trong dự án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BFD0F3-B6DF-1CDF-40A6-79B2D7610189}"/>
              </a:ext>
            </a:extLst>
          </p:cNvPr>
          <p:cNvSpPr/>
          <p:nvPr/>
        </p:nvSpPr>
        <p:spPr>
          <a:xfrm>
            <a:off x="8458200" y="2890602"/>
            <a:ext cx="3755923" cy="153399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9B93AB2-07A2-0872-1A52-6FC4A8E8F1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0345" y="3063240"/>
            <a:ext cx="2569204" cy="10512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D1B2A"/>
                </a:solidFill>
              </a:defRPr>
            </a:pPr>
            <a:r>
              <a:t>Nội dung báo cáo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510528"/>
            <a:ext cx="11064240" cy="13716"/>
          </a:xfrm>
          <a:prstGeom prst="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16161"/>
                </a:solidFill>
              </a:defRPr>
            </a:pPr>
            <a:r>
              <a:t>Báo cáo BTL: Hệ thống Quản lý Sinh viên | Java Swing + MySQL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16161"/>
                </a:solidFill>
              </a:defRPr>
            </a:pPr>
            <a: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1234440"/>
            <a:ext cx="384048" cy="384048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41832" y="1298448"/>
            <a:ext cx="18288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216152"/>
            <a:ext cx="96012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D1B2A"/>
                </a:solidFill>
              </a:defRPr>
            </a:pPr>
            <a:r>
              <a:t>Tổng quan đề tài &amp; mục tiêu xây dựng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1984248"/>
            <a:ext cx="384048" cy="384048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41832" y="2048255"/>
            <a:ext cx="18288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965960"/>
            <a:ext cx="96012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D1B2A"/>
                </a:solidFill>
              </a:defRPr>
            </a:pPr>
            <a:r>
              <a:t>Công nghệ sử dụng và cấu trúc dự án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2734056"/>
            <a:ext cx="384048" cy="384048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41832" y="2798064"/>
            <a:ext cx="18288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2715768"/>
            <a:ext cx="96012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D1B2A"/>
                </a:solidFill>
              </a:defRPr>
            </a:pPr>
            <a:r>
              <a:t>Thiết kế cơ sở dữ liệu MySQL</a:t>
            </a:r>
          </a:p>
        </p:txBody>
      </p:sp>
      <p:sp>
        <p:nvSpPr>
          <p:cNvPr id="16" name="Oval 15"/>
          <p:cNvSpPr/>
          <p:nvPr/>
        </p:nvSpPr>
        <p:spPr>
          <a:xfrm>
            <a:off x="822960" y="3483864"/>
            <a:ext cx="384048" cy="384048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41832" y="3547872"/>
            <a:ext cx="18288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3465576"/>
            <a:ext cx="96012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D1B2A"/>
                </a:solidFill>
              </a:defRPr>
            </a:pPr>
            <a:r>
              <a:t>Các chức năng chính của hệ thống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233672"/>
            <a:ext cx="384048" cy="384048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41832" y="4297680"/>
            <a:ext cx="18288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4215384"/>
            <a:ext cx="96012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D1B2A"/>
                </a:solidFill>
              </a:defRPr>
            </a:pPr>
            <a:r>
              <a:t>Phân tích code: kết nối DB, đăng nhập, CRUD, tìm kiếm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4983479"/>
            <a:ext cx="384048" cy="384048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41832" y="5047488"/>
            <a:ext cx="182880" cy="91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4965192"/>
            <a:ext cx="96012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D1B2A"/>
                </a:solidFill>
              </a:defRPr>
            </a:pPr>
            <a:r>
              <a:t>Ưu điểm, hạn chế và hướng phát triển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D1B2A"/>
                </a:solidFill>
              </a:defRPr>
            </a:pPr>
            <a:r>
              <a:t>Tổng quan đề tài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2296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16161"/>
                </a:solidFill>
              </a:defRPr>
            </a:pPr>
            <a:r>
              <a:t>Bài toán quản lý thông tin sinh viên trong nhà trường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10528"/>
            <a:ext cx="11064240" cy="13716"/>
          </a:xfrm>
          <a:prstGeom prst="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16161"/>
                </a:solidFill>
              </a:defRPr>
            </a:pPr>
            <a:r>
              <a:t>Báo cáo BTL: Hệ thống Quản lý Sinh viên | Java Swing + MySQL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547104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16161"/>
                </a:solidFill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338328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1520" y="1234440"/>
            <a:ext cx="73152" cy="182880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96112" y="1344168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1B2A"/>
                </a:solidFill>
              </a:defRPr>
            </a:pPr>
            <a:r>
              <a:t>Vấn đề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1764792"/>
            <a:ext cx="3063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41414"/>
                </a:solidFill>
              </a:defRPr>
            </a:pPr>
            <a:r>
              <a:t>Dữ liệu sinh viên cần được lưu trữ tập trung.</a:t>
            </a:r>
          </a:p>
          <a:p>
            <a:pPr>
              <a:defRPr sz="1200">
                <a:solidFill>
                  <a:srgbClr val="141414"/>
                </a:solidFill>
              </a:defRPr>
            </a:pPr>
            <a:r>
              <a:t>Cần thao tác nhanh: xem, thêm, sửa, xóa, tìm kiếm.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234440"/>
            <a:ext cx="338328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234440"/>
            <a:ext cx="73152" cy="1828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53712" y="1344168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1B2A"/>
                </a:solidFill>
              </a:defRPr>
            </a:pPr>
            <a:r>
              <a:t>Giải pháp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1764792"/>
            <a:ext cx="3063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41414"/>
                </a:solidFill>
              </a:defRPr>
            </a:pPr>
            <a:r>
              <a:t>Ứng dụng desktop dùng Java Swing.</a:t>
            </a:r>
          </a:p>
          <a:p>
            <a:pPr>
              <a:defRPr sz="1200">
                <a:solidFill>
                  <a:srgbClr val="141414"/>
                </a:solidFill>
              </a:defRPr>
            </a:pPr>
            <a:r>
              <a:t>Kết nối MySQL bằng JDBC để quản lý dữ liệu.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234440"/>
            <a:ext cx="338328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46720" y="1234440"/>
            <a:ext cx="73152" cy="1828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11312" y="1344168"/>
            <a:ext cx="3063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1B2A"/>
                </a:solidFill>
              </a:defRPr>
            </a:pPr>
            <a:r>
              <a:t>Kết quả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1312" y="1764792"/>
            <a:ext cx="3063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41414"/>
                </a:solidFill>
              </a:defRPr>
            </a:pPr>
            <a:r>
              <a:t>Có đăng nhập và phân quyền.</a:t>
            </a:r>
          </a:p>
          <a:p>
            <a:pPr>
              <a:defRPr sz="1200">
                <a:solidFill>
                  <a:srgbClr val="141414"/>
                </a:solidFill>
              </a:defRPr>
            </a:pPr>
            <a:r>
              <a:t>Có form quản lý sinh viên, bảng dữ liệu và tìm kiếm nâng cao.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4206240"/>
            <a:ext cx="2194560" cy="731520"/>
          </a:xfrm>
          <a:prstGeom prst="roundRect">
            <a:avLst/>
          </a:prstGeom>
          <a:solidFill>
            <a:srgbClr val="E8F4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D1B2A"/>
                </a:solidFill>
              </a:defRPr>
            </a:pPr>
            <a:r>
              <a:t>Người dùng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4206240"/>
            <a:ext cx="2194560" cy="731520"/>
          </a:xfrm>
          <a:prstGeom prst="roundRect">
            <a:avLst/>
          </a:prstGeom>
          <a:solidFill>
            <a:srgbClr val="E8F4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D1B2A"/>
                </a:solidFill>
              </a:defRPr>
            </a:pPr>
            <a:r>
              <a:t>Giao diện Swing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0" y="4206240"/>
            <a:ext cx="2194560" cy="731520"/>
          </a:xfrm>
          <a:prstGeom prst="roundRect">
            <a:avLst/>
          </a:prstGeom>
          <a:solidFill>
            <a:srgbClr val="E8F4FF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D1B2A"/>
                </a:solidFill>
              </a:defRPr>
            </a:pPr>
            <a:r>
              <a:t>MySQL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291840" y="4572000"/>
            <a:ext cx="1097280" cy="0"/>
          </a:xfrm>
          <a:prstGeom prst="line">
            <a:avLst/>
          </a:prstGeom>
          <a:ln w="254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583680" y="4572000"/>
            <a:ext cx="1188720" cy="0"/>
          </a:xfrm>
          <a:prstGeom prst="line">
            <a:avLst/>
          </a:prstGeom>
          <a:ln w="254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D1B2A"/>
                </a:solidFill>
              </a:defRPr>
            </a:pPr>
            <a:r>
              <a:t>Mục tiêu xây dựng hệ thống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510528"/>
            <a:ext cx="11064240" cy="13716"/>
          </a:xfrm>
          <a:prstGeom prst="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16161"/>
                </a:solidFill>
              </a:defRPr>
            </a:pPr>
            <a:r>
              <a:t>Báo cáo BTL: Hệ thống Quản lý Sinh viên | Java Swing + MySQL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16161"/>
                </a:solidFill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143000"/>
            <a:ext cx="105156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defRPr sz="2000">
                <a:solidFill>
                  <a:srgbClr val="141414"/>
                </a:solidFill>
              </a:defRPr>
            </a:pPr>
            <a:r>
              <a:rPr sz="2400" dirty="0" err="1"/>
              <a:t>Xây</a:t>
            </a:r>
            <a:r>
              <a:rPr sz="2400" dirty="0"/>
              <a:t> </a:t>
            </a:r>
            <a:r>
              <a:rPr sz="2400" dirty="0" err="1"/>
              <a:t>dựng</a:t>
            </a:r>
            <a:r>
              <a:rPr sz="2400" dirty="0"/>
              <a:t> </a:t>
            </a:r>
            <a:r>
              <a:rPr sz="2400" dirty="0" err="1"/>
              <a:t>phần</a:t>
            </a:r>
            <a:r>
              <a:rPr sz="2400" dirty="0"/>
              <a:t> </a:t>
            </a:r>
            <a:r>
              <a:rPr sz="2400" dirty="0" err="1"/>
              <a:t>mềm</a:t>
            </a:r>
            <a:r>
              <a:rPr sz="2400" dirty="0"/>
              <a:t> </a:t>
            </a:r>
            <a:r>
              <a:rPr sz="2400" dirty="0" err="1"/>
              <a:t>quản</a:t>
            </a:r>
            <a:r>
              <a:rPr sz="2400" dirty="0"/>
              <a:t> </a:t>
            </a:r>
            <a:r>
              <a:rPr sz="2400" dirty="0" err="1"/>
              <a:t>lý</a:t>
            </a:r>
            <a:r>
              <a:rPr sz="2400" dirty="0"/>
              <a:t> </a:t>
            </a:r>
            <a:r>
              <a:rPr sz="2400" dirty="0" err="1"/>
              <a:t>sinh</a:t>
            </a:r>
            <a:r>
              <a:rPr sz="2400" dirty="0"/>
              <a:t> </a:t>
            </a:r>
            <a:r>
              <a:rPr sz="2400" dirty="0" err="1"/>
              <a:t>viên</a:t>
            </a:r>
            <a:r>
              <a:rPr sz="2400" dirty="0"/>
              <a:t> </a:t>
            </a:r>
            <a:r>
              <a:rPr sz="2400" dirty="0" err="1"/>
              <a:t>có</a:t>
            </a:r>
            <a:r>
              <a:rPr sz="2400" dirty="0"/>
              <a:t> </a:t>
            </a:r>
            <a:r>
              <a:rPr sz="2400" dirty="0" err="1"/>
              <a:t>giao</a:t>
            </a:r>
            <a:r>
              <a:rPr sz="2400" dirty="0"/>
              <a:t> </a:t>
            </a:r>
            <a:r>
              <a:rPr sz="2400" dirty="0" err="1"/>
              <a:t>diện</a:t>
            </a:r>
            <a:r>
              <a:rPr sz="2400" dirty="0"/>
              <a:t> </a:t>
            </a:r>
            <a:r>
              <a:rPr sz="2400" dirty="0" err="1"/>
              <a:t>dễ</a:t>
            </a:r>
            <a:r>
              <a:rPr sz="2400" dirty="0"/>
              <a:t> </a:t>
            </a:r>
            <a:r>
              <a:rPr sz="2400" dirty="0" err="1"/>
              <a:t>dùng</a:t>
            </a:r>
            <a:r>
              <a:rPr sz="2400" dirty="0"/>
              <a:t>, </a:t>
            </a:r>
            <a:r>
              <a:rPr sz="2400" dirty="0" err="1"/>
              <a:t>phù</a:t>
            </a:r>
            <a:r>
              <a:rPr sz="2400" dirty="0"/>
              <a:t> </a:t>
            </a:r>
            <a:r>
              <a:rPr sz="2400" dirty="0" err="1"/>
              <a:t>hợp</a:t>
            </a:r>
            <a:r>
              <a:rPr sz="2400" dirty="0"/>
              <a:t> </a:t>
            </a:r>
            <a:r>
              <a:rPr sz="2400" dirty="0" err="1"/>
              <a:t>cho</a:t>
            </a:r>
            <a:r>
              <a:rPr sz="2400" dirty="0"/>
              <a:t> </a:t>
            </a:r>
            <a:r>
              <a:rPr sz="2400" dirty="0" err="1"/>
              <a:t>bài</a:t>
            </a:r>
            <a:r>
              <a:rPr sz="2400" dirty="0"/>
              <a:t> </a:t>
            </a:r>
            <a:r>
              <a:rPr sz="2400" dirty="0" err="1"/>
              <a:t>tập</a:t>
            </a:r>
            <a:r>
              <a:rPr sz="2400" dirty="0"/>
              <a:t> </a:t>
            </a:r>
            <a:r>
              <a:rPr sz="2400" dirty="0" err="1"/>
              <a:t>lớn</a:t>
            </a:r>
            <a:r>
              <a:rPr sz="2400" dirty="0"/>
              <a:t> Java.</a:t>
            </a:r>
          </a:p>
          <a:p>
            <a:pPr>
              <a:buChar char="•"/>
              <a:defRPr sz="2000">
                <a:solidFill>
                  <a:srgbClr val="141414"/>
                </a:solidFill>
              </a:defRPr>
            </a:pPr>
            <a:r>
              <a:rPr sz="2400" dirty="0"/>
              <a:t>Lưu </a:t>
            </a:r>
            <a:r>
              <a:rPr sz="2400" dirty="0" err="1"/>
              <a:t>trữ</a:t>
            </a:r>
            <a:r>
              <a:rPr sz="2400" dirty="0"/>
              <a:t> </a:t>
            </a:r>
            <a:r>
              <a:rPr sz="2400" dirty="0" err="1"/>
              <a:t>dữ</a:t>
            </a:r>
            <a:r>
              <a:rPr sz="2400" dirty="0"/>
              <a:t> </a:t>
            </a:r>
            <a:r>
              <a:rPr sz="2400" dirty="0" err="1"/>
              <a:t>liệu</a:t>
            </a:r>
            <a:r>
              <a:rPr sz="2400" dirty="0"/>
              <a:t> </a:t>
            </a:r>
            <a:r>
              <a:rPr sz="2400" dirty="0" err="1"/>
              <a:t>bằng</a:t>
            </a:r>
            <a:r>
              <a:rPr sz="2400" dirty="0"/>
              <a:t> MySQL </a:t>
            </a:r>
            <a:r>
              <a:rPr sz="2400" dirty="0" err="1"/>
              <a:t>để</a:t>
            </a:r>
            <a:r>
              <a:rPr sz="2400" dirty="0"/>
              <a:t> </a:t>
            </a:r>
            <a:r>
              <a:rPr sz="2400" dirty="0" err="1"/>
              <a:t>tránh</a:t>
            </a:r>
            <a:r>
              <a:rPr sz="2400" dirty="0"/>
              <a:t> </a:t>
            </a:r>
            <a:r>
              <a:rPr sz="2400" dirty="0" err="1"/>
              <a:t>mất</a:t>
            </a:r>
            <a:r>
              <a:rPr sz="2400" dirty="0"/>
              <a:t> </a:t>
            </a:r>
            <a:r>
              <a:rPr sz="2400" dirty="0" err="1"/>
              <a:t>dữ</a:t>
            </a:r>
            <a:r>
              <a:rPr sz="2400" dirty="0"/>
              <a:t> </a:t>
            </a:r>
            <a:r>
              <a:rPr sz="2400" dirty="0" err="1"/>
              <a:t>liệu</a:t>
            </a:r>
            <a:r>
              <a:rPr sz="2400" dirty="0"/>
              <a:t> </a:t>
            </a:r>
            <a:r>
              <a:rPr sz="2400" dirty="0" err="1"/>
              <a:t>khi</a:t>
            </a:r>
            <a:r>
              <a:rPr sz="2400" dirty="0"/>
              <a:t> </a:t>
            </a:r>
            <a:r>
              <a:rPr sz="2400" dirty="0" err="1"/>
              <a:t>đóng</a:t>
            </a:r>
            <a:r>
              <a:rPr sz="2400" dirty="0"/>
              <a:t> </a:t>
            </a:r>
            <a:r>
              <a:rPr sz="2400" dirty="0" err="1"/>
              <a:t>chương</a:t>
            </a:r>
            <a:r>
              <a:rPr sz="2400" dirty="0"/>
              <a:t> </a:t>
            </a:r>
            <a:r>
              <a:rPr sz="2400" dirty="0" err="1"/>
              <a:t>trình</a:t>
            </a:r>
            <a:r>
              <a:rPr sz="2400" dirty="0"/>
              <a:t>.</a:t>
            </a:r>
          </a:p>
          <a:p>
            <a:pPr>
              <a:buChar char="•"/>
              <a:defRPr sz="2000">
                <a:solidFill>
                  <a:srgbClr val="141414"/>
                </a:solidFill>
              </a:defRPr>
            </a:pPr>
            <a:r>
              <a:rPr sz="2400" dirty="0" err="1"/>
              <a:t>Tạo</a:t>
            </a:r>
            <a:r>
              <a:rPr sz="2400" dirty="0"/>
              <a:t> </a:t>
            </a:r>
            <a:r>
              <a:rPr sz="2400" dirty="0" err="1"/>
              <a:t>chức</a:t>
            </a:r>
            <a:r>
              <a:rPr sz="2400" dirty="0"/>
              <a:t> </a:t>
            </a:r>
            <a:r>
              <a:rPr sz="2400" dirty="0" err="1"/>
              <a:t>năng</a:t>
            </a:r>
            <a:r>
              <a:rPr sz="2400" dirty="0"/>
              <a:t> </a:t>
            </a:r>
            <a:r>
              <a:rPr sz="2400" dirty="0" err="1"/>
              <a:t>đăng</a:t>
            </a:r>
            <a:r>
              <a:rPr sz="2400" dirty="0"/>
              <a:t> </a:t>
            </a:r>
            <a:r>
              <a:rPr sz="2400" dirty="0" err="1"/>
              <a:t>nhập</a:t>
            </a:r>
            <a:r>
              <a:rPr sz="2400" dirty="0"/>
              <a:t>, </a:t>
            </a:r>
            <a:r>
              <a:rPr sz="2400" dirty="0" err="1"/>
              <a:t>phân</a:t>
            </a:r>
            <a:r>
              <a:rPr sz="2400" dirty="0"/>
              <a:t> </a:t>
            </a:r>
            <a:r>
              <a:rPr sz="2400" dirty="0" err="1"/>
              <a:t>quyền</a:t>
            </a:r>
            <a:r>
              <a:rPr sz="2400" dirty="0"/>
              <a:t> </a:t>
            </a:r>
            <a:r>
              <a:rPr sz="2400" dirty="0" err="1"/>
              <a:t>theo</a:t>
            </a:r>
            <a:r>
              <a:rPr sz="2400" dirty="0"/>
              <a:t> </a:t>
            </a:r>
            <a:r>
              <a:rPr sz="2400" dirty="0" err="1"/>
              <a:t>vai</a:t>
            </a:r>
            <a:r>
              <a:rPr sz="2400" dirty="0"/>
              <a:t> </a:t>
            </a:r>
            <a:r>
              <a:rPr sz="2400" dirty="0" err="1"/>
              <a:t>trò</a:t>
            </a:r>
            <a:r>
              <a:rPr sz="2400" dirty="0"/>
              <a:t>: admin, </a:t>
            </a:r>
            <a:r>
              <a:rPr sz="2400" dirty="0" err="1"/>
              <a:t>giáo</a:t>
            </a:r>
            <a:r>
              <a:rPr sz="2400" dirty="0"/>
              <a:t> </a:t>
            </a:r>
            <a:r>
              <a:rPr sz="2400" dirty="0" err="1"/>
              <a:t>viên</a:t>
            </a:r>
            <a:r>
              <a:rPr sz="2400" dirty="0"/>
              <a:t>, </a:t>
            </a:r>
            <a:r>
              <a:rPr sz="2400" dirty="0" err="1"/>
              <a:t>sinh</a:t>
            </a:r>
            <a:r>
              <a:rPr sz="2400" dirty="0"/>
              <a:t> </a:t>
            </a:r>
            <a:r>
              <a:rPr sz="2400" dirty="0" err="1"/>
              <a:t>viên</a:t>
            </a:r>
            <a:r>
              <a:rPr sz="2400" dirty="0"/>
              <a:t>.</a:t>
            </a:r>
          </a:p>
          <a:p>
            <a:pPr>
              <a:buChar char="•"/>
              <a:defRPr sz="2000">
                <a:solidFill>
                  <a:srgbClr val="141414"/>
                </a:solidFill>
              </a:defRPr>
            </a:pPr>
            <a:r>
              <a:rPr sz="2400" dirty="0" err="1"/>
              <a:t>Thực</a:t>
            </a:r>
            <a:r>
              <a:rPr sz="2400" dirty="0"/>
              <a:t> </a:t>
            </a:r>
            <a:r>
              <a:rPr sz="2400" dirty="0" err="1"/>
              <a:t>hiện</a:t>
            </a:r>
            <a:r>
              <a:rPr sz="2400" dirty="0"/>
              <a:t> </a:t>
            </a:r>
            <a:r>
              <a:rPr sz="2400" dirty="0" err="1"/>
              <a:t>đầy</a:t>
            </a:r>
            <a:r>
              <a:rPr sz="2400" dirty="0"/>
              <a:t> </a:t>
            </a:r>
            <a:r>
              <a:rPr sz="2400" dirty="0" err="1"/>
              <a:t>đủ</a:t>
            </a:r>
            <a:r>
              <a:rPr sz="2400" dirty="0"/>
              <a:t> </a:t>
            </a:r>
            <a:r>
              <a:rPr sz="2400" dirty="0" err="1"/>
              <a:t>các</a:t>
            </a:r>
            <a:r>
              <a:rPr sz="2400" dirty="0"/>
              <a:t> </a:t>
            </a:r>
            <a:r>
              <a:rPr sz="2400" dirty="0" err="1"/>
              <a:t>thao</a:t>
            </a:r>
            <a:r>
              <a:rPr sz="2400" dirty="0"/>
              <a:t> </a:t>
            </a:r>
            <a:r>
              <a:rPr sz="2400" dirty="0" err="1"/>
              <a:t>tác</a:t>
            </a:r>
            <a:r>
              <a:rPr sz="2400" dirty="0"/>
              <a:t> CRUD: </a:t>
            </a:r>
            <a:r>
              <a:rPr sz="2400" dirty="0" err="1"/>
              <a:t>thêm</a:t>
            </a:r>
            <a:r>
              <a:rPr sz="2400" dirty="0"/>
              <a:t>, </a:t>
            </a:r>
            <a:r>
              <a:rPr sz="2400" dirty="0" err="1"/>
              <a:t>sửa</a:t>
            </a:r>
            <a:r>
              <a:rPr sz="2400" dirty="0"/>
              <a:t>, </a:t>
            </a:r>
            <a:r>
              <a:rPr sz="2400" dirty="0" err="1"/>
              <a:t>xóa</a:t>
            </a:r>
            <a:r>
              <a:rPr sz="2400" dirty="0"/>
              <a:t>, </a:t>
            </a:r>
            <a:r>
              <a:rPr sz="2400" dirty="0" err="1"/>
              <a:t>hiển</a:t>
            </a:r>
            <a:r>
              <a:rPr sz="2400" dirty="0"/>
              <a:t> </a:t>
            </a:r>
            <a:r>
              <a:rPr sz="2400" dirty="0" err="1"/>
              <a:t>thị</a:t>
            </a:r>
            <a:r>
              <a:rPr sz="2400" dirty="0"/>
              <a:t> </a:t>
            </a:r>
            <a:r>
              <a:rPr sz="2400" dirty="0" err="1"/>
              <a:t>danh</a:t>
            </a:r>
            <a:r>
              <a:rPr sz="2400" dirty="0"/>
              <a:t> </a:t>
            </a:r>
            <a:r>
              <a:rPr sz="2400" dirty="0" err="1"/>
              <a:t>sách</a:t>
            </a:r>
            <a:r>
              <a:rPr sz="2400" dirty="0"/>
              <a:t>.</a:t>
            </a:r>
          </a:p>
          <a:p>
            <a:pPr>
              <a:buChar char="•"/>
              <a:defRPr sz="2000">
                <a:solidFill>
                  <a:srgbClr val="141414"/>
                </a:solidFill>
              </a:defRPr>
            </a:pPr>
            <a:r>
              <a:rPr sz="2400" dirty="0" err="1"/>
              <a:t>Tìm</a:t>
            </a:r>
            <a:r>
              <a:rPr sz="2400" dirty="0"/>
              <a:t> </a:t>
            </a:r>
            <a:r>
              <a:rPr sz="2400" dirty="0" err="1"/>
              <a:t>kiếm</a:t>
            </a:r>
            <a:r>
              <a:rPr sz="2400" dirty="0"/>
              <a:t>/</a:t>
            </a:r>
            <a:r>
              <a:rPr sz="2400" dirty="0" err="1"/>
              <a:t>lọc</a:t>
            </a:r>
            <a:r>
              <a:rPr sz="2400" dirty="0"/>
              <a:t> </a:t>
            </a:r>
            <a:r>
              <a:rPr sz="2400" dirty="0" err="1"/>
              <a:t>dữ</a:t>
            </a:r>
            <a:r>
              <a:rPr sz="2400" dirty="0"/>
              <a:t> </a:t>
            </a:r>
            <a:r>
              <a:rPr sz="2400" dirty="0" err="1"/>
              <a:t>liệu</a:t>
            </a:r>
            <a:r>
              <a:rPr sz="2400" dirty="0"/>
              <a:t> </a:t>
            </a:r>
            <a:r>
              <a:rPr sz="2400" dirty="0" err="1"/>
              <a:t>theo</a:t>
            </a:r>
            <a:r>
              <a:rPr sz="2400" dirty="0"/>
              <a:t> </a:t>
            </a:r>
            <a:r>
              <a:rPr sz="2400" dirty="0" err="1"/>
              <a:t>nhiều</a:t>
            </a:r>
            <a:r>
              <a:rPr sz="2400" dirty="0"/>
              <a:t> </a:t>
            </a:r>
            <a:r>
              <a:rPr sz="2400" dirty="0" err="1"/>
              <a:t>điều</a:t>
            </a:r>
            <a:r>
              <a:rPr sz="2400" dirty="0"/>
              <a:t> </a:t>
            </a:r>
            <a:r>
              <a:rPr sz="2400" dirty="0" err="1"/>
              <a:t>kiện</a:t>
            </a:r>
            <a:r>
              <a:rPr sz="2400" dirty="0"/>
              <a:t>: ID, </a:t>
            </a:r>
            <a:r>
              <a:rPr sz="2400" dirty="0" err="1"/>
              <a:t>tên</a:t>
            </a:r>
            <a:r>
              <a:rPr sz="2400" dirty="0"/>
              <a:t>, </a:t>
            </a:r>
            <a:r>
              <a:rPr sz="2400" dirty="0" err="1"/>
              <a:t>giới</a:t>
            </a:r>
            <a:r>
              <a:rPr sz="2400" dirty="0"/>
              <a:t> </a:t>
            </a:r>
            <a:r>
              <a:rPr sz="2400" dirty="0" err="1"/>
              <a:t>tính</a:t>
            </a:r>
            <a:r>
              <a:rPr sz="2400" dirty="0"/>
              <a:t>, </a:t>
            </a:r>
            <a:r>
              <a:rPr sz="2400" dirty="0" err="1"/>
              <a:t>tuổi</a:t>
            </a:r>
            <a:r>
              <a:rPr sz="2400" dirty="0"/>
              <a:t>, </a:t>
            </a:r>
            <a:r>
              <a:rPr sz="2400" dirty="0" err="1"/>
              <a:t>địa</a:t>
            </a:r>
            <a:r>
              <a:rPr sz="2400" dirty="0"/>
              <a:t> </a:t>
            </a:r>
            <a:r>
              <a:rPr sz="2400" dirty="0" err="1"/>
              <a:t>chỉ</a:t>
            </a:r>
            <a:r>
              <a:rPr sz="2400" dirty="0"/>
              <a:t> </a:t>
            </a:r>
            <a:r>
              <a:rPr sz="2400" dirty="0" err="1"/>
              <a:t>hoặc</a:t>
            </a:r>
            <a:r>
              <a:rPr sz="2400" dirty="0"/>
              <a:t> </a:t>
            </a:r>
            <a:r>
              <a:rPr sz="2400" dirty="0" err="1"/>
              <a:t>số</a:t>
            </a:r>
            <a:r>
              <a:rPr sz="2400" dirty="0"/>
              <a:t> </a:t>
            </a:r>
            <a:r>
              <a:rPr sz="2400" dirty="0" err="1"/>
              <a:t>điện</a:t>
            </a:r>
            <a:r>
              <a:rPr sz="2400" dirty="0"/>
              <a:t> </a:t>
            </a:r>
            <a:r>
              <a:rPr sz="2400" dirty="0" err="1"/>
              <a:t>thoại</a:t>
            </a:r>
            <a:r>
              <a:rPr sz="2400" dirty="0"/>
              <a:t>.</a:t>
            </a:r>
          </a:p>
          <a:p>
            <a:pPr>
              <a:buChar char="•"/>
              <a:defRPr sz="2000">
                <a:solidFill>
                  <a:srgbClr val="141414"/>
                </a:solidFill>
              </a:defRPr>
            </a:pPr>
            <a:r>
              <a:rPr sz="2400" dirty="0"/>
              <a:t>Cho </a:t>
            </a:r>
            <a:r>
              <a:rPr sz="2400" dirty="0" err="1"/>
              <a:t>phép</a:t>
            </a:r>
            <a:r>
              <a:rPr sz="2400" dirty="0"/>
              <a:t> </a:t>
            </a:r>
            <a:r>
              <a:rPr sz="2400" dirty="0" err="1"/>
              <a:t>chọn</a:t>
            </a:r>
            <a:r>
              <a:rPr sz="2400" dirty="0"/>
              <a:t> </a:t>
            </a:r>
            <a:r>
              <a:rPr sz="2400" dirty="0" err="1"/>
              <a:t>và</a:t>
            </a:r>
            <a:r>
              <a:rPr sz="2400" dirty="0"/>
              <a:t> </a:t>
            </a:r>
            <a:r>
              <a:rPr sz="2400" dirty="0" err="1"/>
              <a:t>hiển</a:t>
            </a:r>
            <a:r>
              <a:rPr sz="2400" dirty="0"/>
              <a:t> </a:t>
            </a:r>
            <a:r>
              <a:rPr sz="2400" dirty="0" err="1"/>
              <a:t>thị</a:t>
            </a:r>
            <a:r>
              <a:rPr sz="2400" dirty="0"/>
              <a:t> </a:t>
            </a:r>
            <a:r>
              <a:rPr sz="2400" dirty="0" err="1"/>
              <a:t>ảnh</a:t>
            </a:r>
            <a:r>
              <a:rPr sz="2400" dirty="0"/>
              <a:t> </a:t>
            </a:r>
            <a:r>
              <a:rPr sz="2400" dirty="0" err="1"/>
              <a:t>sinh</a:t>
            </a:r>
            <a:r>
              <a:rPr sz="2400" dirty="0"/>
              <a:t> </a:t>
            </a:r>
            <a:r>
              <a:rPr sz="2400" dirty="0" err="1"/>
              <a:t>viên</a:t>
            </a:r>
            <a:r>
              <a:rPr sz="2400" dirty="0"/>
              <a:t> </a:t>
            </a:r>
            <a:r>
              <a:rPr sz="2400" dirty="0" err="1"/>
              <a:t>trong</a:t>
            </a:r>
            <a:r>
              <a:rPr sz="2400" dirty="0"/>
              <a:t> </a:t>
            </a:r>
            <a:r>
              <a:rPr sz="2400" dirty="0" err="1"/>
              <a:t>giao</a:t>
            </a:r>
            <a:r>
              <a:rPr sz="2400" dirty="0"/>
              <a:t> </a:t>
            </a:r>
            <a:r>
              <a:rPr sz="2400" dirty="0" err="1"/>
              <a:t>diện</a:t>
            </a:r>
            <a:r>
              <a:rPr sz="2400" dirty="0"/>
              <a:t>.</a:t>
            </a:r>
            <a:endParaRPr lang="en-US" sz="2400" dirty="0"/>
          </a:p>
          <a:p>
            <a:pPr>
              <a:buChar char="•"/>
              <a:defRPr sz="2000">
                <a:solidFill>
                  <a:srgbClr val="141414"/>
                </a:solidFill>
              </a:defRPr>
            </a:pPr>
            <a:r>
              <a:rPr lang="en-US" sz="2400" dirty="0"/>
              <a:t>Cho </a:t>
            </a:r>
            <a:r>
              <a:rPr lang="en-US" sz="2400" dirty="0" err="1"/>
              <a:t>phép</a:t>
            </a:r>
            <a:r>
              <a:rPr lang="en-US" sz="2400" dirty="0"/>
              <a:t> </a:t>
            </a:r>
            <a:r>
              <a:rPr lang="en-US" sz="2400" dirty="0" err="1"/>
              <a:t>xuất</a:t>
            </a:r>
            <a:r>
              <a:rPr lang="en-US" sz="2400" dirty="0"/>
              <a:t> file </a:t>
            </a:r>
            <a:r>
              <a:rPr lang="en-US" sz="2400" dirty="0" err="1"/>
              <a:t>danh</a:t>
            </a:r>
            <a:r>
              <a:rPr lang="en-US" sz="2400" dirty="0"/>
              <a:t> </a:t>
            </a:r>
            <a:r>
              <a:rPr lang="en-US" sz="2400" dirty="0" err="1"/>
              <a:t>sách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sinh</a:t>
            </a:r>
            <a:r>
              <a:rPr lang="en-US" sz="2400" dirty="0"/>
              <a:t> </a:t>
            </a:r>
            <a:r>
              <a:rPr lang="en-US" sz="2400" dirty="0" err="1"/>
              <a:t>viên</a:t>
            </a:r>
            <a:r>
              <a:rPr lang="en-US" sz="2400" dirty="0"/>
              <a:t>.</a:t>
            </a:r>
            <a:endParaRPr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D1B2A"/>
                </a:solidFill>
              </a:defRPr>
            </a:pPr>
            <a:r>
              <a:t>Công nghệ và thư viện sử dụng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510528"/>
            <a:ext cx="11064240" cy="13716"/>
          </a:xfrm>
          <a:prstGeom prst="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16161"/>
                </a:solidFill>
              </a:defRPr>
            </a:pPr>
            <a:r>
              <a:t>Báo cáo BTL: Hệ thống Quản lý Sinh viên | Java Swing + MySQL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16161"/>
                </a:solidFill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342900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234440"/>
            <a:ext cx="73152" cy="13258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34416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1B2A"/>
                </a:solidFill>
              </a:defRPr>
            </a:pPr>
            <a:r>
              <a:t>Java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764792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41414"/>
                </a:solidFill>
              </a:defRPr>
            </a:pPr>
            <a:r>
              <a:t>Ngôn ngữ lập trình chính, xử lý logic chương trình.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234440"/>
            <a:ext cx="342900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1234440"/>
            <a:ext cx="73152" cy="13258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45152" y="134416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1B2A"/>
                </a:solidFill>
              </a:defRPr>
            </a:pPr>
            <a:r>
              <a:t>Java Swing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1764792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41414"/>
                </a:solidFill>
              </a:defRPr>
            </a:pPr>
            <a:r>
              <a:t>Xây dựng giao diện desktop: JFrame, JTable, JButton, JTextField.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234440"/>
            <a:ext cx="342900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75320" y="1234440"/>
            <a:ext cx="73152" cy="132588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39912" y="134416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1B2A"/>
                </a:solidFill>
              </a:defRPr>
            </a:pPr>
            <a:r>
              <a:t>MySQL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9912" y="1764792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41414"/>
                </a:solidFill>
              </a:defRPr>
            </a:pPr>
            <a:r>
              <a:t>Lưu trữ thông tin sinh viên và tài khoản đăng nhập.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154680"/>
            <a:ext cx="342900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3154680"/>
            <a:ext cx="73152" cy="132588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2" y="326440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1B2A"/>
                </a:solidFill>
              </a:defRPr>
            </a:pPr>
            <a:r>
              <a:t>JDBC Connector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3685032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41414"/>
                </a:solidFill>
              </a:defRPr>
            </a:pPr>
            <a:r>
              <a:t>Kết nối và thao tác SQL từ Java tới MySQL.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3154680"/>
            <a:ext cx="342900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80560" y="3154680"/>
            <a:ext cx="73152" cy="13258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45152" y="326440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1B2A"/>
                </a:solidFill>
              </a:defRPr>
            </a:pPr>
            <a:r>
              <a:t>FlatLaf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45152" y="3685032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41414"/>
                </a:solidFill>
              </a:defRPr>
            </a:pPr>
            <a:r>
              <a:t>Làm giao diện hiện đại hơn, bo góc và đổi màu nút.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3154680"/>
            <a:ext cx="342900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75320" y="3154680"/>
            <a:ext cx="73152" cy="1325880"/>
          </a:xfrm>
          <a:prstGeom prst="rect">
            <a:avLst/>
          </a:prstGeom>
          <a:solidFill>
            <a:srgbClr val="6161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39912" y="326440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1B2A"/>
                </a:solidFill>
              </a:defRPr>
            </a:pPr>
            <a:r>
              <a:t>JCalendar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9912" y="3685032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41414"/>
                </a:solidFill>
              </a:defRPr>
            </a:pPr>
            <a:r>
              <a:t>Thư viện hỗ trợ giao diện ngày tháng nếu mở rộng chức năng.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D1B2A"/>
                </a:solidFill>
              </a:defRPr>
            </a:pPr>
            <a:r>
              <a:t>Cấu trúc thư mục dự án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510528"/>
            <a:ext cx="11064240" cy="13716"/>
          </a:xfrm>
          <a:prstGeom prst="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16161"/>
                </a:solidFill>
              </a:defRPr>
            </a:pPr>
            <a:r>
              <a:t>Báo cáo BTL: Hệ thống Quản lý Sinh viên | Java Swing + MySQL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16161"/>
                </a:solidFill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234440"/>
            <a:ext cx="10332720" cy="4617720"/>
          </a:xfrm>
          <a:prstGeom prst="roundRect">
            <a:avLst/>
          </a:prstGeom>
          <a:solidFill>
            <a:srgbClr val="1E293B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4400" y="1234440"/>
            <a:ext cx="1033272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42416" y="1307592"/>
            <a:ext cx="1371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87171"/>
                </a:solidFill>
              </a:defRPr>
            </a:pPr>
            <a: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1307592"/>
            <a:ext cx="1371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BBF24"/>
                </a:solidFill>
              </a:defRPr>
            </a:pPr>
            <a: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307592"/>
            <a:ext cx="1371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4D399"/>
                </a:solidFill>
              </a:defRPr>
            </a:pPr>
            <a: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1298448"/>
            <a:ext cx="94183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Cấu trúc file chính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1645920"/>
            <a:ext cx="10003536" cy="41148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1700">
                <a:solidFill>
                  <a:srgbClr val="E2E8F0"/>
                </a:solidFill>
                <a:latin typeface="Cascadia Mono"/>
              </a:defRPr>
            </a:pPr>
            <a:r>
              <a:rPr dirty="0" err="1"/>
              <a:t>StudentQL</a:t>
            </a:r>
            <a:r>
              <a:rPr dirty="0"/>
              <a:t>/</a:t>
            </a:r>
            <a:br>
              <a:rPr dirty="0"/>
            </a:br>
            <a:r>
              <a:rPr dirty="0"/>
              <a:t>├─ DBConnection.java              // </a:t>
            </a:r>
            <a:r>
              <a:rPr dirty="0" err="1"/>
              <a:t>Kết</a:t>
            </a:r>
            <a:r>
              <a:rPr dirty="0"/>
              <a:t> </a:t>
            </a:r>
            <a:r>
              <a:rPr dirty="0" err="1"/>
              <a:t>nối</a:t>
            </a:r>
            <a:r>
              <a:rPr dirty="0"/>
              <a:t> MySQL</a:t>
            </a:r>
            <a:br>
              <a:rPr dirty="0"/>
            </a:br>
            <a:r>
              <a:rPr dirty="0"/>
              <a:t>├─ frmDangNhapUI.java             // Form </a:t>
            </a:r>
            <a:r>
              <a:rPr dirty="0" err="1"/>
              <a:t>đăng</a:t>
            </a:r>
            <a:r>
              <a:rPr dirty="0"/>
              <a:t> </a:t>
            </a:r>
            <a:r>
              <a:rPr dirty="0" err="1"/>
              <a:t>nhập</a:t>
            </a:r>
            <a:br>
              <a:rPr dirty="0"/>
            </a:br>
            <a:r>
              <a:rPr dirty="0"/>
              <a:t>├─ frmQuanLiSinhVienUI.java       // Form </a:t>
            </a:r>
            <a:r>
              <a:rPr dirty="0" err="1"/>
              <a:t>quản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sinh</a:t>
            </a:r>
            <a:r>
              <a:rPr dirty="0"/>
              <a:t> </a:t>
            </a:r>
            <a:r>
              <a:rPr dirty="0" err="1"/>
              <a:t>viên</a:t>
            </a:r>
            <a:br>
              <a:rPr dirty="0"/>
            </a:br>
            <a:r>
              <a:rPr dirty="0"/>
              <a:t>├─ </a:t>
            </a:r>
            <a:r>
              <a:rPr dirty="0" err="1"/>
              <a:t>frmDangNhapUI.form</a:t>
            </a:r>
            <a:r>
              <a:rPr dirty="0"/>
              <a:t>             // Giao </a:t>
            </a:r>
            <a:r>
              <a:rPr dirty="0" err="1"/>
              <a:t>diện</a:t>
            </a:r>
            <a:r>
              <a:rPr dirty="0"/>
              <a:t> </a:t>
            </a:r>
            <a:r>
              <a:rPr dirty="0" err="1"/>
              <a:t>đăng</a:t>
            </a:r>
            <a:r>
              <a:rPr dirty="0"/>
              <a:t> </a:t>
            </a:r>
            <a:r>
              <a:rPr dirty="0" err="1"/>
              <a:t>nhập</a:t>
            </a:r>
            <a:r>
              <a:rPr dirty="0"/>
              <a:t> </a:t>
            </a:r>
            <a:r>
              <a:rPr dirty="0" err="1"/>
              <a:t>bằng</a:t>
            </a:r>
            <a:r>
              <a:rPr dirty="0"/>
              <a:t> GUI Designer</a:t>
            </a:r>
            <a:br>
              <a:rPr dirty="0"/>
            </a:br>
            <a:r>
              <a:rPr dirty="0"/>
              <a:t>├─ </a:t>
            </a:r>
            <a:r>
              <a:rPr dirty="0" err="1"/>
              <a:t>frmQuanLiSinhVienUI.form</a:t>
            </a:r>
            <a:r>
              <a:rPr dirty="0"/>
              <a:t>       // Giao </a:t>
            </a:r>
            <a:r>
              <a:rPr dirty="0" err="1"/>
              <a:t>diện</a:t>
            </a:r>
            <a:r>
              <a:rPr dirty="0"/>
              <a:t> </a:t>
            </a:r>
            <a:r>
              <a:rPr dirty="0" err="1"/>
              <a:t>quản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bằng</a:t>
            </a:r>
            <a:r>
              <a:rPr dirty="0"/>
              <a:t> GUI Designer</a:t>
            </a:r>
            <a:br>
              <a:rPr dirty="0"/>
            </a:br>
            <a:r>
              <a:rPr dirty="0"/>
              <a:t>├─ </a:t>
            </a:r>
            <a:r>
              <a:rPr dirty="0" err="1"/>
              <a:t>dulieusinhvien.sql</a:t>
            </a:r>
            <a:r>
              <a:rPr dirty="0"/>
              <a:t>             // Script </a:t>
            </a:r>
            <a:r>
              <a:rPr dirty="0" err="1"/>
              <a:t>tạo</a:t>
            </a:r>
            <a:r>
              <a:rPr dirty="0"/>
              <a:t> CSDL +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 </a:t>
            </a:r>
            <a:r>
              <a:rPr dirty="0" err="1"/>
              <a:t>mẫu</a:t>
            </a:r>
            <a:br>
              <a:rPr dirty="0"/>
            </a:br>
            <a:r>
              <a:rPr dirty="0"/>
              <a:t>└─ </a:t>
            </a:r>
            <a:r>
              <a:rPr dirty="0" err="1"/>
              <a:t>thư</a:t>
            </a:r>
            <a:r>
              <a:rPr dirty="0"/>
              <a:t> </a:t>
            </a:r>
            <a:r>
              <a:rPr dirty="0" err="1"/>
              <a:t>viện</a:t>
            </a:r>
            <a:r>
              <a:rPr dirty="0"/>
              <a:t> .jar:</a:t>
            </a:r>
            <a:br>
              <a:rPr dirty="0"/>
            </a:br>
            <a:r>
              <a:rPr dirty="0"/>
              <a:t>   ├─ mysql-connector-j-9.6.0.jar</a:t>
            </a:r>
            <a:br>
              <a:rPr dirty="0"/>
            </a:br>
            <a:r>
              <a:rPr dirty="0"/>
              <a:t>   ├─ flatlaf-3.7.1.jar</a:t>
            </a:r>
            <a:br>
              <a:rPr dirty="0"/>
            </a:br>
            <a:r>
              <a:rPr dirty="0"/>
              <a:t>   └─ jcalendar-1.4.jar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D1B2A"/>
                </a:solidFill>
              </a:defRPr>
            </a:pPr>
            <a:r>
              <a:t>Kiến trúc hoạt động của hệ thống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510528"/>
            <a:ext cx="11064240" cy="13716"/>
          </a:xfrm>
          <a:prstGeom prst="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16161"/>
                </a:solidFill>
              </a:defRPr>
            </a:pPr>
            <a:r>
              <a:t>Báo cáo BTL: Hệ thống Quản lý Sinh viên | Java Swing + MySQL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16161"/>
                </a:solidFill>
              </a:defRPr>
            </a:pPr>
            <a:r>
              <a:t>7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48840" y="2423160"/>
            <a:ext cx="2240280" cy="0"/>
          </a:xfrm>
          <a:prstGeom prst="line">
            <a:avLst/>
          </a:prstGeom>
          <a:ln w="254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126480" y="2423160"/>
            <a:ext cx="2240280" cy="0"/>
          </a:xfrm>
          <a:prstGeom prst="line">
            <a:avLst/>
          </a:prstGeom>
          <a:ln w="254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126480" y="4297680"/>
            <a:ext cx="2240280" cy="0"/>
          </a:xfrm>
          <a:prstGeom prst="line">
            <a:avLst/>
          </a:prstGeom>
          <a:ln w="254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2148840" y="4297680"/>
            <a:ext cx="2240280" cy="0"/>
          </a:xfrm>
          <a:prstGeom prst="line">
            <a:avLst/>
          </a:prstGeom>
          <a:ln w="254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22960" y="1965960"/>
            <a:ext cx="228600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B2A"/>
                </a:solidFill>
              </a:defRPr>
            </a:pPr>
            <a:r>
              <a:t>Người dùng</a:t>
            </a:r>
          </a:p>
          <a:p>
            <a:pPr algn="ctr">
              <a:defRPr sz="1000">
                <a:solidFill>
                  <a:srgbClr val="616161"/>
                </a:solidFill>
              </a:defRPr>
            </a:pPr>
            <a:r>
              <a:t>nhập tài khoản / thao tác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965960"/>
            <a:ext cx="228600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B2A"/>
                </a:solidFill>
              </a:defRPr>
            </a:pPr>
            <a:r>
              <a:t>Java Swing UI</a:t>
            </a:r>
          </a:p>
          <a:p>
            <a:pPr algn="ctr">
              <a:defRPr sz="1000">
                <a:solidFill>
                  <a:srgbClr val="616161"/>
                </a:solidFill>
              </a:defRPr>
            </a:pPr>
            <a:r>
              <a:t>form đăng nhập &amp; quản lý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965960"/>
            <a:ext cx="246888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B2A"/>
                </a:solidFill>
              </a:defRPr>
            </a:pPr>
            <a:r>
              <a:t>JDBC</a:t>
            </a:r>
          </a:p>
          <a:p>
            <a:pPr algn="ctr">
              <a:defRPr sz="1000">
                <a:solidFill>
                  <a:srgbClr val="616161"/>
                </a:solidFill>
              </a:defRPr>
            </a:pPr>
            <a:r>
              <a:t>PreparedStatement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3840480"/>
            <a:ext cx="246888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B2A"/>
                </a:solidFill>
              </a:defRPr>
            </a:pPr>
            <a:r>
              <a:t>MySQL</a:t>
            </a:r>
          </a:p>
          <a:p>
            <a:pPr algn="ctr">
              <a:defRPr sz="1000">
                <a:solidFill>
                  <a:srgbClr val="616161"/>
                </a:solidFill>
              </a:defRPr>
            </a:pPr>
            <a:r>
              <a:t>sinhvien, taikhoan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06240" y="3840480"/>
            <a:ext cx="228600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00A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B2A"/>
                </a:solidFill>
              </a:defRPr>
            </a:pPr>
            <a:r>
              <a:t>ResultSet</a:t>
            </a:r>
          </a:p>
          <a:p>
            <a:pPr algn="ctr">
              <a:defRPr sz="1000">
                <a:solidFill>
                  <a:srgbClr val="616161"/>
                </a:solidFill>
              </a:defRPr>
            </a:pPr>
            <a:r>
              <a:t>trả dữ liệu lên JTable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840480"/>
            <a:ext cx="228600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6161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D1B2A"/>
                </a:solidFill>
              </a:defRPr>
            </a:pPr>
            <a:r>
              <a:t>Hiển thị</a:t>
            </a:r>
          </a:p>
          <a:p>
            <a:pPr algn="ctr">
              <a:defRPr sz="1000">
                <a:solidFill>
                  <a:srgbClr val="616161"/>
                </a:solidFill>
              </a:defRPr>
            </a:pPr>
            <a:r>
              <a:t>bảng + thông báo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D1B2A"/>
                </a:solidFill>
              </a:defRPr>
            </a:pPr>
            <a:r>
              <a:t>Thiết kế cơ sở dữ liệu MySQL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510528"/>
            <a:ext cx="11064240" cy="13716"/>
          </a:xfrm>
          <a:prstGeom prst="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16161"/>
                </a:solidFill>
              </a:defRPr>
            </a:pPr>
            <a:r>
              <a:t>Báo cáo BTL: Hệ thống Quản lý Sinh viên | Java Swing + MySQL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16161"/>
                </a:solidFill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212080" cy="4389120"/>
          </a:xfrm>
          <a:prstGeom prst="roundRect">
            <a:avLst/>
          </a:prstGeom>
          <a:solidFill>
            <a:srgbClr val="F5F7FA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ectangle 7"/>
          <p:cNvSpPr/>
          <p:nvPr/>
        </p:nvSpPr>
        <p:spPr>
          <a:xfrm>
            <a:off x="731520" y="1234440"/>
            <a:ext cx="73152" cy="43891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344168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D1B2A"/>
                </a:solidFill>
              </a:defRPr>
            </a:pPr>
            <a:r>
              <a:t>Bảng sinhvien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764792"/>
            <a:ext cx="489204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41414"/>
                </a:solidFill>
              </a:defRPr>
            </a:pPr>
            <a:r>
              <a:rPr sz="1600" dirty="0"/>
              <a:t>ID INT: </a:t>
            </a:r>
            <a:r>
              <a:rPr sz="1600" dirty="0" err="1"/>
              <a:t>mã</a:t>
            </a:r>
            <a:r>
              <a:rPr sz="1600" dirty="0"/>
              <a:t> </a:t>
            </a:r>
            <a:r>
              <a:rPr sz="1600" dirty="0" err="1"/>
              <a:t>sinh</a:t>
            </a:r>
            <a:r>
              <a:rPr sz="1600" dirty="0"/>
              <a:t> </a:t>
            </a:r>
            <a:r>
              <a:rPr sz="1600" dirty="0" err="1"/>
              <a:t>viên</a:t>
            </a:r>
            <a:r>
              <a:rPr sz="1600" dirty="0"/>
              <a:t>, </a:t>
            </a:r>
            <a:r>
              <a:rPr sz="1600" dirty="0" err="1"/>
              <a:t>khóa</a:t>
            </a:r>
            <a:r>
              <a:rPr sz="1600" dirty="0"/>
              <a:t> </a:t>
            </a:r>
            <a:r>
              <a:rPr sz="1600" dirty="0" err="1"/>
              <a:t>chính</a:t>
            </a:r>
            <a:endParaRPr sz="1600" dirty="0"/>
          </a:p>
          <a:p>
            <a:pPr>
              <a:defRPr sz="1400">
                <a:solidFill>
                  <a:srgbClr val="141414"/>
                </a:solidFill>
              </a:defRPr>
            </a:pPr>
            <a:r>
              <a:rPr sz="1600" dirty="0"/>
              <a:t>Ten VARCHAR(255): </a:t>
            </a:r>
            <a:r>
              <a:rPr sz="1600" dirty="0" err="1"/>
              <a:t>họ</a:t>
            </a:r>
            <a:r>
              <a:rPr sz="1600" dirty="0"/>
              <a:t> </a:t>
            </a:r>
            <a:r>
              <a:rPr sz="1600" dirty="0" err="1"/>
              <a:t>tên</a:t>
            </a:r>
            <a:r>
              <a:rPr sz="1600" dirty="0"/>
              <a:t> </a:t>
            </a:r>
            <a:r>
              <a:rPr sz="1600" dirty="0" err="1"/>
              <a:t>sinh</a:t>
            </a:r>
            <a:r>
              <a:rPr sz="1600" dirty="0"/>
              <a:t> </a:t>
            </a:r>
            <a:r>
              <a:rPr sz="1600" dirty="0" err="1"/>
              <a:t>viên</a:t>
            </a:r>
            <a:endParaRPr sz="1600" dirty="0"/>
          </a:p>
          <a:p>
            <a:pPr>
              <a:defRPr sz="1400">
                <a:solidFill>
                  <a:srgbClr val="141414"/>
                </a:solidFill>
              </a:defRPr>
            </a:pPr>
            <a:r>
              <a:rPr sz="1600" dirty="0"/>
              <a:t>Tuoi INT: </a:t>
            </a:r>
            <a:r>
              <a:rPr sz="1600" dirty="0" err="1"/>
              <a:t>tuổi</a:t>
            </a:r>
            <a:endParaRPr sz="1600" dirty="0"/>
          </a:p>
          <a:p>
            <a:pPr>
              <a:defRPr sz="1400">
                <a:solidFill>
                  <a:srgbClr val="141414"/>
                </a:solidFill>
              </a:defRPr>
            </a:pPr>
            <a:r>
              <a:rPr sz="1600" dirty="0" err="1"/>
              <a:t>GioiTinh</a:t>
            </a:r>
            <a:r>
              <a:rPr sz="1600" dirty="0"/>
              <a:t> VARCHAR(10): Nam/</a:t>
            </a:r>
            <a:r>
              <a:rPr sz="1600" dirty="0" err="1"/>
              <a:t>Nữ</a:t>
            </a:r>
            <a:endParaRPr sz="1600" dirty="0"/>
          </a:p>
          <a:p>
            <a:pPr>
              <a:defRPr sz="1400">
                <a:solidFill>
                  <a:srgbClr val="141414"/>
                </a:solidFill>
              </a:defRPr>
            </a:pPr>
            <a:r>
              <a:rPr sz="1600" dirty="0"/>
              <a:t>SDT VARCHAR(15): </a:t>
            </a:r>
            <a:r>
              <a:rPr sz="1600" dirty="0" err="1"/>
              <a:t>số</a:t>
            </a:r>
            <a:r>
              <a:rPr sz="1600" dirty="0"/>
              <a:t> </a:t>
            </a:r>
            <a:r>
              <a:rPr sz="1600" dirty="0" err="1"/>
              <a:t>điện</a:t>
            </a:r>
            <a:r>
              <a:rPr sz="1600" dirty="0"/>
              <a:t> </a:t>
            </a:r>
            <a:r>
              <a:rPr sz="1600" dirty="0" err="1"/>
              <a:t>thoại</a:t>
            </a:r>
            <a:r>
              <a:rPr sz="1600" dirty="0"/>
              <a:t>, </a:t>
            </a:r>
            <a:r>
              <a:rPr sz="1600" dirty="0" err="1"/>
              <a:t>giữ</a:t>
            </a:r>
            <a:r>
              <a:rPr sz="1600" dirty="0"/>
              <a:t> </a:t>
            </a:r>
            <a:r>
              <a:rPr sz="1600" dirty="0" err="1"/>
              <a:t>được</a:t>
            </a:r>
            <a:r>
              <a:rPr sz="1600" dirty="0"/>
              <a:t> </a:t>
            </a:r>
            <a:r>
              <a:rPr sz="1600" dirty="0" err="1"/>
              <a:t>số</a:t>
            </a:r>
            <a:r>
              <a:rPr sz="1600" dirty="0"/>
              <a:t> 0 </a:t>
            </a:r>
            <a:r>
              <a:rPr sz="1600" dirty="0" err="1"/>
              <a:t>đầu</a:t>
            </a:r>
            <a:endParaRPr sz="1600" dirty="0"/>
          </a:p>
          <a:p>
            <a:pPr>
              <a:defRPr sz="1400">
                <a:solidFill>
                  <a:srgbClr val="141414"/>
                </a:solidFill>
              </a:defRPr>
            </a:pPr>
            <a:r>
              <a:rPr sz="1600" dirty="0" err="1"/>
              <a:t>DiaChi</a:t>
            </a:r>
            <a:r>
              <a:rPr sz="1600" dirty="0"/>
              <a:t> VARCHAR(255): </a:t>
            </a:r>
            <a:r>
              <a:rPr sz="1600" dirty="0" err="1"/>
              <a:t>địa</a:t>
            </a:r>
            <a:r>
              <a:rPr sz="1600" dirty="0"/>
              <a:t> </a:t>
            </a:r>
            <a:r>
              <a:rPr sz="1600" dirty="0" err="1"/>
              <a:t>chỉ</a:t>
            </a:r>
            <a:endParaRPr sz="1600" dirty="0"/>
          </a:p>
          <a:p>
            <a:pPr>
              <a:defRPr sz="1400">
                <a:solidFill>
                  <a:srgbClr val="141414"/>
                </a:solidFill>
              </a:defRPr>
            </a:pPr>
            <a:r>
              <a:rPr sz="1600" dirty="0"/>
              <a:t>Anh LONGBLOB: </a:t>
            </a:r>
            <a:r>
              <a:rPr sz="1600" dirty="0" err="1"/>
              <a:t>ảnh</a:t>
            </a:r>
            <a:r>
              <a:rPr sz="1600" dirty="0"/>
              <a:t> </a:t>
            </a:r>
            <a:r>
              <a:rPr sz="1600" dirty="0" err="1"/>
              <a:t>sinh</a:t>
            </a:r>
            <a:r>
              <a:rPr sz="1600" dirty="0"/>
              <a:t> </a:t>
            </a:r>
            <a:r>
              <a:rPr sz="1600" dirty="0" err="1"/>
              <a:t>viên</a:t>
            </a:r>
            <a:endParaRPr sz="1600" dirty="0"/>
          </a:p>
        </p:txBody>
      </p:sp>
      <p:sp>
        <p:nvSpPr>
          <p:cNvPr id="11" name="Rounded Rectangle 10"/>
          <p:cNvSpPr/>
          <p:nvPr/>
        </p:nvSpPr>
        <p:spPr>
          <a:xfrm>
            <a:off x="6400800" y="1234440"/>
            <a:ext cx="4846320" cy="4389120"/>
          </a:xfrm>
          <a:prstGeom prst="roundRect">
            <a:avLst/>
          </a:prstGeom>
          <a:solidFill>
            <a:srgbClr val="F5F7FA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0" y="1234440"/>
            <a:ext cx="73152" cy="43891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65392" y="1344168"/>
            <a:ext cx="4526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D1B2A"/>
                </a:solidFill>
              </a:defRPr>
            </a:pPr>
            <a:r>
              <a:t>Bảng taikhoan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1764792"/>
            <a:ext cx="452628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41414"/>
                </a:solidFill>
              </a:defRPr>
            </a:pPr>
            <a:r>
              <a:rPr sz="1600" dirty="0"/>
              <a:t>id INT: </a:t>
            </a:r>
            <a:r>
              <a:rPr sz="1600" dirty="0" err="1"/>
              <a:t>mã</a:t>
            </a:r>
            <a:r>
              <a:rPr sz="1600" dirty="0"/>
              <a:t> </a:t>
            </a:r>
            <a:r>
              <a:rPr sz="1600" dirty="0" err="1"/>
              <a:t>tài</a:t>
            </a:r>
            <a:r>
              <a:rPr sz="1600" dirty="0"/>
              <a:t> </a:t>
            </a:r>
            <a:r>
              <a:rPr sz="1600" dirty="0" err="1"/>
              <a:t>khoản</a:t>
            </a:r>
            <a:r>
              <a:rPr sz="1600" dirty="0"/>
              <a:t>, </a:t>
            </a:r>
            <a:r>
              <a:rPr sz="1600" dirty="0" err="1"/>
              <a:t>khóa</a:t>
            </a:r>
            <a:r>
              <a:rPr sz="1600" dirty="0"/>
              <a:t> </a:t>
            </a:r>
            <a:r>
              <a:rPr sz="1600" dirty="0" err="1"/>
              <a:t>chính</a:t>
            </a:r>
            <a:endParaRPr sz="1600" dirty="0"/>
          </a:p>
          <a:p>
            <a:pPr>
              <a:defRPr sz="1400">
                <a:solidFill>
                  <a:srgbClr val="141414"/>
                </a:solidFill>
              </a:defRPr>
            </a:pPr>
            <a:r>
              <a:rPr sz="1600" dirty="0"/>
              <a:t>ten VARCHAR(100): </a:t>
            </a:r>
            <a:r>
              <a:rPr sz="1600" dirty="0" err="1"/>
              <a:t>tên</a:t>
            </a:r>
            <a:r>
              <a:rPr sz="1600" dirty="0"/>
              <a:t> </a:t>
            </a:r>
            <a:r>
              <a:rPr sz="1600" dirty="0" err="1"/>
              <a:t>đăng</a:t>
            </a:r>
            <a:r>
              <a:rPr sz="1600" dirty="0"/>
              <a:t> </a:t>
            </a:r>
            <a:r>
              <a:rPr sz="1600" dirty="0" err="1"/>
              <a:t>nhập</a:t>
            </a:r>
            <a:endParaRPr sz="1600" dirty="0"/>
          </a:p>
          <a:p>
            <a:pPr>
              <a:defRPr sz="1400">
                <a:solidFill>
                  <a:srgbClr val="141414"/>
                </a:solidFill>
              </a:defRPr>
            </a:pPr>
            <a:r>
              <a:rPr sz="1600" dirty="0" err="1"/>
              <a:t>matkhau</a:t>
            </a:r>
            <a:r>
              <a:rPr sz="1600" dirty="0"/>
              <a:t> VARCHAR(100): </a:t>
            </a:r>
            <a:r>
              <a:rPr sz="1600" dirty="0" err="1"/>
              <a:t>mật</a:t>
            </a:r>
            <a:r>
              <a:rPr sz="1600" dirty="0"/>
              <a:t> </a:t>
            </a:r>
            <a:r>
              <a:rPr sz="1600" dirty="0" err="1"/>
              <a:t>khẩu</a:t>
            </a:r>
            <a:endParaRPr sz="1600" dirty="0"/>
          </a:p>
          <a:p>
            <a:pPr>
              <a:defRPr sz="1400">
                <a:solidFill>
                  <a:srgbClr val="141414"/>
                </a:solidFill>
              </a:defRPr>
            </a:pPr>
            <a:r>
              <a:rPr sz="1600" dirty="0" err="1"/>
              <a:t>VaiTro</a:t>
            </a:r>
            <a:r>
              <a:rPr sz="1600" dirty="0"/>
              <a:t> VARCHAR(20): admin / </a:t>
            </a:r>
            <a:r>
              <a:rPr sz="1600" dirty="0" err="1"/>
              <a:t>giaovien</a:t>
            </a:r>
            <a:r>
              <a:rPr sz="1600" dirty="0"/>
              <a:t> / </a:t>
            </a:r>
            <a:r>
              <a:rPr sz="1600" dirty="0" err="1"/>
              <a:t>sinhvien</a:t>
            </a:r>
            <a:endParaRPr sz="1600" dirty="0"/>
          </a:p>
          <a:p>
            <a:pPr>
              <a:defRPr sz="1400">
                <a:solidFill>
                  <a:srgbClr val="141414"/>
                </a:solidFill>
              </a:defRPr>
            </a:pPr>
            <a:r>
              <a:rPr sz="1600" dirty="0" err="1"/>
              <a:t>Dùng</a:t>
            </a:r>
            <a:r>
              <a:rPr sz="1600" dirty="0"/>
              <a:t> </a:t>
            </a:r>
            <a:r>
              <a:rPr sz="1600" dirty="0" err="1"/>
              <a:t>để</a:t>
            </a:r>
            <a:r>
              <a:rPr sz="1600" dirty="0"/>
              <a:t> </a:t>
            </a:r>
            <a:r>
              <a:rPr sz="1600" dirty="0" err="1"/>
              <a:t>kiểm</a:t>
            </a:r>
            <a:r>
              <a:rPr sz="1600" dirty="0"/>
              <a:t> </a:t>
            </a:r>
            <a:r>
              <a:rPr sz="1600" dirty="0" err="1"/>
              <a:t>tra</a:t>
            </a:r>
            <a:r>
              <a:rPr sz="1600" dirty="0"/>
              <a:t> </a:t>
            </a:r>
            <a:r>
              <a:rPr sz="1600" dirty="0" err="1"/>
              <a:t>đăng</a:t>
            </a:r>
            <a:r>
              <a:rPr sz="1600" dirty="0"/>
              <a:t> </a:t>
            </a:r>
            <a:r>
              <a:rPr sz="1600" dirty="0" err="1"/>
              <a:t>nhập</a:t>
            </a:r>
            <a:r>
              <a:rPr sz="1600" dirty="0"/>
              <a:t> </a:t>
            </a:r>
            <a:r>
              <a:rPr sz="1600" dirty="0" err="1"/>
              <a:t>và</a:t>
            </a:r>
            <a:r>
              <a:rPr sz="1600" dirty="0"/>
              <a:t> </a:t>
            </a:r>
            <a:r>
              <a:rPr sz="1600" dirty="0" err="1"/>
              <a:t>phân</a:t>
            </a:r>
            <a:r>
              <a:rPr sz="1600" dirty="0"/>
              <a:t> </a:t>
            </a:r>
            <a:r>
              <a:rPr sz="1600" dirty="0" err="1"/>
              <a:t>quyền</a:t>
            </a:r>
            <a:r>
              <a:rPr sz="1600" dirty="0"/>
              <a:t> </a:t>
            </a:r>
            <a:r>
              <a:rPr sz="1600" dirty="0" err="1"/>
              <a:t>giao</a:t>
            </a:r>
            <a:r>
              <a:rPr sz="1600" dirty="0"/>
              <a:t> </a:t>
            </a:r>
            <a:r>
              <a:rPr sz="1600" dirty="0" err="1"/>
              <a:t>diện</a:t>
            </a:r>
            <a:endParaRPr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D1B2A"/>
                </a:solidFill>
              </a:defRPr>
            </a:pPr>
            <a:r>
              <a:t>Code SQL tạo bảng dữ liệu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510528"/>
            <a:ext cx="11064240" cy="13716"/>
          </a:xfrm>
          <a:prstGeom prst="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16161"/>
                </a:solidFill>
              </a:defRPr>
            </a:pPr>
            <a:r>
              <a:t>Báo cáo BTL: Hệ thống Quản lý Sinh viên | Java Swing + MySQL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16161"/>
                </a:solidFill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51560"/>
            <a:ext cx="10789920" cy="5303520"/>
          </a:xfrm>
          <a:prstGeom prst="roundRect">
            <a:avLst/>
          </a:prstGeom>
          <a:solidFill>
            <a:srgbClr val="1E293B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051560"/>
            <a:ext cx="1078992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1124712"/>
            <a:ext cx="1371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87171"/>
                </a:solidFill>
              </a:defRPr>
            </a:pPr>
            <a: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124712"/>
            <a:ext cx="1371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BBF24"/>
                </a:solidFill>
              </a:defRPr>
            </a:pPr>
            <a: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124712"/>
            <a:ext cx="1371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4D399"/>
                </a:solidFill>
              </a:defRPr>
            </a:pPr>
            <a: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115568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dulieusinhvien.sql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1463039"/>
            <a:ext cx="10460736" cy="480060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1300">
                <a:solidFill>
                  <a:srgbClr val="E2E8F0"/>
                </a:solidFill>
                <a:latin typeface="Cascadia Mono"/>
              </a:defRPr>
            </a:pPr>
            <a:r>
              <a:rPr sz="1000">
                <a:latin typeface="Cascadia Mono"/>
              </a:rPr>
              <a:t>CREATE TABLE `sinhvien` (</a:t>
            </a:r>
            <a:br>
              <a:rPr sz="1000"/>
            </a:br>
            <a:r>
              <a:rPr sz="1000">
                <a:latin typeface="Cascadia Mono"/>
              </a:rPr>
              <a:t>  `ID` int(11) NOT NULL,</a:t>
            </a:r>
            <a:br>
              <a:rPr sz="1000"/>
            </a:br>
            <a:r>
              <a:rPr sz="1000">
                <a:latin typeface="Cascadia Mono"/>
              </a:rPr>
              <a:t>  `Ten` varchar(255) NOT NULL,</a:t>
            </a:r>
            <a:br>
              <a:rPr sz="1000"/>
            </a:br>
            <a:r>
              <a:rPr sz="1000">
                <a:latin typeface="Cascadia Mono"/>
              </a:rPr>
              <a:t>  `Tuoi` int(11) DEFAULT NULL,</a:t>
            </a:r>
            <a:br>
              <a:rPr sz="1000"/>
            </a:br>
            <a:r>
              <a:rPr sz="1000">
                <a:latin typeface="Cascadia Mono"/>
              </a:rPr>
              <a:t>  `GioiTinh` varchar(10) DEFAULT NULL,</a:t>
            </a:r>
            <a:br>
              <a:rPr sz="1000"/>
            </a:br>
            <a:r>
              <a:rPr sz="1000">
                <a:latin typeface="Cascadia Mono"/>
              </a:rPr>
              <a:t>  `SDT` varchar(15) DEFAULT NULL,</a:t>
            </a:r>
            <a:br>
              <a:rPr sz="1000"/>
            </a:br>
            <a:r>
              <a:rPr sz="1000">
                <a:latin typeface="Cascadia Mono"/>
              </a:rPr>
              <a:t>  `DiaChi` varchar(255) DEFAULT NULL,</a:t>
            </a:r>
            <a:br>
              <a:rPr sz="1000"/>
            </a:br>
            <a:r>
              <a:rPr sz="1000">
                <a:latin typeface="Cascadia Mono"/>
              </a:rPr>
              <a:t>  `Anh` longblob DEFAULT NULL,</a:t>
            </a:r>
            <a:br>
              <a:rPr sz="1000"/>
            </a:br>
            <a:r>
              <a:rPr sz="1000">
                <a:latin typeface="Cascadia Mono"/>
              </a:rPr>
              <a:t>  PRIMARY KEY (`ID`)</a:t>
            </a:r>
            <a:br>
              <a:rPr sz="1000"/>
            </a:br>
            <a:r>
              <a:rPr sz="1000">
                <a:latin typeface="Cascadia Mono"/>
              </a:rPr>
              <a:t>);</a:t>
            </a:r>
            <a:br>
              <a:rPr sz="1000"/>
            </a:br>
            <a:br>
              <a:rPr sz="1000"/>
            </a:br>
            <a:r>
              <a:rPr sz="1000">
                <a:latin typeface="Cascadia Mono"/>
              </a:rPr>
              <a:t>CREATE TABLE `taikhoan` (</a:t>
            </a:r>
            <a:br>
              <a:rPr sz="1000"/>
            </a:br>
            <a:r>
              <a:rPr sz="1000">
                <a:latin typeface="Cascadia Mono"/>
              </a:rPr>
              <a:t>  `id` int(11) NOT NULL AUTO_INCREMENT,</a:t>
            </a:r>
            <a:br>
              <a:rPr sz="1000"/>
            </a:br>
            <a:r>
              <a:rPr sz="1000">
                <a:latin typeface="Cascadia Mono"/>
              </a:rPr>
              <a:t>  `ten` varchar(100) NOT NULL,</a:t>
            </a:r>
            <a:br>
              <a:rPr sz="1000"/>
            </a:br>
            <a:r>
              <a:rPr sz="1000">
                <a:latin typeface="Cascadia Mono"/>
              </a:rPr>
              <a:t>  `matkhau` varchar(100) NOT NULL,</a:t>
            </a:r>
            <a:br>
              <a:rPr sz="1000"/>
            </a:br>
            <a:r>
              <a:rPr sz="1000">
                <a:latin typeface="Cascadia Mono"/>
              </a:rPr>
              <a:t>  `VaiTro` varchar(20) NOT NULL DEFAULT 'giaovien',</a:t>
            </a:r>
            <a:br>
              <a:rPr sz="1000"/>
            </a:br>
            <a:r>
              <a:rPr sz="1000">
                <a:latin typeface="Cascadia Mono"/>
              </a:rPr>
              <a:t>  PRIMARY KEY (`id`)</a:t>
            </a:r>
            <a:br>
              <a:rPr sz="1000"/>
            </a:br>
            <a:r>
              <a:rPr sz="1000">
                <a:latin typeface="Cascadia Mono"/>
              </a:rPr>
              <a:t>);</a:t>
            </a:r>
            <a:br>
              <a:rPr sz="1000"/>
            </a:br>
            <a:br>
              <a:rPr sz="1000"/>
            </a:br>
            <a:r>
              <a:rPr sz="1000">
                <a:latin typeface="Cascadia Mono"/>
              </a:rPr>
              <a:t>INSERT INTO `taikhoan` (`ten`, `matkhau`, `VaiTro`) VALUES</a:t>
            </a:r>
            <a:br>
              <a:rPr sz="1000"/>
            </a:br>
            <a:r>
              <a:rPr sz="1000">
                <a:latin typeface="Cascadia Mono"/>
              </a:rPr>
              <a:t>('admin', 'admin123', 'admin'),</a:t>
            </a:r>
            <a:br>
              <a:rPr sz="1000"/>
            </a:br>
            <a:r>
              <a:rPr sz="1000">
                <a:latin typeface="Cascadia Mono"/>
              </a:rPr>
              <a:t>('giaovien', 'gv123', 'giaovien'),</a:t>
            </a:r>
            <a:br>
              <a:rPr sz="1000"/>
            </a:br>
            <a:r>
              <a:rPr sz="1000">
                <a:latin typeface="Cascadia Mono"/>
              </a:rPr>
              <a:t>('sinhvien', 'sv123', 'sinhvien');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D1B2A"/>
                </a:solidFill>
              </a:defRPr>
            </a:pPr>
            <a:r>
              <a:t>Các chức năng chính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510528"/>
            <a:ext cx="11064240" cy="13716"/>
          </a:xfrm>
          <a:prstGeom prst="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16161"/>
                </a:solidFill>
              </a:defRPr>
            </a:pPr>
            <a:r>
              <a:t>Báo cáo BTL: Hệ thống Quản lý Sinh viên | Java Swing + MySQL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16161"/>
                </a:solidFill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234440"/>
            <a:ext cx="342900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234440"/>
            <a:ext cx="73152" cy="132588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0392" y="134416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1B2A"/>
                </a:solidFill>
              </a:defRPr>
            </a:pPr>
            <a:r>
              <a:t>Đăng nhập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1764792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41414"/>
                </a:solidFill>
              </a:defRPr>
            </a:pPr>
            <a:r>
              <a:t>Kiểm tra tài khoản, mật khẩu trong bảng taikhoan.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234440"/>
            <a:ext cx="342900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1234440"/>
            <a:ext cx="73152" cy="13258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45152" y="134416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1B2A"/>
                </a:solidFill>
              </a:defRPr>
            </a:pPr>
            <a:r>
              <a:t>Phân quyền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1764792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41414"/>
                </a:solidFill>
              </a:defRPr>
            </a:pPr>
            <a:r>
              <a:t>Admin, giáo viên, sinh viên có quyền khác nhau.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234440"/>
            <a:ext cx="342900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275320" y="1234440"/>
            <a:ext cx="73152" cy="132588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39912" y="134416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1B2A"/>
                </a:solidFill>
              </a:defRPr>
            </a:pPr>
            <a:r>
              <a:t>Quản lý sinh viên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9912" y="1764792"/>
            <a:ext cx="310896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41414"/>
                </a:solidFill>
              </a:defRPr>
            </a:pPr>
            <a:r>
              <a:rPr dirty="0" err="1"/>
              <a:t>Thêm</a:t>
            </a:r>
            <a:r>
              <a:rPr dirty="0"/>
              <a:t>, </a:t>
            </a:r>
            <a:r>
              <a:rPr dirty="0" err="1"/>
              <a:t>sửa</a:t>
            </a:r>
            <a:r>
              <a:rPr dirty="0"/>
              <a:t>, </a:t>
            </a:r>
            <a:r>
              <a:rPr dirty="0" err="1"/>
              <a:t>xóa</a:t>
            </a:r>
            <a:r>
              <a:rPr lang="en-US" dirty="0" err="1"/>
              <a:t>,xuất</a:t>
            </a:r>
            <a:r>
              <a:rPr lang="en-US" dirty="0"/>
              <a:t> file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hiển</a:t>
            </a:r>
            <a:r>
              <a:rPr dirty="0"/>
              <a:t> </a:t>
            </a:r>
            <a:r>
              <a:rPr dirty="0" err="1"/>
              <a:t>thị</a:t>
            </a:r>
            <a:r>
              <a:rPr dirty="0"/>
              <a:t> </a:t>
            </a:r>
            <a:r>
              <a:rPr dirty="0" err="1"/>
              <a:t>danh</a:t>
            </a:r>
            <a:r>
              <a:rPr dirty="0"/>
              <a:t> </a:t>
            </a:r>
            <a:r>
              <a:rPr dirty="0" err="1"/>
              <a:t>sách</a:t>
            </a:r>
            <a:r>
              <a:rPr dirty="0"/>
              <a:t> </a:t>
            </a:r>
            <a:r>
              <a:rPr dirty="0" err="1"/>
              <a:t>sinh</a:t>
            </a:r>
            <a:r>
              <a:rPr dirty="0"/>
              <a:t> </a:t>
            </a:r>
            <a:r>
              <a:rPr dirty="0" err="1"/>
              <a:t>viên</a:t>
            </a:r>
            <a:r>
              <a:rPr dirty="0"/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154680"/>
            <a:ext cx="342900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85800" y="3154680"/>
            <a:ext cx="73152" cy="132588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0392" y="326440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1B2A"/>
                </a:solidFill>
              </a:defRPr>
            </a:pPr>
            <a:r>
              <a:t>Tìm kiếm nâng cao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3685032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41414"/>
                </a:solidFill>
              </a:defRPr>
            </a:pPr>
            <a:r>
              <a:t>Lọc theo ID, tên, giới tính, tuổi, địa chỉ/SĐT.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3154680"/>
            <a:ext cx="342900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480560" y="3154680"/>
            <a:ext cx="73152" cy="13258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45152" y="326440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1B2A"/>
                </a:solidFill>
              </a:defRPr>
            </a:pPr>
            <a:r>
              <a:t>Quản lý ảnh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45152" y="3685032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41414"/>
                </a:solidFill>
              </a:defRPr>
            </a:pPr>
            <a:r>
              <a:t>Chọn ảnh từ máy và lưu dạng BLOB trong MySQL.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3154680"/>
            <a:ext cx="3429000" cy="1325880"/>
          </a:xfrm>
          <a:prstGeom prst="roundRect">
            <a:avLst/>
          </a:prstGeom>
          <a:solidFill>
            <a:srgbClr val="F5F7FA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8275320" y="3154680"/>
            <a:ext cx="73152" cy="1325880"/>
          </a:xfrm>
          <a:prstGeom prst="rect">
            <a:avLst/>
          </a:prstGeom>
          <a:solidFill>
            <a:srgbClr val="6161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39912" y="326440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D1B2A"/>
                </a:solidFill>
              </a:defRPr>
            </a:pPr>
            <a:r>
              <a:t>Tải lại dữ liệu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9912" y="3685032"/>
            <a:ext cx="31089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41414"/>
                </a:solidFill>
              </a:defRPr>
            </a:pPr>
            <a:r>
              <a:t>Xóa bộ lọc và lấy dữ liệu mới nhất từ CSDL.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D1B2A"/>
                </a:solidFill>
              </a:defRPr>
            </a:pPr>
            <a:r>
              <a:rPr dirty="0" err="1"/>
              <a:t>Luồng</a:t>
            </a:r>
            <a:r>
              <a:rPr dirty="0"/>
              <a:t> </a:t>
            </a:r>
            <a:r>
              <a:rPr dirty="0" err="1"/>
              <a:t>xử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đăng</a:t>
            </a:r>
            <a:r>
              <a:rPr dirty="0"/>
              <a:t> </a:t>
            </a:r>
            <a:r>
              <a:rPr dirty="0" err="1"/>
              <a:t>nhập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548640" y="6510528"/>
            <a:ext cx="11064240" cy="13716"/>
          </a:xfrm>
          <a:prstGeom prst="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16161"/>
                </a:solidFill>
              </a:defRPr>
            </a:pPr>
            <a:r>
              <a:t>Báo cáo BTL: Hệ thống Quản lý Sinh viên | Java Swing + MySQL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16161"/>
                </a:solidFill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1645920" cy="1097280"/>
          </a:xfrm>
          <a:prstGeom prst="roundRect">
            <a:avLst/>
          </a:prstGeom>
          <a:solidFill>
            <a:srgbClr val="F5F7FA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D1B2A"/>
                </a:solidFill>
              </a:defRPr>
            </a:pPr>
            <a:r>
              <a:t>1</a:t>
            </a:r>
            <a:br/>
            <a:r>
              <a:t>Nhập tài khoản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77440" y="2560320"/>
            <a:ext cx="594360" cy="0"/>
          </a:xfrm>
          <a:prstGeom prst="line">
            <a:avLst/>
          </a:prstGeom>
          <a:ln w="254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71800" y="2011680"/>
            <a:ext cx="1645920" cy="1097280"/>
          </a:xfrm>
          <a:prstGeom prst="roundRect">
            <a:avLst/>
          </a:prstGeom>
          <a:solidFill>
            <a:srgbClr val="F5F7FA"/>
          </a:solidFill>
          <a:ln>
            <a:solidFill>
              <a:srgbClr val="00A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D1B2A"/>
                </a:solidFill>
              </a:defRPr>
            </a:pPr>
            <a:r>
              <a:t>2</a:t>
            </a:r>
            <a:br/>
            <a:r>
              <a:t>Kiểm tra rỗng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617720" y="2560320"/>
            <a:ext cx="594360" cy="0"/>
          </a:xfrm>
          <a:prstGeom prst="line">
            <a:avLst/>
          </a:prstGeom>
          <a:ln w="254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212080" y="2011680"/>
            <a:ext cx="1645920" cy="1097280"/>
          </a:xfrm>
          <a:prstGeom prst="roundRect">
            <a:avLst/>
          </a:prstGeom>
          <a:solidFill>
            <a:srgbClr val="F5F7FA"/>
          </a:solidFill>
          <a:ln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D1B2A"/>
                </a:solidFill>
              </a:defRPr>
            </a:pPr>
            <a:r>
              <a:rPr sz="900" dirty="0">
                <a:latin typeface="Cascadia Mono"/>
              </a:rPr>
              <a:t>3</a:t>
            </a:r>
            <a:br>
              <a:rPr dirty="0"/>
            </a:br>
            <a:r>
              <a:rPr sz="900" dirty="0">
                <a:latin typeface="Cascadia Mono"/>
              </a:rPr>
              <a:t>SELECT </a:t>
            </a:r>
            <a:r>
              <a:rPr sz="900" dirty="0" err="1">
                <a:latin typeface="Cascadia Mono"/>
              </a:rPr>
              <a:t>VaiTro</a:t>
            </a:r>
            <a:endParaRPr sz="900" dirty="0">
              <a:latin typeface="Cascadia Mono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6858000" y="2560320"/>
            <a:ext cx="594360" cy="0"/>
          </a:xfrm>
          <a:prstGeom prst="line">
            <a:avLst/>
          </a:prstGeom>
          <a:ln w="254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452360" y="2011680"/>
            <a:ext cx="1645920" cy="1097280"/>
          </a:xfrm>
          <a:prstGeom prst="roundRect">
            <a:avLst/>
          </a:prstGeom>
          <a:solidFill>
            <a:srgbClr val="F5F7FA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D1B2A"/>
                </a:solidFill>
              </a:defRPr>
            </a:pPr>
            <a:r>
              <a:t>4</a:t>
            </a:r>
            <a:br/>
            <a:r>
              <a:t>Đúng: mở form chính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098280" y="2560320"/>
            <a:ext cx="594360" cy="0"/>
          </a:xfrm>
          <a:prstGeom prst="line">
            <a:avLst/>
          </a:prstGeom>
          <a:ln w="25400">
            <a:solidFill>
              <a:srgbClr val="1976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692640" y="2011680"/>
            <a:ext cx="1645920" cy="1097280"/>
          </a:xfrm>
          <a:prstGeom prst="roundRect">
            <a:avLst/>
          </a:prstGeom>
          <a:solidFill>
            <a:srgbClr val="F5F7FA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D1B2A"/>
                </a:solidFill>
              </a:defRPr>
            </a:pPr>
            <a:r>
              <a:t>5</a:t>
            </a:r>
            <a:br/>
            <a:r>
              <a:t>Sai: báo lỗi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069080"/>
            <a:ext cx="10149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defRPr sz="1900">
                <a:solidFill>
                  <a:srgbClr val="141414"/>
                </a:solidFill>
              </a:defRPr>
            </a:pPr>
            <a:r>
              <a:t>Dùng PreparedStatement để truyền tham số an toàn hơn so với nối chuỗi SQL.</a:t>
            </a:r>
          </a:p>
          <a:p>
            <a:pPr>
              <a:buChar char="•"/>
              <a:defRPr sz="1900">
                <a:solidFill>
                  <a:srgbClr val="141414"/>
                </a:solidFill>
              </a:defRPr>
            </a:pPr>
            <a:r>
              <a:t>Sau khi đăng nhập thành công, biến vaiTro được truyền sang frmQuanLiSinhVienUI để áp dụng phân quyền.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D1B2A"/>
                </a:solidFill>
              </a:defRPr>
            </a:pPr>
            <a:r>
              <a:t>Code: Kết nối cơ sở dữ liệu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510528"/>
            <a:ext cx="11064240" cy="13716"/>
          </a:xfrm>
          <a:prstGeom prst="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16161"/>
                </a:solidFill>
              </a:defRPr>
            </a:pPr>
            <a:r>
              <a:t>Báo cáo BTL: Hệ thống Quản lý Sinh viên | Java Swing + MySQL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16161"/>
                </a:solidFill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05840"/>
            <a:ext cx="10789920" cy="5349240"/>
          </a:xfrm>
          <a:prstGeom prst="roundRect">
            <a:avLst/>
          </a:prstGeom>
          <a:solidFill>
            <a:srgbClr val="1E293B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005840"/>
            <a:ext cx="1078992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1078992"/>
            <a:ext cx="1371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87171"/>
                </a:solidFill>
              </a:defRPr>
            </a:pPr>
            <a: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1078992"/>
            <a:ext cx="1371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BBF24"/>
                </a:solidFill>
              </a:defRPr>
            </a:pPr>
            <a: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1078992"/>
            <a:ext cx="1371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4D399"/>
                </a:solidFill>
              </a:defRPr>
            </a:pPr>
            <a: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069848"/>
            <a:ext cx="9875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DBConnection.java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1417320"/>
            <a:ext cx="10460736" cy="48463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1300">
                <a:solidFill>
                  <a:srgbClr val="E2E8F0"/>
                </a:solidFill>
                <a:latin typeface="Cascadia Mono"/>
              </a:defRPr>
            </a:pPr>
            <a:r>
              <a:rPr sz="1000">
                <a:latin typeface="Cascadia Mono"/>
              </a:rPr>
              <a:t>import java.sql.*;</a:t>
            </a:r>
            <a:br>
              <a:rPr sz="1000"/>
            </a:br>
            <a:br>
              <a:rPr sz="1000"/>
            </a:br>
            <a:r>
              <a:rPr sz="1000">
                <a:latin typeface="Cascadia Mono"/>
              </a:rPr>
              <a:t>public class DBConnection {</a:t>
            </a:r>
            <a:br>
              <a:rPr sz="1000"/>
            </a:br>
            <a:r>
              <a:rPr sz="1000">
                <a:latin typeface="Cascadia Mono"/>
              </a:rPr>
              <a:t>    public static Connection Ketnoi() {</a:t>
            </a:r>
            <a:br>
              <a:rPr sz="1000"/>
            </a:br>
            <a:r>
              <a:rPr sz="1000">
                <a:latin typeface="Cascadia Mono"/>
              </a:rPr>
              <a:t>        Connection conn = null;</a:t>
            </a:r>
            <a:br>
              <a:rPr sz="1000"/>
            </a:br>
            <a:r>
              <a:rPr sz="1000">
                <a:latin typeface="Cascadia Mono"/>
              </a:rPr>
              <a:t>        String url =</a:t>
            </a:r>
            <a:br>
              <a:rPr sz="1000"/>
            </a:br>
            <a:r>
              <a:rPr sz="1000">
                <a:latin typeface="Cascadia Mono"/>
              </a:rPr>
              <a:t>            "jdbc:mysql://localhost:3306/dulieusinhvien?useUnicode=true&amp;characterEncoding=UTF8&amp;serverTimezone=Asia/Ho_Chi_Minh";</a:t>
            </a:r>
            <a:br>
              <a:rPr sz="1000"/>
            </a:br>
            <a:r>
              <a:rPr sz="1000">
                <a:latin typeface="Cascadia Mono"/>
              </a:rPr>
              <a:t>        String username = "root";</a:t>
            </a:r>
            <a:br>
              <a:rPr sz="1000"/>
            </a:br>
            <a:r>
              <a:rPr sz="1000">
                <a:latin typeface="Cascadia Mono"/>
              </a:rPr>
              <a:t>        String pass = "";</a:t>
            </a:r>
            <a:br>
              <a:rPr sz="1000"/>
            </a:br>
            <a:br>
              <a:rPr sz="1000"/>
            </a:br>
            <a:r>
              <a:rPr sz="1000">
                <a:latin typeface="Cascadia Mono"/>
              </a:rPr>
              <a:t>        try {</a:t>
            </a:r>
            <a:br>
              <a:rPr sz="1000"/>
            </a:br>
            <a:r>
              <a:rPr sz="1000">
                <a:latin typeface="Cascadia Mono"/>
              </a:rPr>
              <a:t>            Class.forName("com.mysql.cj.jdbc.Driver");</a:t>
            </a:r>
            <a:br>
              <a:rPr sz="1000"/>
            </a:br>
            <a:r>
              <a:rPr sz="1000">
                <a:latin typeface="Cascadia Mono"/>
              </a:rPr>
              <a:t>            conn = DriverManager.getConnection(url, username, pass);</a:t>
            </a:r>
            <a:br>
              <a:rPr sz="1000"/>
            </a:br>
            <a:r>
              <a:rPr sz="1000">
                <a:latin typeface="Cascadia Mono"/>
              </a:rPr>
              <a:t>            if (conn != null) {</a:t>
            </a:r>
            <a:br>
              <a:rPr sz="1000"/>
            </a:br>
            <a:r>
              <a:rPr sz="1000">
                <a:latin typeface="Cascadia Mono"/>
              </a:rPr>
              <a:t>                System.out.println("Kết nối MySQL thành công!");</a:t>
            </a:r>
            <a:br>
              <a:rPr sz="1000"/>
            </a:br>
            <a:r>
              <a:rPr sz="1000">
                <a:latin typeface="Cascadia Mono"/>
              </a:rPr>
              <a:t>            }</a:t>
            </a:r>
            <a:br>
              <a:rPr sz="1000"/>
            </a:br>
            <a:r>
              <a:rPr sz="1000">
                <a:latin typeface="Cascadia Mono"/>
              </a:rPr>
              <a:t>            return conn;</a:t>
            </a:r>
            <a:br>
              <a:rPr sz="1000"/>
            </a:br>
            <a:r>
              <a:rPr sz="1000">
                <a:latin typeface="Cascadia Mono"/>
              </a:rPr>
              <a:t>        } catch (ClassNotFoundException e) {</a:t>
            </a:r>
            <a:br>
              <a:rPr sz="1000"/>
            </a:br>
            <a:r>
              <a:rPr sz="1000">
                <a:latin typeface="Cascadia Mono"/>
              </a:rPr>
              <a:t>            System.out.println("Lỗi: Thiếu thư viện MySQL Connector Driver (.jar)");</a:t>
            </a:r>
            <a:br>
              <a:rPr sz="1000"/>
            </a:br>
            <a:r>
              <a:rPr sz="1000">
                <a:latin typeface="Cascadia Mono"/>
              </a:rPr>
              <a:t>        } catch (SQLException e) {</a:t>
            </a:r>
            <a:br>
              <a:rPr sz="1000"/>
            </a:br>
            <a:r>
              <a:rPr sz="1000">
                <a:latin typeface="Cascadia Mono"/>
              </a:rPr>
              <a:t>            System.out.println("Lỗi SQL: " + e.getMessage());</a:t>
            </a:r>
            <a:br>
              <a:rPr sz="1000"/>
            </a:br>
            <a:r>
              <a:rPr sz="1000">
                <a:latin typeface="Cascadia Mono"/>
              </a:rPr>
              <a:t>        } catch (Exception e) {</a:t>
            </a:r>
            <a:br>
              <a:rPr sz="1000"/>
            </a:br>
            <a:r>
              <a:rPr sz="1000">
                <a:latin typeface="Cascadia Mono"/>
              </a:rPr>
              <a:t>            System.out.println("Lỗi khác: " + e.getMessage());</a:t>
            </a:r>
            <a:br>
              <a:rPr sz="1000"/>
            </a:br>
            <a:r>
              <a:rPr sz="1000">
                <a:latin typeface="Cascadia Mono"/>
              </a:rPr>
              <a:t>        }</a:t>
            </a:r>
            <a:br>
              <a:rPr sz="1000"/>
            </a:br>
            <a:r>
              <a:rPr sz="1000">
                <a:latin typeface="Cascadia Mono"/>
              </a:rPr>
              <a:t>        return null;</a:t>
            </a:r>
            <a:br>
              <a:rPr sz="1000"/>
            </a:br>
            <a:r>
              <a:rPr sz="1000">
                <a:latin typeface="Cascadia Mono"/>
              </a:rPr>
              <a:t>// ...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D1B2A"/>
                </a:solidFill>
              </a:defRPr>
            </a:pPr>
            <a:r>
              <a:t>Giải thích code kết nối MySQL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510528"/>
            <a:ext cx="11064240" cy="13716"/>
          </a:xfrm>
          <a:prstGeom prst="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16161"/>
                </a:solidFill>
              </a:defRPr>
            </a:pPr>
            <a:r>
              <a:t>Báo cáo BTL: Hệ thống Quản lý Sinh viên | Java Swing + MySQL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16161"/>
                </a:solidFill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143000"/>
            <a:ext cx="1060704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defRPr sz="2000">
                <a:solidFill>
                  <a:srgbClr val="141414"/>
                </a:solidFill>
              </a:defRPr>
            </a:pPr>
            <a:r>
              <a:rPr sz="1600">
                <a:latin typeface="Cascadia Mono"/>
              </a:rPr>
              <a:t>url: trỏ tới database dulieusinhvien trên localhost:3306, có cấu hình Unicode để hiển thị tiếng Việt.</a:t>
            </a:r>
          </a:p>
          <a:p>
            <a:pPr>
              <a:buChar char="•"/>
              <a:defRPr sz="2000">
                <a:solidFill>
                  <a:srgbClr val="141414"/>
                </a:solidFill>
              </a:defRPr>
            </a:pPr>
            <a:r>
              <a:rPr sz="1600">
                <a:latin typeface="Cascadia Mono"/>
              </a:rPr>
              <a:t>username = root, pass = "": tài khoản MySQL mặc định khi dùng XAMPP/phpMyAdmin.</a:t>
            </a:r>
          </a:p>
          <a:p>
            <a:pPr>
              <a:buChar char="•"/>
              <a:defRPr sz="2000">
                <a:solidFill>
                  <a:srgbClr val="141414"/>
                </a:solidFill>
              </a:defRPr>
            </a:pPr>
            <a:r>
              <a:rPr sz="1600">
                <a:latin typeface="Cascadia Mono"/>
              </a:rPr>
              <a:t>Class.forName("com.mysql.cj.jdbc.Driver"): nạp driver MySQL Connector/J.</a:t>
            </a:r>
          </a:p>
          <a:p>
            <a:pPr>
              <a:buChar char="•"/>
              <a:defRPr sz="2000">
                <a:solidFill>
                  <a:srgbClr val="141414"/>
                </a:solidFill>
              </a:defRPr>
            </a:pPr>
            <a:r>
              <a:rPr sz="1600">
                <a:latin typeface="Cascadia Mono"/>
              </a:rPr>
              <a:t>DriverManager.getConnection(...): tạo đối tượng Connection để các form dùng truy vấn SQL.</a:t>
            </a:r>
          </a:p>
          <a:p>
            <a:pPr>
              <a:buChar char="•"/>
              <a:defRPr sz="2000">
                <a:solidFill>
                  <a:srgbClr val="141414"/>
                </a:solidFill>
              </a:defRPr>
            </a:pPr>
            <a:r>
              <a:rPr sz="1600">
                <a:latin typeface="Cascadia Mono"/>
              </a:rPr>
              <a:t>try/catch tách lỗi thiếu thư viện JDBC, lỗi SQL và lỗi khác để dễ sửa khi chạy.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D1B2A"/>
                </a:solidFill>
              </a:defRPr>
            </a:pPr>
            <a:r>
              <a:t>Code: Xử lý đăng nhập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510528"/>
            <a:ext cx="11064240" cy="13716"/>
          </a:xfrm>
          <a:prstGeom prst="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16161"/>
                </a:solidFill>
              </a:defRPr>
            </a:pPr>
            <a:r>
              <a:t>Báo cáo BTL: Hệ thống Quản lý Sinh viên | Java Swing + MySQL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16161"/>
                </a:solidFill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05840"/>
            <a:ext cx="11064240" cy="5394960"/>
          </a:xfrm>
          <a:prstGeom prst="roundRect">
            <a:avLst/>
          </a:prstGeom>
          <a:solidFill>
            <a:srgbClr val="1E293B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005840"/>
            <a:ext cx="1106424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" y="1078992"/>
            <a:ext cx="1371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87171"/>
                </a:solidFill>
              </a:defRPr>
            </a:pPr>
            <a: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078992"/>
            <a:ext cx="1371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BBF24"/>
                </a:solidFill>
              </a:defRPr>
            </a:pPr>
            <a: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078992"/>
            <a:ext cx="1371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4D399"/>
                </a:solidFill>
              </a:defRPr>
            </a:pPr>
            <a: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069848"/>
            <a:ext cx="10149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frmDangNhapUI.java - DangNhap()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417320"/>
            <a:ext cx="10735056" cy="48920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1070">
                <a:solidFill>
                  <a:srgbClr val="E2E8F0"/>
                </a:solidFill>
                <a:latin typeface="Cascadia Mono"/>
              </a:defRPr>
            </a:pPr>
            <a:r>
              <a:rPr sz="1000" dirty="0">
                <a:latin typeface="Cascadia Mono"/>
              </a:rPr>
              <a:t>private void </a:t>
            </a:r>
            <a:r>
              <a:rPr sz="1000" dirty="0" err="1">
                <a:latin typeface="Cascadia Mono"/>
              </a:rPr>
              <a:t>DangNhap</a:t>
            </a:r>
            <a:r>
              <a:rPr sz="1000" dirty="0">
                <a:latin typeface="Cascadia Mono"/>
              </a:rPr>
              <a:t>() {</a:t>
            </a:r>
            <a:br>
              <a:rPr sz="1000" dirty="0"/>
            </a:br>
            <a:r>
              <a:rPr sz="1000" dirty="0">
                <a:latin typeface="Cascadia Mono"/>
              </a:rPr>
              <a:t>        String </a:t>
            </a:r>
            <a:r>
              <a:rPr sz="1000" dirty="0" err="1">
                <a:latin typeface="Cascadia Mono"/>
              </a:rPr>
              <a:t>tenDN</a:t>
            </a:r>
            <a:r>
              <a:rPr sz="1000" dirty="0">
                <a:latin typeface="Cascadia Mono"/>
              </a:rPr>
              <a:t>  = </a:t>
            </a:r>
            <a:r>
              <a:rPr sz="1000" dirty="0" err="1">
                <a:latin typeface="Cascadia Mono"/>
              </a:rPr>
              <a:t>txtUser.getText</a:t>
            </a:r>
            <a:r>
              <a:rPr sz="1000" dirty="0">
                <a:latin typeface="Cascadia Mono"/>
              </a:rPr>
              <a:t>().trim();</a:t>
            </a:r>
            <a:br>
              <a:rPr sz="1000" dirty="0"/>
            </a:br>
            <a:r>
              <a:rPr sz="1000" dirty="0">
                <a:latin typeface="Cascadia Mono"/>
              </a:rPr>
              <a:t>        String </a:t>
            </a:r>
            <a:r>
              <a:rPr sz="1000" dirty="0" err="1">
                <a:latin typeface="Cascadia Mono"/>
              </a:rPr>
              <a:t>matKhau</a:t>
            </a:r>
            <a:r>
              <a:rPr sz="1000" dirty="0">
                <a:latin typeface="Cascadia Mono"/>
              </a:rPr>
              <a:t> = new String(</a:t>
            </a:r>
            <a:r>
              <a:rPr sz="1000" dirty="0" err="1">
                <a:latin typeface="Cascadia Mono"/>
              </a:rPr>
              <a:t>txtPass.getPassword</a:t>
            </a:r>
            <a:r>
              <a:rPr sz="1000" dirty="0">
                <a:latin typeface="Cascadia Mono"/>
              </a:rPr>
              <a:t>()).trim();</a:t>
            </a:r>
            <a:br>
              <a:rPr sz="1000" dirty="0"/>
            </a:br>
            <a:br>
              <a:rPr sz="1000" dirty="0"/>
            </a:br>
            <a:r>
              <a:rPr sz="1000" dirty="0">
                <a:latin typeface="Cascadia Mono"/>
              </a:rPr>
              <a:t>        if (</a:t>
            </a:r>
            <a:r>
              <a:rPr sz="1000" dirty="0" err="1">
                <a:latin typeface="Cascadia Mono"/>
              </a:rPr>
              <a:t>tenDN.isEmpty</a:t>
            </a:r>
            <a:r>
              <a:rPr sz="1000" dirty="0">
                <a:latin typeface="Cascadia Mono"/>
              </a:rPr>
              <a:t>() || </a:t>
            </a:r>
            <a:r>
              <a:rPr sz="1000" dirty="0" err="1">
                <a:latin typeface="Cascadia Mono"/>
              </a:rPr>
              <a:t>matKhau.isEmpty</a:t>
            </a:r>
            <a:r>
              <a:rPr sz="1000" dirty="0">
                <a:latin typeface="Cascadia Mono"/>
              </a:rPr>
              <a:t>()) {</a:t>
            </a:r>
            <a:br>
              <a:rPr sz="1000" dirty="0"/>
            </a:br>
            <a:r>
              <a:rPr sz="1000" dirty="0">
                <a:latin typeface="Cascadia Mono"/>
              </a:rPr>
              <a:t>            </a:t>
            </a:r>
            <a:r>
              <a:rPr sz="1000" dirty="0" err="1">
                <a:latin typeface="Cascadia Mono"/>
              </a:rPr>
              <a:t>JOptionPane.showMessageDialog</a:t>
            </a:r>
            <a:r>
              <a:rPr sz="1000" dirty="0">
                <a:latin typeface="Cascadia Mono"/>
              </a:rPr>
              <a:t>(this,</a:t>
            </a:r>
            <a:br>
              <a:rPr sz="1000" dirty="0"/>
            </a:br>
            <a:r>
              <a:rPr sz="1000" dirty="0">
                <a:latin typeface="Cascadia Mono"/>
              </a:rPr>
              <a:t>                    "Vui </a:t>
            </a:r>
            <a:r>
              <a:rPr sz="1000" dirty="0" err="1">
                <a:latin typeface="Cascadia Mono"/>
              </a:rPr>
              <a:t>lòng</a:t>
            </a:r>
            <a:r>
              <a:rPr sz="1000" dirty="0">
                <a:latin typeface="Cascadia Mono"/>
              </a:rPr>
              <a:t> </a:t>
            </a:r>
            <a:r>
              <a:rPr sz="1000" dirty="0" err="1">
                <a:latin typeface="Cascadia Mono"/>
              </a:rPr>
              <a:t>nhập</a:t>
            </a:r>
            <a:r>
              <a:rPr sz="1000" dirty="0">
                <a:latin typeface="Cascadia Mono"/>
              </a:rPr>
              <a:t> </a:t>
            </a:r>
            <a:r>
              <a:rPr sz="1000" dirty="0" err="1">
                <a:latin typeface="Cascadia Mono"/>
              </a:rPr>
              <a:t>đầy</a:t>
            </a:r>
            <a:r>
              <a:rPr sz="1000" dirty="0">
                <a:latin typeface="Cascadia Mono"/>
              </a:rPr>
              <a:t> </a:t>
            </a:r>
            <a:r>
              <a:rPr sz="1000" dirty="0" err="1">
                <a:latin typeface="Cascadia Mono"/>
              </a:rPr>
              <a:t>đủ</a:t>
            </a:r>
            <a:r>
              <a:rPr sz="1000" dirty="0">
                <a:latin typeface="Cascadia Mono"/>
              </a:rPr>
              <a:t> </a:t>
            </a:r>
            <a:r>
              <a:rPr sz="1000" dirty="0" err="1">
                <a:latin typeface="Cascadia Mono"/>
              </a:rPr>
              <a:t>tên</a:t>
            </a:r>
            <a:r>
              <a:rPr sz="1000" dirty="0">
                <a:latin typeface="Cascadia Mono"/>
              </a:rPr>
              <a:t> </a:t>
            </a:r>
            <a:r>
              <a:rPr sz="1000" dirty="0" err="1">
                <a:latin typeface="Cascadia Mono"/>
              </a:rPr>
              <a:t>đăng</a:t>
            </a:r>
            <a:r>
              <a:rPr sz="1000" dirty="0">
                <a:latin typeface="Cascadia Mono"/>
              </a:rPr>
              <a:t> </a:t>
            </a:r>
            <a:r>
              <a:rPr sz="1000" dirty="0" err="1">
                <a:latin typeface="Cascadia Mono"/>
              </a:rPr>
              <a:t>nhập</a:t>
            </a:r>
            <a:r>
              <a:rPr sz="1000" dirty="0">
                <a:latin typeface="Cascadia Mono"/>
              </a:rPr>
              <a:t> </a:t>
            </a:r>
            <a:r>
              <a:rPr sz="1000" dirty="0" err="1">
                <a:latin typeface="Cascadia Mono"/>
              </a:rPr>
              <a:t>và</a:t>
            </a:r>
            <a:r>
              <a:rPr sz="1000" dirty="0">
                <a:latin typeface="Cascadia Mono"/>
              </a:rPr>
              <a:t> </a:t>
            </a:r>
            <a:r>
              <a:rPr sz="1000" dirty="0" err="1">
                <a:latin typeface="Cascadia Mono"/>
              </a:rPr>
              <a:t>mật</a:t>
            </a:r>
            <a:r>
              <a:rPr sz="1000" dirty="0">
                <a:latin typeface="Cascadia Mono"/>
              </a:rPr>
              <a:t> </a:t>
            </a:r>
            <a:r>
              <a:rPr sz="1000" dirty="0" err="1">
                <a:latin typeface="Cascadia Mono"/>
              </a:rPr>
              <a:t>khẩu</a:t>
            </a:r>
            <a:r>
              <a:rPr sz="1000" dirty="0">
                <a:latin typeface="Cascadia Mono"/>
              </a:rPr>
              <a:t>!",</a:t>
            </a:r>
            <a:br>
              <a:rPr sz="1000" dirty="0"/>
            </a:br>
            <a:r>
              <a:rPr sz="1000" dirty="0">
                <a:latin typeface="Cascadia Mono"/>
              </a:rPr>
              <a:t>                    "</a:t>
            </a:r>
            <a:r>
              <a:rPr sz="1000" dirty="0" err="1">
                <a:latin typeface="Cascadia Mono"/>
              </a:rPr>
              <a:t>Cảnh</a:t>
            </a:r>
            <a:r>
              <a:rPr sz="1000" dirty="0">
                <a:latin typeface="Cascadia Mono"/>
              </a:rPr>
              <a:t> </a:t>
            </a:r>
            <a:r>
              <a:rPr sz="1000" dirty="0" err="1">
                <a:latin typeface="Cascadia Mono"/>
              </a:rPr>
              <a:t>báo</a:t>
            </a:r>
            <a:r>
              <a:rPr sz="1000" dirty="0">
                <a:latin typeface="Cascadia Mono"/>
              </a:rPr>
              <a:t>", </a:t>
            </a:r>
            <a:r>
              <a:rPr sz="1000" dirty="0" err="1">
                <a:latin typeface="Cascadia Mono"/>
              </a:rPr>
              <a:t>JOptionPane.WARNING_MESSAGE</a:t>
            </a:r>
            <a:r>
              <a:rPr sz="1000" dirty="0">
                <a:latin typeface="Cascadia Mono"/>
              </a:rPr>
              <a:t>);</a:t>
            </a:r>
            <a:br>
              <a:rPr sz="1000" dirty="0"/>
            </a:br>
            <a:r>
              <a:rPr sz="1000" dirty="0">
                <a:latin typeface="Cascadia Mono"/>
              </a:rPr>
              <a:t>            return;</a:t>
            </a:r>
            <a:br>
              <a:rPr sz="1000" dirty="0"/>
            </a:br>
            <a:r>
              <a:rPr sz="1000" dirty="0">
                <a:latin typeface="Cascadia Mono"/>
              </a:rPr>
              <a:t>        }</a:t>
            </a:r>
            <a:br>
              <a:rPr sz="1000" dirty="0"/>
            </a:br>
            <a:br>
              <a:rPr sz="1000" dirty="0"/>
            </a:br>
            <a:r>
              <a:rPr sz="1000" dirty="0">
                <a:latin typeface="Cascadia Mono"/>
              </a:rPr>
              <a:t>        // </a:t>
            </a:r>
            <a:r>
              <a:rPr sz="1000" dirty="0" err="1">
                <a:latin typeface="Cascadia Mono"/>
              </a:rPr>
              <a:t>Lấy</a:t>
            </a:r>
            <a:r>
              <a:rPr sz="1000" dirty="0">
                <a:latin typeface="Cascadia Mono"/>
              </a:rPr>
              <a:t> </a:t>
            </a:r>
            <a:r>
              <a:rPr sz="1000" dirty="0" err="1">
                <a:latin typeface="Cascadia Mono"/>
              </a:rPr>
              <a:t>VaiTro</a:t>
            </a:r>
            <a:r>
              <a:rPr sz="1000" dirty="0">
                <a:latin typeface="Cascadia Mono"/>
              </a:rPr>
              <a:t> </a:t>
            </a:r>
            <a:r>
              <a:rPr sz="1000" dirty="0" err="1">
                <a:latin typeface="Cascadia Mono"/>
              </a:rPr>
              <a:t>từ</a:t>
            </a:r>
            <a:r>
              <a:rPr sz="1000" dirty="0">
                <a:latin typeface="Cascadia Mono"/>
              </a:rPr>
              <a:t> DB (</a:t>
            </a:r>
            <a:r>
              <a:rPr sz="1000" dirty="0" err="1">
                <a:latin typeface="Cascadia Mono"/>
              </a:rPr>
              <a:t>trả</a:t>
            </a:r>
            <a:r>
              <a:rPr sz="1000" dirty="0">
                <a:latin typeface="Cascadia Mono"/>
              </a:rPr>
              <a:t> </a:t>
            </a:r>
            <a:r>
              <a:rPr sz="1000" dirty="0" err="1">
                <a:latin typeface="Cascadia Mono"/>
              </a:rPr>
              <a:t>về</a:t>
            </a:r>
            <a:r>
              <a:rPr sz="1000" dirty="0">
                <a:latin typeface="Cascadia Mono"/>
              </a:rPr>
              <a:t> null </a:t>
            </a:r>
            <a:r>
              <a:rPr sz="1000" dirty="0" err="1">
                <a:latin typeface="Cascadia Mono"/>
              </a:rPr>
              <a:t>nếu</a:t>
            </a:r>
            <a:r>
              <a:rPr sz="1000" dirty="0">
                <a:latin typeface="Cascadia Mono"/>
              </a:rPr>
              <a:t> </a:t>
            </a:r>
            <a:r>
              <a:rPr sz="1000" dirty="0" err="1">
                <a:latin typeface="Cascadia Mono"/>
              </a:rPr>
              <a:t>sai</a:t>
            </a:r>
            <a:r>
              <a:rPr sz="1000" dirty="0">
                <a:latin typeface="Cascadia Mono"/>
              </a:rPr>
              <a:t> </a:t>
            </a:r>
            <a:r>
              <a:rPr sz="1000" dirty="0" err="1">
                <a:latin typeface="Cascadia Mono"/>
              </a:rPr>
              <a:t>thông</a:t>
            </a:r>
            <a:r>
              <a:rPr sz="1000" dirty="0">
                <a:latin typeface="Cascadia Mono"/>
              </a:rPr>
              <a:t> tin)</a:t>
            </a:r>
            <a:br>
              <a:rPr sz="1000" dirty="0"/>
            </a:br>
            <a:r>
              <a:rPr sz="1000" dirty="0">
                <a:latin typeface="Cascadia Mono"/>
              </a:rPr>
              <a:t>        String </a:t>
            </a:r>
            <a:r>
              <a:rPr sz="1000" dirty="0" err="1">
                <a:latin typeface="Cascadia Mono"/>
              </a:rPr>
              <a:t>sql</a:t>
            </a:r>
            <a:r>
              <a:rPr sz="1000" dirty="0">
                <a:latin typeface="Cascadia Mono"/>
              </a:rPr>
              <a:t> = "SELECT </a:t>
            </a:r>
            <a:r>
              <a:rPr sz="1000" dirty="0" err="1">
                <a:latin typeface="Cascadia Mono"/>
              </a:rPr>
              <a:t>VaiTro</a:t>
            </a:r>
            <a:r>
              <a:rPr sz="1000" dirty="0">
                <a:latin typeface="Cascadia Mono"/>
              </a:rPr>
              <a:t> FROM </a:t>
            </a:r>
            <a:r>
              <a:rPr sz="1000" dirty="0" err="1">
                <a:latin typeface="Cascadia Mono"/>
              </a:rPr>
              <a:t>TaiKhoan</a:t>
            </a:r>
            <a:r>
              <a:rPr sz="1000" dirty="0">
                <a:latin typeface="Cascadia Mono"/>
              </a:rPr>
              <a:t> WHERE ten = ? AND </a:t>
            </a:r>
            <a:r>
              <a:rPr sz="1000" dirty="0" err="1">
                <a:latin typeface="Cascadia Mono"/>
              </a:rPr>
              <a:t>matkhau</a:t>
            </a:r>
            <a:r>
              <a:rPr sz="1000" dirty="0">
                <a:latin typeface="Cascadia Mono"/>
              </a:rPr>
              <a:t> = ?";</a:t>
            </a:r>
            <a:br>
              <a:rPr sz="1000" dirty="0"/>
            </a:br>
            <a:r>
              <a:rPr sz="1000" dirty="0">
                <a:latin typeface="Cascadia Mono"/>
              </a:rPr>
              <a:t>        try {</a:t>
            </a:r>
            <a:br>
              <a:rPr sz="1000" dirty="0"/>
            </a:br>
            <a:r>
              <a:rPr sz="1000" dirty="0">
                <a:latin typeface="Cascadia Mono"/>
              </a:rPr>
              <a:t>            </a:t>
            </a:r>
            <a:r>
              <a:rPr sz="1000" dirty="0" err="1">
                <a:latin typeface="Cascadia Mono"/>
              </a:rPr>
              <a:t>stmt</a:t>
            </a:r>
            <a:r>
              <a:rPr sz="1000" dirty="0">
                <a:latin typeface="Cascadia Mono"/>
              </a:rPr>
              <a:t> = </a:t>
            </a:r>
            <a:r>
              <a:rPr sz="1000" dirty="0" err="1">
                <a:latin typeface="Cascadia Mono"/>
              </a:rPr>
              <a:t>conn.prepareStatement</a:t>
            </a:r>
            <a:r>
              <a:rPr sz="1000" dirty="0">
                <a:latin typeface="Cascadia Mono"/>
              </a:rPr>
              <a:t>(</a:t>
            </a:r>
            <a:r>
              <a:rPr sz="1000" dirty="0" err="1">
                <a:latin typeface="Cascadia Mono"/>
              </a:rPr>
              <a:t>sql</a:t>
            </a:r>
            <a:r>
              <a:rPr sz="1000" dirty="0">
                <a:latin typeface="Cascadia Mono"/>
              </a:rPr>
              <a:t>);</a:t>
            </a:r>
            <a:br>
              <a:rPr sz="1000" dirty="0"/>
            </a:br>
            <a:r>
              <a:rPr sz="1000" dirty="0">
                <a:latin typeface="Cascadia Mono"/>
              </a:rPr>
              <a:t>            </a:t>
            </a:r>
            <a:r>
              <a:rPr sz="1000" dirty="0" err="1">
                <a:latin typeface="Cascadia Mono"/>
              </a:rPr>
              <a:t>stmt.setString</a:t>
            </a:r>
            <a:r>
              <a:rPr sz="1000" dirty="0">
                <a:latin typeface="Cascadia Mono"/>
              </a:rPr>
              <a:t>(1, </a:t>
            </a:r>
            <a:r>
              <a:rPr sz="1000" dirty="0" err="1">
                <a:latin typeface="Cascadia Mono"/>
              </a:rPr>
              <a:t>tenDN</a:t>
            </a:r>
            <a:r>
              <a:rPr sz="1000" dirty="0">
                <a:latin typeface="Cascadia Mono"/>
              </a:rPr>
              <a:t>);</a:t>
            </a:r>
            <a:br>
              <a:rPr sz="1000" dirty="0"/>
            </a:br>
            <a:r>
              <a:rPr sz="1000" dirty="0">
                <a:latin typeface="Cascadia Mono"/>
              </a:rPr>
              <a:t>            </a:t>
            </a:r>
            <a:r>
              <a:rPr sz="1000" dirty="0" err="1">
                <a:latin typeface="Cascadia Mono"/>
              </a:rPr>
              <a:t>stmt.setString</a:t>
            </a:r>
            <a:r>
              <a:rPr sz="1000" dirty="0">
                <a:latin typeface="Cascadia Mono"/>
              </a:rPr>
              <a:t>(2, </a:t>
            </a:r>
            <a:r>
              <a:rPr sz="1000" dirty="0" err="1">
                <a:latin typeface="Cascadia Mono"/>
              </a:rPr>
              <a:t>matKhau</a:t>
            </a:r>
            <a:r>
              <a:rPr sz="1000" dirty="0">
                <a:latin typeface="Cascadia Mono"/>
              </a:rPr>
              <a:t>);</a:t>
            </a:r>
            <a:br>
              <a:rPr sz="1000" dirty="0"/>
            </a:br>
            <a:r>
              <a:rPr sz="1000" dirty="0">
                <a:latin typeface="Cascadia Mono"/>
              </a:rPr>
              <a:t>            </a:t>
            </a:r>
            <a:r>
              <a:rPr sz="1000" dirty="0" err="1">
                <a:latin typeface="Cascadia Mono"/>
              </a:rPr>
              <a:t>rs</a:t>
            </a:r>
            <a:r>
              <a:rPr sz="1000" dirty="0">
                <a:latin typeface="Cascadia Mono"/>
              </a:rPr>
              <a:t> = </a:t>
            </a:r>
            <a:r>
              <a:rPr sz="1000" dirty="0" err="1">
                <a:latin typeface="Cascadia Mono"/>
              </a:rPr>
              <a:t>stmt.executeQuery</a:t>
            </a:r>
            <a:r>
              <a:rPr sz="1000" dirty="0">
                <a:latin typeface="Cascadia Mono"/>
              </a:rPr>
              <a:t>();</a:t>
            </a:r>
            <a:br>
              <a:rPr sz="1000" dirty="0"/>
            </a:br>
            <a:br>
              <a:rPr sz="1000" dirty="0"/>
            </a:br>
            <a:r>
              <a:rPr sz="1000" dirty="0">
                <a:latin typeface="Cascadia Mono"/>
              </a:rPr>
              <a:t>            if (</a:t>
            </a:r>
            <a:r>
              <a:rPr sz="1000" dirty="0" err="1">
                <a:latin typeface="Cascadia Mono"/>
              </a:rPr>
              <a:t>rs.next</a:t>
            </a:r>
            <a:r>
              <a:rPr sz="1000" dirty="0">
                <a:latin typeface="Cascadia Mono"/>
              </a:rPr>
              <a:t>()) {</a:t>
            </a:r>
            <a:br>
              <a:rPr sz="1000" dirty="0"/>
            </a:br>
            <a:r>
              <a:rPr sz="1000" dirty="0">
                <a:latin typeface="Cascadia Mono"/>
              </a:rPr>
              <a:t>                String </a:t>
            </a:r>
            <a:r>
              <a:rPr sz="1000" dirty="0" err="1">
                <a:latin typeface="Cascadia Mono"/>
              </a:rPr>
              <a:t>vaiTro</a:t>
            </a:r>
            <a:r>
              <a:rPr sz="1000" dirty="0">
                <a:latin typeface="Cascadia Mono"/>
              </a:rPr>
              <a:t> = </a:t>
            </a:r>
            <a:r>
              <a:rPr sz="1000" dirty="0" err="1">
                <a:latin typeface="Cascadia Mono"/>
              </a:rPr>
              <a:t>rs.getString</a:t>
            </a:r>
            <a:r>
              <a:rPr sz="1000" dirty="0">
                <a:latin typeface="Cascadia Mono"/>
              </a:rPr>
              <a:t>("</a:t>
            </a:r>
            <a:r>
              <a:rPr sz="1000" dirty="0" err="1">
                <a:latin typeface="Cascadia Mono"/>
              </a:rPr>
              <a:t>VaiTro</a:t>
            </a:r>
            <a:r>
              <a:rPr sz="1000" dirty="0">
                <a:latin typeface="Cascadia Mono"/>
              </a:rPr>
              <a:t>"); // "admin" / "</a:t>
            </a:r>
            <a:r>
              <a:rPr sz="1000" dirty="0" err="1">
                <a:latin typeface="Cascadia Mono"/>
              </a:rPr>
              <a:t>nhanvien</a:t>
            </a:r>
            <a:r>
              <a:rPr sz="1000" dirty="0">
                <a:latin typeface="Cascadia Mono"/>
              </a:rPr>
              <a:t>" / "</a:t>
            </a:r>
            <a:r>
              <a:rPr sz="1000" dirty="0" err="1">
                <a:latin typeface="Cascadia Mono"/>
              </a:rPr>
              <a:t>giaovien</a:t>
            </a:r>
            <a:r>
              <a:rPr sz="1000" dirty="0">
                <a:latin typeface="Cascadia Mono"/>
              </a:rPr>
              <a:t>"</a:t>
            </a:r>
            <a:br>
              <a:rPr sz="1000" dirty="0"/>
            </a:br>
            <a:br>
              <a:rPr sz="1000" dirty="0"/>
            </a:br>
            <a:r>
              <a:rPr sz="1000" dirty="0">
                <a:latin typeface="Cascadia Mono"/>
              </a:rPr>
              <a:t>                // Hiển </a:t>
            </a:r>
            <a:r>
              <a:rPr sz="1000" dirty="0" err="1">
                <a:latin typeface="Cascadia Mono"/>
              </a:rPr>
              <a:t>thị</a:t>
            </a:r>
            <a:r>
              <a:rPr sz="1000" dirty="0">
                <a:latin typeface="Cascadia Mono"/>
              </a:rPr>
              <a:t> </a:t>
            </a:r>
            <a:r>
              <a:rPr sz="1000" dirty="0" err="1">
                <a:latin typeface="Cascadia Mono"/>
              </a:rPr>
              <a:t>thông</a:t>
            </a:r>
            <a:r>
              <a:rPr sz="1000" dirty="0">
                <a:latin typeface="Cascadia Mono"/>
              </a:rPr>
              <a:t> </a:t>
            </a:r>
            <a:r>
              <a:rPr sz="1000" dirty="0" err="1">
                <a:latin typeface="Cascadia Mono"/>
              </a:rPr>
              <a:t>báo</a:t>
            </a:r>
            <a:r>
              <a:rPr sz="1000" dirty="0">
                <a:latin typeface="Cascadia Mono"/>
              </a:rPr>
              <a:t> </a:t>
            </a:r>
            <a:r>
              <a:rPr sz="1000" dirty="0" err="1">
                <a:latin typeface="Cascadia Mono"/>
              </a:rPr>
              <a:t>tên</a:t>
            </a:r>
            <a:r>
              <a:rPr sz="1000" dirty="0">
                <a:latin typeface="Cascadia Mono"/>
              </a:rPr>
              <a:t> + </a:t>
            </a:r>
            <a:r>
              <a:rPr sz="1000" dirty="0" err="1">
                <a:latin typeface="Cascadia Mono"/>
              </a:rPr>
              <a:t>vai</a:t>
            </a:r>
            <a:r>
              <a:rPr sz="1000" dirty="0">
                <a:latin typeface="Cascadia Mono"/>
              </a:rPr>
              <a:t> </a:t>
            </a:r>
            <a:r>
              <a:rPr sz="1000" dirty="0" err="1">
                <a:latin typeface="Cascadia Mono"/>
              </a:rPr>
              <a:t>trò</a:t>
            </a:r>
            <a:br>
              <a:rPr sz="1000" dirty="0"/>
            </a:br>
            <a:r>
              <a:rPr sz="1000" dirty="0">
                <a:latin typeface="Cascadia Mono"/>
              </a:rPr>
              <a:t>                String </a:t>
            </a:r>
            <a:r>
              <a:rPr sz="1000" dirty="0" err="1">
                <a:latin typeface="Cascadia Mono"/>
              </a:rPr>
              <a:t>tenHienThi</a:t>
            </a:r>
            <a:r>
              <a:rPr sz="1000" dirty="0">
                <a:latin typeface="Cascadia Mono"/>
              </a:rPr>
              <a:t> = switch (</a:t>
            </a:r>
            <a:r>
              <a:rPr sz="1000" dirty="0" err="1">
                <a:latin typeface="Cascadia Mono"/>
              </a:rPr>
              <a:t>vaiTro</a:t>
            </a:r>
            <a:r>
              <a:rPr sz="1000" dirty="0">
                <a:latin typeface="Cascadia Mono"/>
              </a:rPr>
              <a:t>) {</a:t>
            </a:r>
            <a:br>
              <a:rPr sz="1000" dirty="0"/>
            </a:br>
            <a:r>
              <a:rPr sz="1000" dirty="0">
                <a:latin typeface="Cascadia Mono"/>
              </a:rPr>
              <a:t>                    case "admin"     -&gt; "Quản </a:t>
            </a:r>
            <a:r>
              <a:rPr sz="1000" dirty="0" err="1">
                <a:latin typeface="Cascadia Mono"/>
              </a:rPr>
              <a:t>trị</a:t>
            </a:r>
            <a:r>
              <a:rPr sz="1000" dirty="0">
                <a:latin typeface="Cascadia Mono"/>
              </a:rPr>
              <a:t> </a:t>
            </a:r>
            <a:r>
              <a:rPr sz="1000" dirty="0" err="1">
                <a:latin typeface="Cascadia Mono"/>
              </a:rPr>
              <a:t>viên</a:t>
            </a:r>
            <a:r>
              <a:rPr sz="1000" dirty="0">
                <a:latin typeface="Cascadia Mono"/>
              </a:rPr>
              <a:t> (Admin)";</a:t>
            </a:r>
            <a:br>
              <a:rPr sz="1000" dirty="0"/>
            </a:br>
            <a:r>
              <a:rPr sz="1000" dirty="0">
                <a:latin typeface="Cascadia Mono"/>
              </a:rPr>
              <a:t>                    case "</a:t>
            </a:r>
            <a:r>
              <a:rPr sz="1000" dirty="0" err="1">
                <a:latin typeface="Cascadia Mono"/>
              </a:rPr>
              <a:t>sinhvien</a:t>
            </a:r>
            <a:r>
              <a:rPr sz="1000" dirty="0">
                <a:latin typeface="Cascadia Mono"/>
              </a:rPr>
              <a:t>"  -&gt; "Sinh Viên (</a:t>
            </a:r>
            <a:r>
              <a:rPr sz="1000" dirty="0" err="1">
                <a:latin typeface="Cascadia Mono"/>
              </a:rPr>
              <a:t>Chỉ</a:t>
            </a:r>
            <a:r>
              <a:rPr sz="1000" dirty="0">
                <a:latin typeface="Cascadia Mono"/>
              </a:rPr>
              <a:t> </a:t>
            </a:r>
            <a:r>
              <a:rPr sz="1000" dirty="0" err="1">
                <a:latin typeface="Cascadia Mono"/>
              </a:rPr>
              <a:t>xem</a:t>
            </a:r>
            <a:r>
              <a:rPr sz="1000" dirty="0">
                <a:latin typeface="Cascadia Mono"/>
              </a:rPr>
              <a:t> )";</a:t>
            </a:r>
            <a:br>
              <a:rPr sz="1000" dirty="0"/>
            </a:br>
            <a:r>
              <a:rPr sz="1000" dirty="0">
                <a:latin typeface="Cascadia Mono"/>
              </a:rPr>
              <a:t>                    case "</a:t>
            </a:r>
            <a:r>
              <a:rPr sz="1000" dirty="0" err="1">
                <a:latin typeface="Cascadia Mono"/>
              </a:rPr>
              <a:t>giaovien</a:t>
            </a:r>
            <a:r>
              <a:rPr sz="1000" dirty="0">
                <a:latin typeface="Cascadia Mono"/>
              </a:rPr>
              <a:t>"  -&gt; "</a:t>
            </a:r>
            <a:r>
              <a:rPr sz="1000" dirty="0" err="1">
                <a:latin typeface="Cascadia Mono"/>
              </a:rPr>
              <a:t>Giáo</a:t>
            </a:r>
            <a:r>
              <a:rPr sz="1000" dirty="0">
                <a:latin typeface="Cascadia Mono"/>
              </a:rPr>
              <a:t> </a:t>
            </a:r>
            <a:r>
              <a:rPr sz="1000" dirty="0" err="1">
                <a:latin typeface="Cascadia Mono"/>
              </a:rPr>
              <a:t>viên</a:t>
            </a:r>
            <a:r>
              <a:rPr sz="1000" dirty="0">
                <a:latin typeface="Cascadia Mono"/>
              </a:rPr>
              <a:t> ";</a:t>
            </a:r>
            <a:br>
              <a:rPr sz="1000" dirty="0"/>
            </a:br>
            <a:r>
              <a:rPr sz="1000" dirty="0">
                <a:latin typeface="Cascadia Mono"/>
              </a:rPr>
              <a:t>                    default          -&gt; </a:t>
            </a:r>
            <a:r>
              <a:rPr sz="1000" dirty="0" err="1">
                <a:latin typeface="Cascadia Mono"/>
              </a:rPr>
              <a:t>vaiTro</a:t>
            </a:r>
            <a:r>
              <a:rPr sz="1000" dirty="0">
                <a:latin typeface="Cascadia Mono"/>
              </a:rPr>
              <a:t>;</a:t>
            </a:r>
            <a:br>
              <a:rPr sz="1000" dirty="0"/>
            </a:br>
            <a:r>
              <a:rPr sz="1000" dirty="0">
                <a:latin typeface="Cascadia Mono"/>
              </a:rPr>
              <a:t>                };</a:t>
            </a:r>
            <a:br>
              <a:rPr sz="1000" dirty="0"/>
            </a:br>
            <a:br>
              <a:rPr sz="1000" dirty="0"/>
            </a:br>
            <a:r>
              <a:rPr sz="1000" dirty="0">
                <a:latin typeface="Cascadia Mono"/>
              </a:rPr>
              <a:t>// ...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D1B2A"/>
                </a:solidFill>
              </a:defRPr>
            </a:pPr>
            <a:r>
              <a:t>Code: Khởi tạo giao diện đăng nhập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510528"/>
            <a:ext cx="11064240" cy="13716"/>
          </a:xfrm>
          <a:prstGeom prst="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16161"/>
                </a:solidFill>
              </a:defRPr>
            </a:pPr>
            <a:r>
              <a:t>Báo cáo BTL: Hệ thống Quản lý Sinh viên | Java Swing + MySQL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16161"/>
                </a:solidFill>
              </a:defRPr>
            </a:pPr>
            <a: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05840"/>
            <a:ext cx="10881360" cy="5394960"/>
          </a:xfrm>
          <a:prstGeom prst="roundRect">
            <a:avLst/>
          </a:prstGeom>
          <a:solidFill>
            <a:srgbClr val="1E293B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005840"/>
            <a:ext cx="1088136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1078992"/>
            <a:ext cx="1371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87171"/>
                </a:solidFill>
              </a:defRPr>
            </a:pPr>
            <a: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078992"/>
            <a:ext cx="1371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BBF24"/>
                </a:solidFill>
              </a:defRPr>
            </a:pPr>
            <a: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078992"/>
            <a:ext cx="1371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4D399"/>
                </a:solidFill>
              </a:defRPr>
            </a:pPr>
            <a: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069848"/>
            <a:ext cx="9966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frmDangNhapUI.java - main() + FlatLaf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1417320"/>
            <a:ext cx="10552176" cy="48920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1140">
                <a:solidFill>
                  <a:srgbClr val="E2E8F0"/>
                </a:solidFill>
                <a:latin typeface="Cascadia Mono"/>
              </a:defRPr>
            </a:pPr>
            <a:r>
              <a:rPr sz="900" dirty="0">
                <a:latin typeface="Cascadia Mono"/>
              </a:rPr>
              <a:t>public static void main(String[] </a:t>
            </a:r>
            <a:r>
              <a:rPr sz="900" dirty="0" err="1">
                <a:latin typeface="Cascadia Mono"/>
              </a:rPr>
              <a:t>args</a:t>
            </a:r>
            <a:r>
              <a:rPr sz="900" dirty="0">
                <a:latin typeface="Cascadia Mono"/>
              </a:rPr>
              <a:t>) {</a:t>
            </a:r>
            <a:br>
              <a:rPr dirty="0"/>
            </a:br>
            <a:r>
              <a:rPr sz="900" dirty="0">
                <a:latin typeface="Cascadia Mono"/>
              </a:rPr>
              <a:t>        try {</a:t>
            </a:r>
            <a:br>
              <a:rPr dirty="0"/>
            </a:br>
            <a:r>
              <a:rPr sz="900" dirty="0">
                <a:latin typeface="Cascadia Mono"/>
              </a:rPr>
              <a:t>            // 1. </a:t>
            </a:r>
            <a:r>
              <a:rPr sz="900" dirty="0" err="1">
                <a:latin typeface="Cascadia Mono"/>
              </a:rPr>
              <a:t>Cấu</a:t>
            </a:r>
            <a:r>
              <a:rPr sz="900" dirty="0">
                <a:latin typeface="Cascadia Mono"/>
              </a:rPr>
              <a:t> </a:t>
            </a:r>
            <a:r>
              <a:rPr sz="900" dirty="0" err="1">
                <a:latin typeface="Cascadia Mono"/>
              </a:rPr>
              <a:t>hình</a:t>
            </a:r>
            <a:r>
              <a:rPr sz="900" dirty="0">
                <a:latin typeface="Cascadia Mono"/>
              </a:rPr>
              <a:t> </a:t>
            </a:r>
            <a:r>
              <a:rPr sz="900" dirty="0" err="1">
                <a:latin typeface="Cascadia Mono"/>
              </a:rPr>
              <a:t>bo</a:t>
            </a:r>
            <a:r>
              <a:rPr sz="900" dirty="0">
                <a:latin typeface="Cascadia Mono"/>
              </a:rPr>
              <a:t> </a:t>
            </a:r>
            <a:r>
              <a:rPr sz="900" dirty="0" err="1">
                <a:latin typeface="Cascadia Mono"/>
              </a:rPr>
              <a:t>góc</a:t>
            </a:r>
            <a:r>
              <a:rPr sz="900" dirty="0">
                <a:latin typeface="Cascadia Mono"/>
              </a:rPr>
              <a:t> </a:t>
            </a:r>
            <a:r>
              <a:rPr sz="900" dirty="0" err="1">
                <a:latin typeface="Cascadia Mono"/>
              </a:rPr>
              <a:t>tròn</a:t>
            </a:r>
            <a:r>
              <a:rPr sz="900" dirty="0">
                <a:latin typeface="Cascadia Mono"/>
              </a:rPr>
              <a:t> </a:t>
            </a:r>
            <a:r>
              <a:rPr sz="900" dirty="0" err="1">
                <a:latin typeface="Cascadia Mono"/>
              </a:rPr>
              <a:t>trịa</a:t>
            </a:r>
            <a:r>
              <a:rPr sz="900" dirty="0">
                <a:latin typeface="Cascadia Mono"/>
              </a:rPr>
              <a:t> </a:t>
            </a:r>
            <a:r>
              <a:rPr sz="900" dirty="0" err="1">
                <a:latin typeface="Cascadia Mono"/>
              </a:rPr>
              <a:t>hơn</a:t>
            </a:r>
            <a:br>
              <a:rPr dirty="0"/>
            </a:br>
            <a:r>
              <a:rPr sz="900" dirty="0">
                <a:latin typeface="Cascadia Mono"/>
              </a:rPr>
              <a:t>            </a:t>
            </a:r>
            <a:r>
              <a:rPr sz="900" dirty="0" err="1">
                <a:latin typeface="Cascadia Mono"/>
              </a:rPr>
              <a:t>UIManager.put</a:t>
            </a:r>
            <a:r>
              <a:rPr sz="900" dirty="0">
                <a:latin typeface="Cascadia Mono"/>
              </a:rPr>
              <a:t>("Button.arc", 15);</a:t>
            </a:r>
            <a:br>
              <a:rPr dirty="0"/>
            </a:br>
            <a:r>
              <a:rPr sz="900" dirty="0">
                <a:latin typeface="Cascadia Mono"/>
              </a:rPr>
              <a:t>            </a:t>
            </a:r>
            <a:r>
              <a:rPr sz="900" dirty="0" err="1">
                <a:latin typeface="Cascadia Mono"/>
              </a:rPr>
              <a:t>UIManager.put</a:t>
            </a:r>
            <a:r>
              <a:rPr sz="900" dirty="0">
                <a:latin typeface="Cascadia Mono"/>
              </a:rPr>
              <a:t>("Component.arc", 15);</a:t>
            </a:r>
            <a:br>
              <a:rPr dirty="0"/>
            </a:br>
            <a:r>
              <a:rPr sz="900" dirty="0">
                <a:latin typeface="Cascadia Mono"/>
              </a:rPr>
              <a:t>            </a:t>
            </a:r>
            <a:r>
              <a:rPr sz="900" dirty="0" err="1">
                <a:latin typeface="Cascadia Mono"/>
              </a:rPr>
              <a:t>UIManager.put</a:t>
            </a:r>
            <a:r>
              <a:rPr sz="900" dirty="0">
                <a:latin typeface="Cascadia Mono"/>
              </a:rPr>
              <a:t>("TextComponent.arc", 15);</a:t>
            </a:r>
            <a:br>
              <a:rPr dirty="0"/>
            </a:br>
            <a:r>
              <a:rPr sz="900" dirty="0">
                <a:latin typeface="Cascadia Mono"/>
              </a:rPr>
              <a:t>            </a:t>
            </a:r>
            <a:r>
              <a:rPr sz="900" dirty="0" err="1">
                <a:latin typeface="Cascadia Mono"/>
              </a:rPr>
              <a:t>UIManager.put</a:t>
            </a:r>
            <a:r>
              <a:rPr sz="900" dirty="0">
                <a:latin typeface="Cascadia Mono"/>
              </a:rPr>
              <a:t>("</a:t>
            </a:r>
            <a:r>
              <a:rPr sz="900" dirty="0" err="1">
                <a:latin typeface="Cascadia Mono"/>
              </a:rPr>
              <a:t>Table.showHorizontalLines</a:t>
            </a:r>
            <a:r>
              <a:rPr sz="900" dirty="0">
                <a:latin typeface="Cascadia Mono"/>
              </a:rPr>
              <a:t>", true);</a:t>
            </a:r>
            <a:br>
              <a:rPr dirty="0"/>
            </a:br>
            <a:r>
              <a:rPr sz="900" dirty="0">
                <a:latin typeface="Cascadia Mono"/>
              </a:rPr>
              <a:t>            </a:t>
            </a:r>
            <a:r>
              <a:rPr sz="900" dirty="0" err="1">
                <a:latin typeface="Cascadia Mono"/>
              </a:rPr>
              <a:t>UIManager.put</a:t>
            </a:r>
            <a:r>
              <a:rPr sz="900" dirty="0">
                <a:latin typeface="Cascadia Mono"/>
              </a:rPr>
              <a:t>("</a:t>
            </a:r>
            <a:r>
              <a:rPr sz="900" dirty="0" err="1">
                <a:latin typeface="Cascadia Mono"/>
              </a:rPr>
              <a:t>Table.showVerticalLines</a:t>
            </a:r>
            <a:r>
              <a:rPr sz="900" dirty="0">
                <a:latin typeface="Cascadia Mono"/>
              </a:rPr>
              <a:t>", true);</a:t>
            </a:r>
            <a:br>
              <a:rPr dirty="0"/>
            </a:br>
            <a:r>
              <a:rPr sz="900" dirty="0">
                <a:latin typeface="Cascadia Mono"/>
              </a:rPr>
              <a:t>            </a:t>
            </a:r>
            <a:r>
              <a:rPr sz="900" dirty="0" err="1">
                <a:latin typeface="Cascadia Mono"/>
              </a:rPr>
              <a:t>UIManager.put</a:t>
            </a:r>
            <a:r>
              <a:rPr sz="900" dirty="0">
                <a:latin typeface="Cascadia Mono"/>
              </a:rPr>
              <a:t>("</a:t>
            </a:r>
            <a:r>
              <a:rPr sz="900" dirty="0" err="1">
                <a:latin typeface="Cascadia Mono"/>
              </a:rPr>
              <a:t>Table.gridColor</a:t>
            </a:r>
            <a:r>
              <a:rPr sz="900" dirty="0">
                <a:latin typeface="Cascadia Mono"/>
              </a:rPr>
              <a:t>", new Color(180,180,180));</a:t>
            </a:r>
            <a:br>
              <a:rPr dirty="0"/>
            </a:br>
            <a:br>
              <a:rPr dirty="0"/>
            </a:br>
            <a:r>
              <a:rPr sz="900" dirty="0">
                <a:latin typeface="Cascadia Mono"/>
              </a:rPr>
              <a:t>            </a:t>
            </a:r>
            <a:r>
              <a:rPr sz="900" dirty="0" err="1">
                <a:latin typeface="Cascadia Mono"/>
              </a:rPr>
              <a:t>UIManager.put</a:t>
            </a:r>
            <a:r>
              <a:rPr sz="900" dirty="0">
                <a:latin typeface="Cascadia Mono"/>
              </a:rPr>
              <a:t>("</a:t>
            </a:r>
            <a:r>
              <a:rPr sz="900" dirty="0" err="1">
                <a:latin typeface="Cascadia Mono"/>
              </a:rPr>
              <a:t>Table.selectionBackground</a:t>
            </a:r>
            <a:r>
              <a:rPr sz="900" dirty="0">
                <a:latin typeface="Cascadia Mono"/>
              </a:rPr>
              <a:t>", new Color(51,153,255));</a:t>
            </a:r>
            <a:br>
              <a:rPr dirty="0"/>
            </a:br>
            <a:r>
              <a:rPr sz="900" dirty="0">
                <a:latin typeface="Cascadia Mono"/>
              </a:rPr>
              <a:t>            </a:t>
            </a:r>
            <a:r>
              <a:rPr sz="900" dirty="0" err="1">
                <a:latin typeface="Cascadia Mono"/>
              </a:rPr>
              <a:t>UIManager.put</a:t>
            </a:r>
            <a:r>
              <a:rPr sz="900" dirty="0">
                <a:latin typeface="Cascadia Mono"/>
              </a:rPr>
              <a:t>("</a:t>
            </a:r>
            <a:r>
              <a:rPr sz="900" dirty="0" err="1">
                <a:latin typeface="Cascadia Mono"/>
              </a:rPr>
              <a:t>Table.selectionForeground</a:t>
            </a:r>
            <a:r>
              <a:rPr sz="900" dirty="0">
                <a:latin typeface="Cascadia Mono"/>
              </a:rPr>
              <a:t>", </a:t>
            </a:r>
            <a:r>
              <a:rPr sz="900" dirty="0" err="1">
                <a:latin typeface="Cascadia Mono"/>
              </a:rPr>
              <a:t>Color.WHITE</a:t>
            </a:r>
            <a:r>
              <a:rPr sz="900" dirty="0">
                <a:latin typeface="Cascadia Mono"/>
              </a:rPr>
              <a:t>);</a:t>
            </a:r>
            <a:br>
              <a:rPr dirty="0"/>
            </a:br>
            <a:br>
              <a:rPr dirty="0"/>
            </a:br>
            <a:r>
              <a:rPr sz="900" dirty="0">
                <a:latin typeface="Cascadia Mono"/>
              </a:rPr>
              <a:t>            </a:t>
            </a:r>
            <a:r>
              <a:rPr sz="900" dirty="0" err="1">
                <a:latin typeface="Cascadia Mono"/>
              </a:rPr>
              <a:t>UIManager.put</a:t>
            </a:r>
            <a:r>
              <a:rPr sz="900" dirty="0">
                <a:latin typeface="Cascadia Mono"/>
              </a:rPr>
              <a:t>("</a:t>
            </a:r>
            <a:r>
              <a:rPr sz="900" dirty="0" err="1">
                <a:latin typeface="Cascadia Mono"/>
              </a:rPr>
              <a:t>TableHeader.background</a:t>
            </a:r>
            <a:r>
              <a:rPr sz="900" dirty="0">
                <a:latin typeface="Cascadia Mono"/>
              </a:rPr>
              <a:t>", new Color(230,230,230));</a:t>
            </a:r>
            <a:br>
              <a:rPr dirty="0"/>
            </a:br>
            <a:r>
              <a:rPr sz="900" dirty="0">
                <a:latin typeface="Cascadia Mono"/>
              </a:rPr>
              <a:t>            // 2. ÉP MÀU XANH CHO TOÀN BỘ NÚT BẤM</a:t>
            </a:r>
            <a:br>
              <a:rPr dirty="0"/>
            </a:br>
            <a:r>
              <a:rPr sz="900" dirty="0">
                <a:latin typeface="Cascadia Mono"/>
              </a:rPr>
              <a:t>            Color </a:t>
            </a:r>
            <a:r>
              <a:rPr sz="900" dirty="0" err="1">
                <a:latin typeface="Cascadia Mono"/>
              </a:rPr>
              <a:t>modernBlue</a:t>
            </a:r>
            <a:r>
              <a:rPr sz="900" dirty="0">
                <a:latin typeface="Cascadia Mono"/>
              </a:rPr>
              <a:t> = new Color(21, 124, 219);</a:t>
            </a:r>
            <a:br>
              <a:rPr dirty="0"/>
            </a:br>
            <a:r>
              <a:rPr sz="900" dirty="0">
                <a:latin typeface="Cascadia Mono"/>
              </a:rPr>
              <a:t>            </a:t>
            </a:r>
            <a:r>
              <a:rPr sz="900" dirty="0" err="1">
                <a:latin typeface="Cascadia Mono"/>
              </a:rPr>
              <a:t>UIManager.put</a:t>
            </a:r>
            <a:r>
              <a:rPr sz="900" dirty="0">
                <a:latin typeface="Cascadia Mono"/>
              </a:rPr>
              <a:t>("</a:t>
            </a:r>
            <a:r>
              <a:rPr sz="900" dirty="0" err="1">
                <a:latin typeface="Cascadia Mono"/>
              </a:rPr>
              <a:t>Button.background</a:t>
            </a:r>
            <a:r>
              <a:rPr sz="900" dirty="0">
                <a:latin typeface="Cascadia Mono"/>
              </a:rPr>
              <a:t>", </a:t>
            </a:r>
            <a:r>
              <a:rPr sz="900" dirty="0" err="1">
                <a:latin typeface="Cascadia Mono"/>
              </a:rPr>
              <a:t>modernBlue</a:t>
            </a:r>
            <a:r>
              <a:rPr sz="900" dirty="0">
                <a:latin typeface="Cascadia Mono"/>
              </a:rPr>
              <a:t>);                   </a:t>
            </a:r>
            <a:br>
              <a:rPr dirty="0"/>
            </a:br>
            <a:r>
              <a:rPr sz="900" dirty="0">
                <a:latin typeface="Cascadia Mono"/>
              </a:rPr>
              <a:t>            </a:t>
            </a:r>
            <a:r>
              <a:rPr sz="900" dirty="0" err="1">
                <a:latin typeface="Cascadia Mono"/>
              </a:rPr>
              <a:t>UIManager.put</a:t>
            </a:r>
            <a:r>
              <a:rPr sz="900" dirty="0">
                <a:latin typeface="Cascadia Mono"/>
              </a:rPr>
              <a:t>("</a:t>
            </a:r>
            <a:r>
              <a:rPr sz="900" dirty="0" err="1">
                <a:latin typeface="Cascadia Mono"/>
              </a:rPr>
              <a:t>Button.foreground</a:t>
            </a:r>
            <a:r>
              <a:rPr sz="900" dirty="0">
                <a:latin typeface="Cascadia Mono"/>
              </a:rPr>
              <a:t>", </a:t>
            </a:r>
            <a:r>
              <a:rPr sz="900" dirty="0" err="1">
                <a:latin typeface="Cascadia Mono"/>
              </a:rPr>
              <a:t>Color.WHITE</a:t>
            </a:r>
            <a:r>
              <a:rPr sz="900" dirty="0">
                <a:latin typeface="Cascadia Mono"/>
              </a:rPr>
              <a:t>);                  </a:t>
            </a:r>
            <a:br>
              <a:rPr dirty="0"/>
            </a:br>
            <a:r>
              <a:rPr sz="900" dirty="0">
                <a:latin typeface="Cascadia Mono"/>
              </a:rPr>
              <a:t>                </a:t>
            </a:r>
            <a:r>
              <a:rPr sz="900" dirty="0" err="1">
                <a:latin typeface="Cascadia Mono"/>
              </a:rPr>
              <a:t>trắng</a:t>
            </a:r>
            <a:br>
              <a:rPr dirty="0"/>
            </a:br>
            <a:r>
              <a:rPr sz="900" dirty="0">
                <a:latin typeface="Cascadia Mono"/>
              </a:rPr>
              <a:t>            </a:t>
            </a:r>
            <a:r>
              <a:rPr sz="900" dirty="0" err="1">
                <a:latin typeface="Cascadia Mono"/>
              </a:rPr>
              <a:t>UIManager.put</a:t>
            </a:r>
            <a:r>
              <a:rPr sz="900" dirty="0">
                <a:latin typeface="Cascadia Mono"/>
              </a:rPr>
              <a:t>("</a:t>
            </a:r>
            <a:r>
              <a:rPr sz="900" dirty="0" err="1">
                <a:latin typeface="Cascadia Mono"/>
              </a:rPr>
              <a:t>Button.hoverBackground</a:t>
            </a:r>
            <a:r>
              <a:rPr sz="900" dirty="0">
                <a:latin typeface="Cascadia Mono"/>
              </a:rPr>
              <a:t>", new Color(51, 153, 255));</a:t>
            </a:r>
            <a:br>
              <a:rPr dirty="0"/>
            </a:br>
            <a:r>
              <a:rPr sz="900" dirty="0">
                <a:latin typeface="Cascadia Mono"/>
              </a:rPr>
              <a:t>            // </a:t>
            </a:r>
            <a:r>
              <a:rPr sz="900" dirty="0" err="1">
                <a:latin typeface="Cascadia Mono"/>
              </a:rPr>
              <a:t>Kích</a:t>
            </a:r>
            <a:r>
              <a:rPr sz="900" dirty="0">
                <a:latin typeface="Cascadia Mono"/>
              </a:rPr>
              <a:t> </a:t>
            </a:r>
            <a:r>
              <a:rPr sz="900" dirty="0" err="1">
                <a:latin typeface="Cascadia Mono"/>
              </a:rPr>
              <a:t>hoạt</a:t>
            </a:r>
            <a:r>
              <a:rPr sz="900" dirty="0">
                <a:latin typeface="Cascadia Mono"/>
              </a:rPr>
              <a:t> </a:t>
            </a:r>
            <a:r>
              <a:rPr sz="900" dirty="0" err="1">
                <a:latin typeface="Cascadia Mono"/>
              </a:rPr>
              <a:t>FlatLaf</a:t>
            </a:r>
            <a:br>
              <a:rPr dirty="0"/>
            </a:br>
            <a:r>
              <a:rPr sz="900" dirty="0">
                <a:latin typeface="Cascadia Mono"/>
              </a:rPr>
              <a:t>            </a:t>
            </a:r>
            <a:r>
              <a:rPr sz="900" dirty="0" err="1">
                <a:latin typeface="Cascadia Mono"/>
              </a:rPr>
              <a:t>UIManager.setLookAndFeel</a:t>
            </a:r>
            <a:r>
              <a:rPr sz="900" dirty="0">
                <a:latin typeface="Cascadia Mono"/>
              </a:rPr>
              <a:t>(new </a:t>
            </a:r>
            <a:r>
              <a:rPr sz="900" dirty="0" err="1">
                <a:latin typeface="Cascadia Mono"/>
              </a:rPr>
              <a:t>com.formdev.flatlaf.FlatLightLaf</a:t>
            </a:r>
            <a:r>
              <a:rPr sz="900" dirty="0">
                <a:latin typeface="Cascadia Mono"/>
              </a:rPr>
              <a:t>());</a:t>
            </a:r>
            <a:br>
              <a:rPr dirty="0"/>
            </a:br>
            <a:r>
              <a:rPr sz="900" dirty="0">
                <a:latin typeface="Cascadia Mono"/>
              </a:rPr>
              <a:t>        } catch (Exception ex) {</a:t>
            </a:r>
            <a:br>
              <a:rPr dirty="0"/>
            </a:br>
            <a:r>
              <a:rPr sz="900" dirty="0">
                <a:latin typeface="Cascadia Mono"/>
              </a:rPr>
              <a:t>            </a:t>
            </a:r>
            <a:r>
              <a:rPr sz="900" dirty="0" err="1">
                <a:latin typeface="Cascadia Mono"/>
              </a:rPr>
              <a:t>System.err.println</a:t>
            </a:r>
            <a:r>
              <a:rPr sz="900" dirty="0">
                <a:latin typeface="Cascadia Mono"/>
              </a:rPr>
              <a:t>("</a:t>
            </a:r>
            <a:r>
              <a:rPr sz="900" dirty="0" err="1">
                <a:latin typeface="Cascadia Mono"/>
              </a:rPr>
              <a:t>Không</a:t>
            </a:r>
            <a:r>
              <a:rPr sz="900" dirty="0">
                <a:latin typeface="Cascadia Mono"/>
              </a:rPr>
              <a:t> </a:t>
            </a:r>
            <a:r>
              <a:rPr sz="900" dirty="0" err="1">
                <a:latin typeface="Cascadia Mono"/>
              </a:rPr>
              <a:t>thể</a:t>
            </a:r>
            <a:r>
              <a:rPr sz="900" dirty="0">
                <a:latin typeface="Cascadia Mono"/>
              </a:rPr>
              <a:t> </a:t>
            </a:r>
            <a:r>
              <a:rPr sz="900" dirty="0" err="1">
                <a:latin typeface="Cascadia Mono"/>
              </a:rPr>
              <a:t>khởi</a:t>
            </a:r>
            <a:r>
              <a:rPr sz="900" dirty="0">
                <a:latin typeface="Cascadia Mono"/>
              </a:rPr>
              <a:t> </a:t>
            </a:r>
            <a:r>
              <a:rPr sz="900" dirty="0" err="1">
                <a:latin typeface="Cascadia Mono"/>
              </a:rPr>
              <a:t>tạo</a:t>
            </a:r>
            <a:r>
              <a:rPr sz="900" dirty="0">
                <a:latin typeface="Cascadia Mono"/>
              </a:rPr>
              <a:t> </a:t>
            </a:r>
            <a:r>
              <a:rPr sz="900" dirty="0" err="1">
                <a:latin typeface="Cascadia Mono"/>
              </a:rPr>
              <a:t>FlatLaf</a:t>
            </a:r>
            <a:r>
              <a:rPr sz="900" dirty="0">
                <a:latin typeface="Cascadia Mono"/>
              </a:rPr>
              <a:t>");</a:t>
            </a:r>
            <a:br>
              <a:rPr dirty="0"/>
            </a:br>
            <a:r>
              <a:rPr sz="900" dirty="0">
                <a:latin typeface="Cascadia Mono"/>
              </a:rPr>
              <a:t>        }</a:t>
            </a:r>
            <a:br>
              <a:rPr dirty="0"/>
            </a:br>
            <a:br>
              <a:rPr dirty="0"/>
            </a:br>
            <a:r>
              <a:rPr sz="900" dirty="0">
                <a:latin typeface="Cascadia Mono"/>
              </a:rPr>
              <a:t>        // </a:t>
            </a:r>
            <a:r>
              <a:rPr sz="900" dirty="0" err="1">
                <a:latin typeface="Cascadia Mono"/>
              </a:rPr>
              <a:t>Chạy</a:t>
            </a:r>
            <a:r>
              <a:rPr sz="900" dirty="0">
                <a:latin typeface="Cascadia Mono"/>
              </a:rPr>
              <a:t> </a:t>
            </a:r>
            <a:r>
              <a:rPr sz="900" dirty="0" err="1">
                <a:latin typeface="Cascadia Mono"/>
              </a:rPr>
              <a:t>màn</a:t>
            </a:r>
            <a:r>
              <a:rPr sz="900" dirty="0">
                <a:latin typeface="Cascadia Mono"/>
              </a:rPr>
              <a:t> </a:t>
            </a:r>
            <a:r>
              <a:rPr sz="900" dirty="0" err="1">
                <a:latin typeface="Cascadia Mono"/>
              </a:rPr>
              <a:t>hình</a:t>
            </a:r>
            <a:r>
              <a:rPr sz="900" dirty="0">
                <a:latin typeface="Cascadia Mono"/>
              </a:rPr>
              <a:t> </a:t>
            </a:r>
            <a:r>
              <a:rPr sz="900" dirty="0" err="1">
                <a:latin typeface="Cascadia Mono"/>
              </a:rPr>
              <a:t>đăng</a:t>
            </a:r>
            <a:r>
              <a:rPr sz="900" dirty="0">
                <a:latin typeface="Cascadia Mono"/>
              </a:rPr>
              <a:t> </a:t>
            </a:r>
            <a:r>
              <a:rPr sz="900" dirty="0" err="1">
                <a:latin typeface="Cascadia Mono"/>
              </a:rPr>
              <a:t>nhập</a:t>
            </a:r>
            <a:br>
              <a:rPr dirty="0"/>
            </a:br>
            <a:r>
              <a:rPr sz="900" dirty="0">
                <a:latin typeface="Cascadia Mono"/>
              </a:rPr>
              <a:t>        </a:t>
            </a:r>
            <a:r>
              <a:rPr sz="900" dirty="0" err="1">
                <a:latin typeface="Cascadia Mono"/>
              </a:rPr>
              <a:t>SwingUtilities.invokeLater</a:t>
            </a:r>
            <a:r>
              <a:rPr sz="900" dirty="0">
                <a:latin typeface="Cascadia Mono"/>
              </a:rPr>
              <a:t>(</a:t>
            </a:r>
            <a:r>
              <a:rPr sz="900" dirty="0" err="1">
                <a:latin typeface="Cascadia Mono"/>
              </a:rPr>
              <a:t>frmDangNhapUI</a:t>
            </a:r>
            <a:r>
              <a:rPr sz="900" dirty="0">
                <a:latin typeface="Cascadia Mono"/>
              </a:rPr>
              <a:t>::new);</a:t>
            </a:r>
            <a:br>
              <a:rPr dirty="0"/>
            </a:br>
            <a:r>
              <a:rPr sz="900" dirty="0">
                <a:latin typeface="Cascadia Mono"/>
              </a:rPr>
              <a:t>// ...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D1B2A"/>
                </a:solidFill>
              </a:defRPr>
            </a:pPr>
            <a:r>
              <a:t>Code: Phân quyền người dùng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510528"/>
            <a:ext cx="11064240" cy="13716"/>
          </a:xfrm>
          <a:prstGeom prst="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16161"/>
                </a:solidFill>
              </a:defRPr>
            </a:pPr>
            <a:r>
              <a:t>Báo cáo BTL: Hệ thống Quản lý Sinh viên | Java Swing + MySQL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16161"/>
                </a:solidFill>
              </a:defRPr>
            </a:pPr>
            <a: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05840"/>
            <a:ext cx="10881360" cy="5394960"/>
          </a:xfrm>
          <a:prstGeom prst="roundRect">
            <a:avLst/>
          </a:prstGeom>
          <a:solidFill>
            <a:srgbClr val="1E293B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005840"/>
            <a:ext cx="1088136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1078992"/>
            <a:ext cx="1371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87171"/>
                </a:solidFill>
              </a:defRPr>
            </a:pPr>
            <a: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078992"/>
            <a:ext cx="1371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BBF24"/>
                </a:solidFill>
              </a:defRPr>
            </a:pPr>
            <a: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078992"/>
            <a:ext cx="1371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4D399"/>
                </a:solidFill>
              </a:defRPr>
            </a:pPr>
            <a: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069848"/>
            <a:ext cx="9966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frmQuanLiSinhVienUI.java - phân quyền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1417320"/>
            <a:ext cx="10552176" cy="48920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1120">
                <a:solidFill>
                  <a:srgbClr val="E2E8F0"/>
                </a:solidFill>
                <a:latin typeface="Cascadia Mono"/>
              </a:defRPr>
            </a:pPr>
            <a:r>
              <a:rPr sz="1000">
                <a:latin typeface="Cascadia Mono"/>
              </a:rPr>
              <a:t>private String getTenVaiTro() {</a:t>
            </a:r>
            <a:br>
              <a:rPr sz="1000"/>
            </a:br>
            <a:r>
              <a:rPr sz="1000">
                <a:latin typeface="Cascadia Mono"/>
              </a:rPr>
              <a:t>        return switch (vaiTro) {</a:t>
            </a:r>
            <a:br>
              <a:rPr sz="1000"/>
            </a:br>
            <a:r>
              <a:rPr sz="1000">
                <a:latin typeface="Cascadia Mono"/>
              </a:rPr>
              <a:t>            case "admin"    -&gt; "Quản trị viên";</a:t>
            </a:r>
            <a:br>
              <a:rPr sz="1000"/>
            </a:br>
            <a:r>
              <a:rPr sz="1000">
                <a:latin typeface="Cascadia Mono"/>
              </a:rPr>
              <a:t>            case "giaovien" -&gt; "Giáo viên";</a:t>
            </a:r>
            <a:br>
              <a:rPr sz="1000"/>
            </a:br>
            <a:r>
              <a:rPr sz="1000">
                <a:latin typeface="Cascadia Mono"/>
              </a:rPr>
              <a:t>            case "sinhvien" -&gt; "Sinh viên - Chỉ xem";</a:t>
            </a:r>
            <a:br>
              <a:rPr sz="1000"/>
            </a:br>
            <a:r>
              <a:rPr sz="1000">
                <a:latin typeface="Cascadia Mono"/>
              </a:rPr>
              <a:t>            default         -&gt; vaiTro;</a:t>
            </a:r>
            <a:br>
              <a:rPr sz="1000"/>
            </a:br>
            <a:r>
              <a:rPr sz="1000">
                <a:latin typeface="Cascadia Mono"/>
              </a:rPr>
              <a:t>        };</a:t>
            </a:r>
            <a:br>
              <a:rPr sz="1000"/>
            </a:br>
            <a:r>
              <a:rPr sz="1000">
                <a:latin typeface="Cascadia Mono"/>
              </a:rPr>
              <a:t>    }</a:t>
            </a:r>
            <a:br>
              <a:rPr sz="1000"/>
            </a:br>
            <a:br>
              <a:rPr sz="1000"/>
            </a:br>
            <a:r>
              <a:rPr sz="1000">
                <a:latin typeface="Cascadia Mono"/>
              </a:rPr>
              <a:t>    // 2. Ẩn/Hiện các nút chức năng trên Form theo vai trò</a:t>
            </a:r>
            <a:br>
              <a:rPr sz="1000"/>
            </a:br>
            <a:r>
              <a:rPr sz="1000">
                <a:latin typeface="Cascadia Mono"/>
              </a:rPr>
              <a:t>    private void apDungPhanQuyen() {</a:t>
            </a:r>
            <a:br>
              <a:rPr sz="1000"/>
            </a:br>
            <a:r>
              <a:rPr sz="1000">
                <a:latin typeface="Cascadia Mono"/>
              </a:rPr>
              <a:t>        switch (vaiTro) {</a:t>
            </a:r>
            <a:br>
              <a:rPr sz="1000"/>
            </a:br>
            <a:r>
              <a:rPr sz="1000">
                <a:latin typeface="Cascadia Mono"/>
              </a:rPr>
              <a:t>            case "giaovien" -&gt; {</a:t>
            </a:r>
            <a:br>
              <a:rPr sz="1000"/>
            </a:br>
            <a:r>
              <a:rPr sz="1000">
                <a:latin typeface="Cascadia Mono"/>
              </a:rPr>
              <a:t>                btnXoa.setVisible(false); // Giáo viên được Thêm, Sửa nhưng không được Xóa</a:t>
            </a:r>
            <a:br>
              <a:rPr sz="1000"/>
            </a:br>
            <a:r>
              <a:rPr sz="1000">
                <a:latin typeface="Cascadia Mono"/>
              </a:rPr>
              <a:t>            }</a:t>
            </a:r>
            <a:br>
              <a:rPr sz="1000"/>
            </a:br>
            <a:r>
              <a:rPr sz="1000">
                <a:latin typeface="Cascadia Mono"/>
              </a:rPr>
              <a:t>            case "sinhvien" -&gt; {</a:t>
            </a:r>
            <a:br>
              <a:rPr sz="1000"/>
            </a:br>
            <a:r>
              <a:rPr sz="1000">
                <a:latin typeface="Cascadia Mono"/>
              </a:rPr>
              <a:t>                // Sinh viên bị ẩn hoàn toàn các nút can thiệp dữ liệu</a:t>
            </a:r>
            <a:br>
              <a:rPr sz="1000"/>
            </a:br>
            <a:r>
              <a:rPr sz="1000">
                <a:latin typeface="Cascadia Mono"/>
              </a:rPr>
              <a:t>                btnThem.setVisible(false);</a:t>
            </a:r>
            <a:br>
              <a:rPr sz="1000"/>
            </a:br>
            <a:r>
              <a:rPr sz="1000">
                <a:latin typeface="Cascadia Mono"/>
              </a:rPr>
              <a:t>                btnSua.setVisible(false);</a:t>
            </a:r>
            <a:br>
              <a:rPr sz="1000"/>
            </a:br>
            <a:r>
              <a:rPr sz="1000">
                <a:latin typeface="Cascadia Mono"/>
              </a:rPr>
              <a:t>                btnXoa.setVisible(false);</a:t>
            </a:r>
            <a:br>
              <a:rPr sz="1000"/>
            </a:br>
            <a:r>
              <a:rPr sz="1000">
                <a:latin typeface="Cascadia Mono"/>
              </a:rPr>
              <a:t>                btnLuu.setVisible(false);</a:t>
            </a:r>
            <a:br>
              <a:rPr sz="1000"/>
            </a:br>
            <a:r>
              <a:rPr sz="1000">
                <a:latin typeface="Cascadia Mono"/>
              </a:rPr>
              <a:t>                if (btnThemAnh != null) btnThemAnh.setVisible(false);</a:t>
            </a:r>
            <a:br>
              <a:rPr sz="1000"/>
            </a:br>
            <a:r>
              <a:rPr sz="1000">
                <a:latin typeface="Cascadia Mono"/>
              </a:rPr>
              <a:t>                EnableFields(false); // Khóa các ô nhập liệu</a:t>
            </a:r>
            <a:br>
              <a:rPr sz="1000"/>
            </a:br>
            <a:r>
              <a:rPr sz="1000">
                <a:latin typeface="Cascadia Mono"/>
              </a:rPr>
              <a:t>            }</a:t>
            </a:r>
            <a:br>
              <a:rPr sz="1000"/>
            </a:br>
            <a:r>
              <a:rPr sz="1000">
                <a:latin typeface="Cascadia Mono"/>
              </a:rPr>
              <a:t>        }</a:t>
            </a:r>
            <a:br>
              <a:rPr sz="1000"/>
            </a:br>
            <a:r>
              <a:rPr sz="1000">
                <a:latin typeface="Cascadia Mono"/>
              </a:rPr>
              <a:t>    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D1B2A"/>
                </a:solidFill>
              </a:defRPr>
            </a:pPr>
            <a:r>
              <a:t>Cơ chế phân quyền trong hệ thống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510528"/>
            <a:ext cx="11064240" cy="13716"/>
          </a:xfrm>
          <a:prstGeom prst="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16161"/>
                </a:solidFill>
              </a:defRPr>
            </a:pPr>
            <a:r>
              <a:t>Báo cáo BTL: Hệ thống Quản lý Sinh viên | Java Swing + MySQL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16161"/>
                </a:solidFill>
              </a:defRPr>
            </a:pPr>
            <a: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234440"/>
            <a:ext cx="3291840" cy="3474720"/>
          </a:xfrm>
          <a:prstGeom prst="roundRect">
            <a:avLst/>
          </a:prstGeom>
          <a:solidFill>
            <a:srgbClr val="F5F7FA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2960" y="1234440"/>
            <a:ext cx="73152" cy="347472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344168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1B2A"/>
                </a:solidFill>
              </a:defRPr>
            </a:pPr>
            <a:r>
              <a:t>Admin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1764792"/>
            <a:ext cx="297180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41414"/>
                </a:solidFill>
              </a:defRPr>
            </a:pPr>
            <a:r>
              <a:rPr dirty="0" err="1"/>
              <a:t>Được</a:t>
            </a:r>
            <a:r>
              <a:rPr dirty="0"/>
              <a:t> </a:t>
            </a:r>
            <a:r>
              <a:rPr dirty="0" err="1"/>
              <a:t>thêm</a:t>
            </a:r>
            <a:r>
              <a:rPr dirty="0"/>
              <a:t> </a:t>
            </a:r>
            <a:r>
              <a:rPr dirty="0" err="1"/>
              <a:t>sinh</a:t>
            </a:r>
            <a:r>
              <a:rPr dirty="0"/>
              <a:t> </a:t>
            </a:r>
            <a:r>
              <a:rPr dirty="0" err="1"/>
              <a:t>viên</a:t>
            </a:r>
            <a:r>
              <a:rPr dirty="0"/>
              <a:t>.</a:t>
            </a:r>
          </a:p>
          <a:p>
            <a:pPr>
              <a:defRPr sz="1500">
                <a:solidFill>
                  <a:srgbClr val="141414"/>
                </a:solidFill>
              </a:defRPr>
            </a:pPr>
            <a:r>
              <a:rPr dirty="0" err="1"/>
              <a:t>Được</a:t>
            </a:r>
            <a:r>
              <a:rPr dirty="0"/>
              <a:t> </a:t>
            </a:r>
            <a:r>
              <a:rPr dirty="0" err="1"/>
              <a:t>sửa</a:t>
            </a:r>
            <a:r>
              <a:rPr dirty="0"/>
              <a:t> </a:t>
            </a:r>
            <a:r>
              <a:rPr dirty="0" err="1"/>
              <a:t>sinh</a:t>
            </a:r>
            <a:r>
              <a:rPr dirty="0"/>
              <a:t> </a:t>
            </a:r>
            <a:r>
              <a:rPr dirty="0" err="1"/>
              <a:t>viên</a:t>
            </a:r>
            <a:r>
              <a:rPr dirty="0"/>
              <a:t>.</a:t>
            </a:r>
          </a:p>
          <a:p>
            <a:pPr>
              <a:defRPr sz="1500">
                <a:solidFill>
                  <a:srgbClr val="141414"/>
                </a:solidFill>
              </a:defRPr>
            </a:pPr>
            <a:r>
              <a:rPr dirty="0" err="1"/>
              <a:t>Được</a:t>
            </a:r>
            <a:r>
              <a:rPr dirty="0"/>
              <a:t> </a:t>
            </a:r>
            <a:r>
              <a:rPr dirty="0" err="1"/>
              <a:t>xóa</a:t>
            </a:r>
            <a:r>
              <a:rPr dirty="0"/>
              <a:t> </a:t>
            </a:r>
            <a:r>
              <a:rPr dirty="0" err="1"/>
              <a:t>sinh</a:t>
            </a:r>
            <a:r>
              <a:rPr dirty="0"/>
              <a:t> </a:t>
            </a:r>
            <a:r>
              <a:rPr dirty="0" err="1"/>
              <a:t>viên</a:t>
            </a:r>
            <a:r>
              <a:rPr dirty="0"/>
              <a:t>.</a:t>
            </a:r>
            <a:endParaRPr lang="en-US" dirty="0"/>
          </a:p>
          <a:p>
            <a:pPr>
              <a:defRPr sz="1500">
                <a:solidFill>
                  <a:srgbClr val="141414"/>
                </a:solidFill>
              </a:defRPr>
            </a:pPr>
            <a:r>
              <a:rPr lang="en-US" dirty="0" err="1"/>
              <a:t>Xuất</a:t>
            </a:r>
            <a:r>
              <a:rPr lang="en-US" dirty="0"/>
              <a:t> file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.</a:t>
            </a:r>
            <a:endParaRPr dirty="0"/>
          </a:p>
          <a:p>
            <a:pPr>
              <a:defRPr sz="1500">
                <a:solidFill>
                  <a:srgbClr val="141414"/>
                </a:solidFill>
              </a:defRPr>
            </a:pPr>
            <a:r>
              <a:rPr dirty="0" err="1"/>
              <a:t>Được</a:t>
            </a:r>
            <a:r>
              <a:rPr dirty="0"/>
              <a:t> </a:t>
            </a:r>
            <a:r>
              <a:rPr dirty="0" err="1"/>
              <a:t>tìm</a:t>
            </a:r>
            <a:r>
              <a:rPr dirty="0"/>
              <a:t> </a:t>
            </a:r>
            <a:r>
              <a:rPr dirty="0" err="1"/>
              <a:t>kiếm</a:t>
            </a:r>
            <a:r>
              <a:rPr dirty="0"/>
              <a:t> </a:t>
            </a:r>
            <a:r>
              <a:rPr dirty="0" err="1"/>
              <a:t>và</a:t>
            </a:r>
            <a:r>
              <a:rPr dirty="0"/>
              <a:t> </a:t>
            </a:r>
            <a:r>
              <a:rPr dirty="0" err="1"/>
              <a:t>tải</a:t>
            </a:r>
            <a:r>
              <a:rPr dirty="0"/>
              <a:t> </a:t>
            </a:r>
            <a:r>
              <a:rPr dirty="0" err="1"/>
              <a:t>lại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234440"/>
            <a:ext cx="3291840" cy="3474720"/>
          </a:xfrm>
          <a:prstGeom prst="roundRect">
            <a:avLst/>
          </a:prstGeom>
          <a:solidFill>
            <a:srgbClr val="F5F7FA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34840" y="1234440"/>
            <a:ext cx="73152" cy="3474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9431" y="1344168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1B2A"/>
                </a:solidFill>
              </a:defRPr>
            </a:pPr>
            <a:r>
              <a:t>Giáo viên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1" y="1764792"/>
            <a:ext cx="297180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41414"/>
                </a:solidFill>
              </a:defRPr>
            </a:pPr>
            <a:r>
              <a:rPr dirty="0" err="1"/>
              <a:t>Được</a:t>
            </a:r>
            <a:r>
              <a:rPr dirty="0"/>
              <a:t> </a:t>
            </a:r>
            <a:r>
              <a:rPr dirty="0" err="1"/>
              <a:t>thêm</a:t>
            </a:r>
            <a:r>
              <a:rPr dirty="0"/>
              <a:t> </a:t>
            </a:r>
            <a:r>
              <a:rPr dirty="0" err="1"/>
              <a:t>sinh</a:t>
            </a:r>
            <a:r>
              <a:rPr dirty="0"/>
              <a:t> </a:t>
            </a:r>
            <a:r>
              <a:rPr dirty="0" err="1"/>
              <a:t>viên</a:t>
            </a:r>
            <a:r>
              <a:rPr dirty="0"/>
              <a:t>.</a:t>
            </a:r>
          </a:p>
          <a:p>
            <a:pPr>
              <a:defRPr sz="1500">
                <a:solidFill>
                  <a:srgbClr val="141414"/>
                </a:solidFill>
              </a:defRPr>
            </a:pPr>
            <a:r>
              <a:rPr dirty="0" err="1"/>
              <a:t>Được</a:t>
            </a:r>
            <a:r>
              <a:rPr dirty="0"/>
              <a:t> </a:t>
            </a:r>
            <a:r>
              <a:rPr dirty="0" err="1"/>
              <a:t>sửa</a:t>
            </a:r>
            <a:r>
              <a:rPr dirty="0"/>
              <a:t> </a:t>
            </a:r>
            <a:r>
              <a:rPr dirty="0" err="1"/>
              <a:t>sinh</a:t>
            </a:r>
            <a:r>
              <a:rPr dirty="0"/>
              <a:t> </a:t>
            </a:r>
            <a:r>
              <a:rPr dirty="0" err="1"/>
              <a:t>viên</a:t>
            </a:r>
            <a:r>
              <a:rPr dirty="0"/>
              <a:t>.</a:t>
            </a:r>
            <a:endParaRPr lang="en-US" dirty="0"/>
          </a:p>
          <a:p>
            <a:pPr>
              <a:defRPr sz="1500">
                <a:solidFill>
                  <a:srgbClr val="141414"/>
                </a:solidFill>
              </a:defRPr>
            </a:pPr>
            <a:r>
              <a:rPr lang="en-US" dirty="0" err="1"/>
              <a:t>Xuất</a:t>
            </a:r>
            <a:r>
              <a:rPr lang="en-US" dirty="0"/>
              <a:t> file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.</a:t>
            </a:r>
            <a:endParaRPr dirty="0"/>
          </a:p>
          <a:p>
            <a:pPr>
              <a:defRPr sz="1500">
                <a:solidFill>
                  <a:srgbClr val="141414"/>
                </a:solidFill>
              </a:defRPr>
            </a:pPr>
            <a:r>
              <a:rPr dirty="0" err="1"/>
              <a:t>Không</a:t>
            </a:r>
            <a:r>
              <a:rPr dirty="0"/>
              <a:t> </a:t>
            </a:r>
            <a:r>
              <a:rPr dirty="0" err="1"/>
              <a:t>được</a:t>
            </a:r>
            <a:r>
              <a:rPr dirty="0"/>
              <a:t> </a:t>
            </a:r>
            <a:r>
              <a:rPr dirty="0" err="1"/>
              <a:t>xóa</a:t>
            </a:r>
            <a:r>
              <a:rPr dirty="0"/>
              <a:t> </a:t>
            </a:r>
            <a:r>
              <a:rPr dirty="0" err="1"/>
              <a:t>dữ</a:t>
            </a:r>
            <a:r>
              <a:rPr dirty="0"/>
              <a:t> </a:t>
            </a:r>
            <a:r>
              <a:rPr dirty="0" err="1"/>
              <a:t>liệu</a:t>
            </a:r>
            <a:r>
              <a:rPr dirty="0"/>
              <a:t>.</a:t>
            </a:r>
          </a:p>
          <a:p>
            <a:pPr>
              <a:defRPr sz="1500">
                <a:solidFill>
                  <a:srgbClr val="141414"/>
                </a:solidFill>
              </a:defRPr>
            </a:pPr>
            <a:r>
              <a:rPr dirty="0" err="1"/>
              <a:t>Phù</a:t>
            </a:r>
            <a:r>
              <a:rPr dirty="0"/>
              <a:t> </a:t>
            </a:r>
            <a:r>
              <a:rPr dirty="0" err="1"/>
              <a:t>hợp</a:t>
            </a:r>
            <a:r>
              <a:rPr dirty="0"/>
              <a:t> </a:t>
            </a:r>
            <a:r>
              <a:rPr dirty="0" err="1"/>
              <a:t>vai</a:t>
            </a:r>
            <a:r>
              <a:rPr dirty="0"/>
              <a:t> </a:t>
            </a:r>
            <a:r>
              <a:rPr dirty="0" err="1"/>
              <a:t>trò</a:t>
            </a:r>
            <a:r>
              <a:rPr dirty="0"/>
              <a:t> </a:t>
            </a:r>
            <a:r>
              <a:rPr dirty="0" err="1"/>
              <a:t>quản</a:t>
            </a:r>
            <a:r>
              <a:rPr dirty="0"/>
              <a:t> </a:t>
            </a:r>
            <a:r>
              <a:rPr dirty="0" err="1"/>
              <a:t>lý</a:t>
            </a:r>
            <a:r>
              <a:rPr dirty="0"/>
              <a:t> </a:t>
            </a:r>
            <a:r>
              <a:rPr dirty="0" err="1"/>
              <a:t>lớp</a:t>
            </a:r>
            <a:r>
              <a:rPr dirty="0"/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234440"/>
            <a:ext cx="3291840" cy="3474720"/>
          </a:xfrm>
          <a:prstGeom prst="roundRect">
            <a:avLst/>
          </a:prstGeom>
          <a:solidFill>
            <a:srgbClr val="F5F7FA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234440"/>
            <a:ext cx="73152" cy="347472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11312" y="1344168"/>
            <a:ext cx="2971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1B2A"/>
                </a:solidFill>
              </a:defRPr>
            </a:pPr>
            <a:r>
              <a:t>Sinh viên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2" y="1764792"/>
            <a:ext cx="2971800" cy="2834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141414"/>
                </a:solidFill>
              </a:defRPr>
            </a:pPr>
            <a:r>
              <a:t>Chỉ được xem thông tin.</a:t>
            </a:r>
          </a:p>
          <a:p>
            <a:pPr>
              <a:defRPr sz="1500">
                <a:solidFill>
                  <a:srgbClr val="141414"/>
                </a:solidFill>
              </a:defRPr>
            </a:pPr>
            <a:r>
              <a:t>Ẩn nút thêm, sửa, xóa, lưu.</a:t>
            </a:r>
          </a:p>
          <a:p>
            <a:pPr>
              <a:defRPr sz="1500">
                <a:solidFill>
                  <a:srgbClr val="141414"/>
                </a:solidFill>
              </a:defRPr>
            </a:pPr>
            <a:r>
              <a:t>Khóa form nhập liệu.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D1B2A"/>
                </a:solidFill>
              </a:defRPr>
            </a:pPr>
            <a:r>
              <a:t>Code: Đăng ký sự kiện cho nút bấm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510528"/>
            <a:ext cx="11064240" cy="13716"/>
          </a:xfrm>
          <a:prstGeom prst="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16161"/>
                </a:solidFill>
              </a:defRPr>
            </a:pPr>
            <a:r>
              <a:t>Báo cáo BTL: Hệ thống Quản lý Sinh viên | Java Swing + MySQL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16161"/>
                </a:solidFill>
              </a:defRPr>
            </a:pPr>
            <a: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05840"/>
            <a:ext cx="11064240" cy="5394960"/>
          </a:xfrm>
          <a:prstGeom prst="roundRect">
            <a:avLst/>
          </a:prstGeom>
          <a:solidFill>
            <a:srgbClr val="1E293B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005840"/>
            <a:ext cx="1106424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" y="1078992"/>
            <a:ext cx="1371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87171"/>
                </a:solidFill>
              </a:defRPr>
            </a:pPr>
            <a: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078992"/>
            <a:ext cx="1371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BBF24"/>
                </a:solidFill>
              </a:defRPr>
            </a:pPr>
            <a: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078992"/>
            <a:ext cx="1371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4D399"/>
                </a:solidFill>
              </a:defRPr>
            </a:pPr>
            <a: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069848"/>
            <a:ext cx="10149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frmQuanLiSinhVienUI.java - dangKySuKien()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417320"/>
            <a:ext cx="10735056" cy="48920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1040">
                <a:solidFill>
                  <a:srgbClr val="E2E8F0"/>
                </a:solidFill>
                <a:latin typeface="Cascadia Mono"/>
              </a:defRPr>
            </a:pPr>
            <a:r>
              <a:rPr sz="1000">
                <a:latin typeface="Cascadia Mono"/>
              </a:rPr>
              <a:t>private void dangKySuKien() {</a:t>
            </a:r>
            <a:br>
              <a:rPr sz="1000"/>
            </a:br>
            <a:r>
              <a:rPr sz="1000">
                <a:latin typeface="Cascadia Mono"/>
              </a:rPr>
              <a:t>        if (btnTimKiem != null) {</a:t>
            </a:r>
            <a:br>
              <a:rPr sz="1000"/>
            </a:br>
            <a:r>
              <a:rPr sz="1000">
                <a:latin typeface="Cascadia Mono"/>
              </a:rPr>
              <a:t>            btnTimKiem.addActionListener(e -&gt; {</a:t>
            </a:r>
            <a:br>
              <a:rPr sz="1000"/>
            </a:br>
            <a:r>
              <a:rPr sz="1000">
                <a:latin typeface="Cascadia Mono"/>
              </a:rPr>
              <a:t>                EnableSearch(true); EnableFields(false);</a:t>
            </a:r>
            <a:br>
              <a:rPr sz="1000"/>
            </a:br>
            <a:r>
              <a:rPr sz="1000">
                <a:latin typeface="Cascadia Mono"/>
              </a:rPr>
              <a:t>                setButtonStateForEdit(false);</a:t>
            </a:r>
            <a:br>
              <a:rPr sz="1000"/>
            </a:br>
            <a:r>
              <a:rPr sz="1000">
                <a:latin typeface="Cascadia Mono"/>
              </a:rPr>
              <a:t>            });</a:t>
            </a:r>
            <a:br>
              <a:rPr sz="1000"/>
            </a:br>
            <a:r>
              <a:rPr sz="1000">
                <a:latin typeface="Cascadia Mono"/>
              </a:rPr>
              <a:t>        }</a:t>
            </a:r>
            <a:br>
              <a:rPr sz="1000"/>
            </a:br>
            <a:br>
              <a:rPr sz="1000"/>
            </a:br>
            <a:r>
              <a:rPr sz="1000">
                <a:latin typeface="Cascadia Mono"/>
              </a:rPr>
              <a:t>        btnTimKiemNangCao.addActionListener(e -&gt; TimKiemNangCao());</a:t>
            </a:r>
            <a:br>
              <a:rPr sz="1000"/>
            </a:br>
            <a:br>
              <a:rPr sz="1000"/>
            </a:br>
            <a:r>
              <a:rPr sz="1000">
                <a:latin typeface="Cascadia Mono"/>
              </a:rPr>
              <a:t>        btnXoaBoLoc.addActionListener(e -&gt; {</a:t>
            </a:r>
            <a:br>
              <a:rPr sz="1000"/>
            </a:br>
            <a:r>
              <a:rPr sz="1000">
                <a:latin typeface="Cascadia Mono"/>
              </a:rPr>
              <a:t>            XoaBoLoc();</a:t>
            </a:r>
            <a:br>
              <a:rPr sz="1000"/>
            </a:br>
            <a:r>
              <a:rPr sz="1000">
                <a:latin typeface="Cascadia Mono"/>
              </a:rPr>
              <a:t>            LoadData(buildDefaultQuery(), new Object[]{});</a:t>
            </a:r>
            <a:br>
              <a:rPr sz="1000"/>
            </a:br>
            <a:r>
              <a:rPr sz="1000">
                <a:latin typeface="Cascadia Mono"/>
              </a:rPr>
              <a:t>        });</a:t>
            </a:r>
            <a:br>
              <a:rPr sz="1000"/>
            </a:br>
            <a:br>
              <a:rPr sz="1000"/>
            </a:br>
            <a:r>
              <a:rPr sz="1000">
                <a:latin typeface="Cascadia Mono"/>
              </a:rPr>
              <a:t>        btnThem.addActionListener(e -&gt; {</a:t>
            </a:r>
            <a:br>
              <a:rPr sz="1000"/>
            </a:br>
            <a:r>
              <a:rPr sz="1000">
                <a:latin typeface="Cascadia Mono"/>
              </a:rPr>
              <a:t>            ResetFields(); EnableFields(true); EnableSearch(false);</a:t>
            </a:r>
            <a:br>
              <a:rPr sz="1000"/>
            </a:br>
            <a:r>
              <a:rPr sz="1000">
                <a:latin typeface="Cascadia Mono"/>
              </a:rPr>
              <a:t>            setButtonStateForEdit(true); isInsert = true; isUpdate = false;</a:t>
            </a:r>
            <a:br>
              <a:rPr sz="1000"/>
            </a:br>
            <a:r>
              <a:rPr sz="1000">
                <a:latin typeface="Cascadia Mono"/>
              </a:rPr>
              <a:t>            txtID.requestFocus();</a:t>
            </a:r>
            <a:br>
              <a:rPr sz="1000"/>
            </a:br>
            <a:r>
              <a:rPr sz="1000">
                <a:latin typeface="Cascadia Mono"/>
              </a:rPr>
              <a:t>        });</a:t>
            </a:r>
            <a:br>
              <a:rPr sz="1000"/>
            </a:br>
            <a:br>
              <a:rPr sz="1000"/>
            </a:br>
            <a:r>
              <a:rPr sz="1000">
                <a:latin typeface="Cascadia Mono"/>
              </a:rPr>
              <a:t>        btnSua.addActionListener(e -&gt; {</a:t>
            </a:r>
            <a:br>
              <a:rPr sz="1000"/>
            </a:br>
            <a:r>
              <a:rPr sz="1000">
                <a:latin typeface="Cascadia Mono"/>
              </a:rPr>
              <a:t>            int row = tableSV.getSelectedRow();</a:t>
            </a:r>
            <a:br>
              <a:rPr sz="1000"/>
            </a:br>
            <a:r>
              <a:rPr sz="1000">
                <a:latin typeface="Cascadia Mono"/>
              </a:rPr>
              <a:t>            if (row == -1) {</a:t>
            </a:r>
            <a:br>
              <a:rPr sz="1000"/>
            </a:br>
            <a:r>
              <a:rPr sz="1000">
                <a:latin typeface="Cascadia Mono"/>
              </a:rPr>
              <a:t>                JOptionPane.showMessageDialog(pnlMain, "Vui lòng chọn 1 sinh viên trên bảng để sửa!");</a:t>
            </a:r>
            <a:br>
              <a:rPr sz="1000"/>
            </a:br>
            <a:r>
              <a:rPr sz="1000">
                <a:latin typeface="Cascadia Mono"/>
              </a:rPr>
              <a:t>                    return;</a:t>
            </a:r>
            <a:br>
              <a:rPr sz="1000"/>
            </a:br>
            <a:r>
              <a:rPr sz="1000">
                <a:latin typeface="Cascadia Mono"/>
              </a:rPr>
              <a:t>            }</a:t>
            </a:r>
            <a:br>
              <a:rPr sz="1000"/>
            </a:br>
            <a:r>
              <a:rPr sz="1000">
                <a:latin typeface="Cascadia Mono"/>
              </a:rPr>
              <a:t>            EnableFields(true); EnableSearch(false);</a:t>
            </a:r>
            <a:br>
              <a:rPr sz="1000"/>
            </a:br>
            <a:r>
              <a:rPr sz="1000">
                <a:latin typeface="Cascadia Mono"/>
              </a:rPr>
              <a:t>            txtID.setEnabled(false); // Không cho sửa khóa chính</a:t>
            </a:r>
            <a:br>
              <a:rPr sz="1000"/>
            </a:br>
            <a:r>
              <a:rPr sz="1000">
                <a:latin typeface="Cascadia Mono"/>
              </a:rPr>
              <a:t>            setButtonStateForEdit(true); isInsert = false; isUpdate = true;</a:t>
            </a:r>
            <a:br>
              <a:rPr sz="1000"/>
            </a:br>
            <a:r>
              <a:rPr sz="1000">
                <a:latin typeface="Cascadia Mono"/>
              </a:rPr>
              <a:t>// ...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D1B2A"/>
                </a:solidFill>
              </a:defRPr>
            </a:pPr>
            <a:r>
              <a:t>Code: Tìm kiếm nâng 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510528"/>
            <a:ext cx="11064240" cy="13716"/>
          </a:xfrm>
          <a:prstGeom prst="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16161"/>
                </a:solidFill>
              </a:defRPr>
            </a:pPr>
            <a:r>
              <a:t>Báo cáo BTL: Hệ thống Quản lý Sinh viên | Java Swing + MySQL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16161"/>
                </a:solidFill>
              </a:defRPr>
            </a:pPr>
            <a: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05840"/>
            <a:ext cx="11064240" cy="5394960"/>
          </a:xfrm>
          <a:prstGeom prst="roundRect">
            <a:avLst/>
          </a:prstGeom>
          <a:solidFill>
            <a:srgbClr val="1E293B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005840"/>
            <a:ext cx="1106424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" y="1078992"/>
            <a:ext cx="1371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87171"/>
                </a:solidFill>
              </a:defRPr>
            </a:pPr>
            <a: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078992"/>
            <a:ext cx="1371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BBF24"/>
                </a:solidFill>
              </a:defRPr>
            </a:pPr>
            <a: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078992"/>
            <a:ext cx="1371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4D399"/>
                </a:solidFill>
              </a:defRPr>
            </a:pPr>
            <a: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069848"/>
            <a:ext cx="10149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rPr dirty="0"/>
              <a:t>frmQuanLiSinhVienUI.java - </a:t>
            </a:r>
            <a:r>
              <a:rPr dirty="0" err="1"/>
              <a:t>TimKiemNangCao</a:t>
            </a:r>
            <a:r>
              <a:rPr dirty="0"/>
              <a:t>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417320"/>
            <a:ext cx="10735056" cy="48920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1019">
                <a:solidFill>
                  <a:srgbClr val="E2E8F0"/>
                </a:solidFill>
                <a:latin typeface="Cascadia Mono"/>
              </a:defRPr>
            </a:pPr>
            <a:r>
              <a:rPr sz="1000">
                <a:latin typeface="Cascadia Mono"/>
              </a:rPr>
              <a:t>private void TimKiemNangCao() {</a:t>
            </a:r>
            <a:br>
              <a:rPr sz="1000"/>
            </a:br>
            <a:r>
              <a:rPr sz="1000">
                <a:latin typeface="Cascadia Mono"/>
              </a:rPr>
              <a:t>        StringBuilder sql = new StringBuilder("SELECT * FROM sinhvien WHERE 1=1");</a:t>
            </a:r>
            <a:br>
              <a:rPr sz="1000"/>
            </a:br>
            <a:r>
              <a:rPr sz="1000">
                <a:latin typeface="Cascadia Mono"/>
              </a:rPr>
              <a:t>        java.util.List&lt;Object&gt; params = new java.util.ArrayList&lt;&gt;();</a:t>
            </a:r>
            <a:br>
              <a:rPr sz="1000"/>
            </a:br>
            <a:br>
              <a:rPr sz="1000"/>
            </a:br>
            <a:r>
              <a:rPr sz="1000">
                <a:latin typeface="Cascadia Mono"/>
              </a:rPr>
              <a:t>        // 1. Tìm theo ID</a:t>
            </a:r>
            <a:br>
              <a:rPr sz="1000"/>
            </a:br>
            <a:r>
              <a:rPr sz="1000">
                <a:latin typeface="Cascadia Mono"/>
              </a:rPr>
              <a:t>        if (txtSearchID != null &amp;&amp; !txtSearchID.getText().trim().isEmpty()) {</a:t>
            </a:r>
            <a:br>
              <a:rPr sz="1000"/>
            </a:br>
            <a:r>
              <a:rPr sz="1000">
                <a:latin typeface="Cascadia Mono"/>
              </a:rPr>
              <a:t>            try {</a:t>
            </a:r>
            <a:br>
              <a:rPr sz="1000"/>
            </a:br>
            <a:r>
              <a:rPr sz="1000">
                <a:latin typeface="Cascadia Mono"/>
              </a:rPr>
              <a:t>                sql.append(" AND ID = ?");</a:t>
            </a:r>
            <a:br>
              <a:rPr sz="1000"/>
            </a:br>
            <a:r>
              <a:rPr sz="1000">
                <a:latin typeface="Cascadia Mono"/>
              </a:rPr>
              <a:t>                params.add(Integer.parseInt(txtSearchID.getText().trim()));</a:t>
            </a:r>
            <a:br>
              <a:rPr sz="1000"/>
            </a:br>
            <a:r>
              <a:rPr sz="1000">
                <a:latin typeface="Cascadia Mono"/>
              </a:rPr>
              <a:t>            } catch (NumberFormatException ex) {</a:t>
            </a:r>
            <a:br>
              <a:rPr sz="1000"/>
            </a:br>
            <a:r>
              <a:rPr sz="1000">
                <a:latin typeface="Cascadia Mono"/>
              </a:rPr>
              <a:t>                JOptionPane.showMessageDialog(pnlMain, "Mã sinh viên (ID) phải là số!"); return;</a:t>
            </a:r>
            <a:br>
              <a:rPr sz="1000"/>
            </a:br>
            <a:r>
              <a:rPr sz="1000">
                <a:latin typeface="Cascadia Mono"/>
              </a:rPr>
              <a:t>            }</a:t>
            </a:r>
            <a:br>
              <a:rPr sz="1000"/>
            </a:br>
            <a:r>
              <a:rPr sz="1000">
                <a:latin typeface="Cascadia Mono"/>
              </a:rPr>
              <a:t>        }</a:t>
            </a:r>
            <a:br>
              <a:rPr sz="1000"/>
            </a:br>
            <a:br>
              <a:rPr sz="1000"/>
            </a:br>
            <a:r>
              <a:rPr sz="1000">
                <a:latin typeface="Cascadia Mono"/>
              </a:rPr>
              <a:t>        // 2. Tìm theo Tên</a:t>
            </a:r>
            <a:br>
              <a:rPr sz="1000"/>
            </a:br>
            <a:r>
              <a:rPr sz="1000">
                <a:latin typeface="Cascadia Mono"/>
              </a:rPr>
              <a:t>        String ten = txtSearchTen.getText().trim();</a:t>
            </a:r>
            <a:br>
              <a:rPr sz="1000"/>
            </a:br>
            <a:r>
              <a:rPr sz="1000">
                <a:latin typeface="Cascadia Mono"/>
              </a:rPr>
              <a:t>        if (!ten.isEmpty()) {</a:t>
            </a:r>
            <a:br>
              <a:rPr sz="1000"/>
            </a:br>
            <a:r>
              <a:rPr sz="1000">
                <a:latin typeface="Cascadia Mono"/>
              </a:rPr>
              <a:t>            sql.append(" AND Ten LIKE ?");</a:t>
            </a:r>
            <a:br>
              <a:rPr sz="1000"/>
            </a:br>
            <a:r>
              <a:rPr sz="1000">
                <a:latin typeface="Cascadia Mono"/>
              </a:rPr>
              <a:t>            params.add("%" + ten + "%");</a:t>
            </a:r>
            <a:br>
              <a:rPr sz="1000"/>
            </a:br>
            <a:r>
              <a:rPr sz="1000">
                <a:latin typeface="Cascadia Mono"/>
              </a:rPr>
              <a:t>        }</a:t>
            </a:r>
            <a:br>
              <a:rPr sz="1000"/>
            </a:br>
            <a:br>
              <a:rPr sz="1000"/>
            </a:br>
            <a:r>
              <a:rPr sz="1000">
                <a:latin typeface="Cascadia Mono"/>
              </a:rPr>
              <a:t>        // 3. Tìm theo Giới tính</a:t>
            </a:r>
            <a:br>
              <a:rPr sz="1000"/>
            </a:br>
            <a:r>
              <a:rPr sz="1000">
                <a:latin typeface="Cascadia Mono"/>
              </a:rPr>
              <a:t>        Object selectedGt = cbnSearchGioiTinh.getSelectedItem();</a:t>
            </a:r>
            <a:br>
              <a:rPr sz="1000"/>
            </a:br>
            <a:r>
              <a:rPr sz="1000">
                <a:latin typeface="Cascadia Mono"/>
              </a:rPr>
              <a:t>        String gt = (selectedGt != null) ? selectedGt.toString() : "Tất cả";</a:t>
            </a:r>
            <a:br>
              <a:rPr sz="1000"/>
            </a:br>
            <a:r>
              <a:rPr sz="1000">
                <a:latin typeface="Cascadia Mono"/>
              </a:rPr>
              <a:t>        if (!gt.equals("Tất cả")) {</a:t>
            </a:r>
            <a:br>
              <a:rPr sz="1000"/>
            </a:br>
            <a:r>
              <a:rPr sz="1000">
                <a:latin typeface="Cascadia Mono"/>
              </a:rPr>
              <a:t>            sql.append(" AND GioiTinh = ?");</a:t>
            </a:r>
            <a:br>
              <a:rPr sz="1000"/>
            </a:br>
            <a:r>
              <a:rPr sz="1000">
                <a:latin typeface="Cascadia Mono"/>
              </a:rPr>
              <a:t>            params.add(gt);</a:t>
            </a:r>
            <a:br>
              <a:rPr sz="1000"/>
            </a:br>
            <a:r>
              <a:rPr sz="1000">
                <a:latin typeface="Cascadia Mono"/>
              </a:rPr>
              <a:t>        }</a:t>
            </a:r>
            <a:br>
              <a:rPr sz="1000"/>
            </a:br>
            <a:br>
              <a:rPr sz="1000"/>
            </a:br>
            <a:r>
              <a:rPr sz="1000">
                <a:latin typeface="Cascadia Mono"/>
              </a:rPr>
              <a:t>        // 4. Tìm theo Tuổi</a:t>
            </a:r>
            <a:br>
              <a:rPr sz="1000"/>
            </a:br>
            <a:r>
              <a:rPr sz="1000">
                <a:latin typeface="Cascadia Mono"/>
              </a:rPr>
              <a:t>        String tuoiMinStr = txtTuoiMin.getText().trim();</a:t>
            </a:r>
            <a:br>
              <a:rPr sz="1000"/>
            </a:br>
            <a:r>
              <a:rPr sz="1000">
                <a:latin typeface="Cascadia Mono"/>
              </a:rPr>
              <a:t>// ...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869DD-A50C-C378-FE07-F6A4C666C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00945C-C581-496B-D826-5C08B3C745C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5323F2-4278-3B19-BF0C-457F4A68B76F}"/>
              </a:ext>
            </a:extLst>
          </p:cNvPr>
          <p:cNvSpPr txBox="1"/>
          <p:nvPr/>
        </p:nvSpPr>
        <p:spPr>
          <a:xfrm>
            <a:off x="594360" y="320040"/>
            <a:ext cx="5692392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D1B2A"/>
                </a:solidFill>
              </a:defRPr>
            </a:pPr>
            <a:r>
              <a:rPr lang="en-US" dirty="0"/>
              <a:t>Code</a:t>
            </a:r>
            <a:r>
              <a:rPr dirty="0"/>
              <a:t>:</a:t>
            </a:r>
            <a:r>
              <a:rPr lang="en-US" dirty="0"/>
              <a:t> </a:t>
            </a:r>
            <a:r>
              <a:rPr lang="en-US" dirty="0" err="1"/>
              <a:t>Xuất</a:t>
            </a:r>
            <a:r>
              <a:rPr lang="en-US" dirty="0"/>
              <a:t> file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sinh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 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BAC60A-662F-E9EB-8EBC-A330A9DD3BBF}"/>
              </a:ext>
            </a:extLst>
          </p:cNvPr>
          <p:cNvSpPr/>
          <p:nvPr/>
        </p:nvSpPr>
        <p:spPr>
          <a:xfrm>
            <a:off x="548640" y="6510528"/>
            <a:ext cx="11064240" cy="13716"/>
          </a:xfrm>
          <a:prstGeom prst="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E62D6D-801A-D50C-4C93-1EAC89DD3E20}"/>
              </a:ext>
            </a:extLst>
          </p:cNvPr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16161"/>
                </a:solidFill>
              </a:defRPr>
            </a:pPr>
            <a:r>
              <a:t>Báo cáo BTL: Hệ thống Quản lý Sinh viên | Java Swing + MySQL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4BC7BDB-765B-70A0-763E-A3671A37D5EF}"/>
              </a:ext>
            </a:extLst>
          </p:cNvPr>
          <p:cNvSpPr txBox="1"/>
          <p:nvPr/>
        </p:nvSpPr>
        <p:spPr>
          <a:xfrm>
            <a:off x="11155680" y="6547104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16161"/>
                </a:solidFill>
              </a:defRPr>
            </a:pPr>
            <a:r>
              <a:t>36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022AD0D-3056-3B11-4048-D2289AB0B78B}"/>
              </a:ext>
            </a:extLst>
          </p:cNvPr>
          <p:cNvSpPr/>
          <p:nvPr/>
        </p:nvSpPr>
        <p:spPr>
          <a:xfrm>
            <a:off x="640080" y="1005840"/>
            <a:ext cx="10881360" cy="5394960"/>
          </a:xfrm>
          <a:prstGeom prst="roundRect">
            <a:avLst/>
          </a:prstGeom>
          <a:solidFill>
            <a:srgbClr val="1E293B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B245100-A6C0-6835-38F6-9A60D63DEC8B}"/>
              </a:ext>
            </a:extLst>
          </p:cNvPr>
          <p:cNvSpPr/>
          <p:nvPr/>
        </p:nvSpPr>
        <p:spPr>
          <a:xfrm>
            <a:off x="640080" y="1005840"/>
            <a:ext cx="1088136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B8E2D4-A71E-5ED7-0F25-6771607BAB02}"/>
              </a:ext>
            </a:extLst>
          </p:cNvPr>
          <p:cNvSpPr txBox="1"/>
          <p:nvPr/>
        </p:nvSpPr>
        <p:spPr>
          <a:xfrm>
            <a:off x="768096" y="1078992"/>
            <a:ext cx="1371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87171"/>
                </a:solidFill>
              </a:defRPr>
            </a:pPr>
            <a:r>
              <a:t>●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067778A-80BB-85B7-E7EE-0CFEED3B35BC}"/>
              </a:ext>
            </a:extLst>
          </p:cNvPr>
          <p:cNvSpPr txBox="1"/>
          <p:nvPr/>
        </p:nvSpPr>
        <p:spPr>
          <a:xfrm>
            <a:off x="932688" y="1078992"/>
            <a:ext cx="1371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BBF24"/>
                </a:solidFill>
              </a:defRPr>
            </a:pPr>
            <a:r>
              <a:t>●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B38E1C-50CF-41C6-EA10-634A0039DA81}"/>
              </a:ext>
            </a:extLst>
          </p:cNvPr>
          <p:cNvSpPr txBox="1"/>
          <p:nvPr/>
        </p:nvSpPr>
        <p:spPr>
          <a:xfrm>
            <a:off x="1097280" y="1078992"/>
            <a:ext cx="1371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4D399"/>
                </a:solidFill>
              </a:defRPr>
            </a:pPr>
            <a:r>
              <a:t>●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FDC320-4EB1-687D-7F47-1D715D441D64}"/>
              </a:ext>
            </a:extLst>
          </p:cNvPr>
          <p:cNvSpPr txBox="1"/>
          <p:nvPr/>
        </p:nvSpPr>
        <p:spPr>
          <a:xfrm>
            <a:off x="1325880" y="1069848"/>
            <a:ext cx="195277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rPr lang="en-US" dirty="0"/>
              <a:t>frmQuanLiSinhVienUI.java - </a:t>
            </a:r>
            <a:r>
              <a:rPr lang="en-US" dirty="0" err="1"/>
              <a:t>XuatFIle</a:t>
            </a:r>
            <a:r>
              <a:rPr lang="en-US" dirty="0"/>
              <a:t>()</a:t>
            </a:r>
          </a:p>
          <a:p>
            <a:pPr>
              <a:defRPr sz="900">
                <a:solidFill>
                  <a:srgbClr val="94A3B8"/>
                </a:solidFill>
              </a:defRPr>
            </a:pPr>
            <a:r>
              <a:rPr lang="en-US" dirty="0"/>
              <a:t> </a:t>
            </a:r>
            <a:endParaRPr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1F8C019-7B71-FBF1-2345-EAED2C743021}"/>
              </a:ext>
            </a:extLst>
          </p:cNvPr>
          <p:cNvSpPr txBox="1"/>
          <p:nvPr/>
        </p:nvSpPr>
        <p:spPr>
          <a:xfrm>
            <a:off x="804671" y="1417320"/>
            <a:ext cx="10552176" cy="48920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1060">
                <a:solidFill>
                  <a:srgbClr val="E2E8F0"/>
                </a:solidFill>
                <a:latin typeface="Cascadia Mono"/>
              </a:defRPr>
            </a:pPr>
            <a:r>
              <a:rPr lang="vi-VN" sz="800" dirty="0">
                <a:latin typeface="Cascadia Mono"/>
              </a:rPr>
              <a:t>private void xuatFileCSV() {</a:t>
            </a:r>
          </a:p>
          <a:p>
            <a:pPr>
              <a:defRPr sz="1060">
                <a:solidFill>
                  <a:srgbClr val="E2E8F0"/>
                </a:solidFill>
                <a:latin typeface="Cascadia Mono"/>
              </a:defRPr>
            </a:pPr>
            <a:r>
              <a:rPr lang="vi-VN" sz="800" dirty="0">
                <a:latin typeface="Cascadia Mono"/>
              </a:rPr>
              <a:t>    JFileChooser fileChooser = new JFileChooser();</a:t>
            </a:r>
          </a:p>
          <a:p>
            <a:pPr>
              <a:defRPr sz="1060">
                <a:solidFill>
                  <a:srgbClr val="E2E8F0"/>
                </a:solidFill>
                <a:latin typeface="Cascadia Mono"/>
              </a:defRPr>
            </a:pPr>
            <a:r>
              <a:rPr lang="vi-VN" sz="800" dirty="0">
                <a:latin typeface="Cascadia Mono"/>
              </a:rPr>
              <a:t>    fileChooser.setDialogTitle("Lưu file danh sách sinh viên");</a:t>
            </a:r>
          </a:p>
          <a:p>
            <a:pPr>
              <a:defRPr sz="1060">
                <a:solidFill>
                  <a:srgbClr val="E2E8F0"/>
                </a:solidFill>
                <a:latin typeface="Cascadia Mono"/>
              </a:defRPr>
            </a:pPr>
            <a:r>
              <a:rPr lang="vi-VN" sz="800" dirty="0">
                <a:latin typeface="Cascadia Mono"/>
              </a:rPr>
              <a:t>    fileChooser.setSelectedFile(new java.io.File("DanhSachSV.csv"));</a:t>
            </a:r>
          </a:p>
          <a:p>
            <a:pPr>
              <a:defRPr sz="1060">
                <a:solidFill>
                  <a:srgbClr val="E2E8F0"/>
                </a:solidFill>
                <a:latin typeface="Cascadia Mono"/>
              </a:defRPr>
            </a:pPr>
            <a:endParaRPr lang="vi-VN" sz="800" dirty="0">
              <a:latin typeface="Cascadia Mono"/>
            </a:endParaRPr>
          </a:p>
          <a:p>
            <a:pPr>
              <a:defRPr sz="1060">
                <a:solidFill>
                  <a:srgbClr val="E2E8F0"/>
                </a:solidFill>
                <a:latin typeface="Cascadia Mono"/>
              </a:defRPr>
            </a:pPr>
            <a:r>
              <a:rPr lang="vi-VN" sz="800" dirty="0">
                <a:latin typeface="Cascadia Mono"/>
              </a:rPr>
              <a:t>    if (fileChooser.showSaveDialog(this) == JFileChooser.APPROVE_OPTION) {</a:t>
            </a:r>
          </a:p>
          <a:p>
            <a:pPr>
              <a:defRPr sz="1060">
                <a:solidFill>
                  <a:srgbClr val="E2E8F0"/>
                </a:solidFill>
                <a:latin typeface="Cascadia Mono"/>
              </a:defRPr>
            </a:pPr>
            <a:r>
              <a:rPr lang="vi-VN" sz="800" dirty="0">
                <a:latin typeface="Cascadia Mono"/>
              </a:rPr>
              <a:t>        java.io.File file = fileChooser.getSelectedFile();</a:t>
            </a:r>
          </a:p>
          <a:p>
            <a:pPr>
              <a:defRPr sz="1060">
                <a:solidFill>
                  <a:srgbClr val="E2E8F0"/>
                </a:solidFill>
                <a:latin typeface="Cascadia Mono"/>
              </a:defRPr>
            </a:pPr>
            <a:endParaRPr lang="vi-VN" sz="800" dirty="0">
              <a:latin typeface="Cascadia Mono"/>
            </a:endParaRPr>
          </a:p>
          <a:p>
            <a:pPr>
              <a:defRPr sz="1060">
                <a:solidFill>
                  <a:srgbClr val="E2E8F0"/>
                </a:solidFill>
                <a:latin typeface="Cascadia Mono"/>
              </a:defRPr>
            </a:pPr>
            <a:r>
              <a:rPr lang="vi-VN" sz="800" dirty="0">
                <a:latin typeface="Cascadia Mono"/>
              </a:rPr>
              <a:t>        try (java.io.BufferedWriter bw = new java.io.BufferedWriter(</a:t>
            </a:r>
          </a:p>
          <a:p>
            <a:pPr>
              <a:defRPr sz="1060">
                <a:solidFill>
                  <a:srgbClr val="E2E8F0"/>
                </a:solidFill>
                <a:latin typeface="Cascadia Mono"/>
              </a:defRPr>
            </a:pPr>
            <a:r>
              <a:rPr lang="vi-VN" sz="800" dirty="0">
                <a:latin typeface="Cascadia Mono"/>
              </a:rPr>
              <a:t>                new java.io.OutputStreamWriter(new java.io.FileOutputStream(file), "UTF-8"))) {</a:t>
            </a:r>
          </a:p>
          <a:p>
            <a:pPr>
              <a:defRPr sz="1060">
                <a:solidFill>
                  <a:srgbClr val="E2E8F0"/>
                </a:solidFill>
                <a:latin typeface="Cascadia Mono"/>
              </a:defRPr>
            </a:pPr>
            <a:endParaRPr lang="vi-VN" sz="800" dirty="0">
              <a:latin typeface="Cascadia Mono"/>
            </a:endParaRPr>
          </a:p>
          <a:p>
            <a:pPr>
              <a:defRPr sz="1060">
                <a:solidFill>
                  <a:srgbClr val="E2E8F0"/>
                </a:solidFill>
                <a:latin typeface="Cascadia Mono"/>
              </a:defRPr>
            </a:pPr>
            <a:r>
              <a:rPr lang="vi-VN" sz="800" dirty="0">
                <a:latin typeface="Cascadia Mono"/>
              </a:rPr>
              <a:t>            //Nhận diện đúng tiếng Việt UTF-8</a:t>
            </a:r>
          </a:p>
          <a:p>
            <a:pPr>
              <a:defRPr sz="1060">
                <a:solidFill>
                  <a:srgbClr val="E2E8F0"/>
                </a:solidFill>
                <a:latin typeface="Cascadia Mono"/>
              </a:defRPr>
            </a:pPr>
            <a:r>
              <a:rPr lang="vi-VN" sz="800" dirty="0">
                <a:latin typeface="Cascadia Mono"/>
              </a:rPr>
              <a:t>            bw.write('\ufeff');</a:t>
            </a:r>
          </a:p>
          <a:p>
            <a:pPr>
              <a:defRPr sz="1060">
                <a:solidFill>
                  <a:srgbClr val="E2E8F0"/>
                </a:solidFill>
                <a:latin typeface="Cascadia Mono"/>
              </a:defRPr>
            </a:pPr>
            <a:r>
              <a:rPr lang="vi-VN" sz="800" dirty="0">
                <a:latin typeface="Cascadia Mono"/>
              </a:rPr>
              <a:t>            javax.swing.table.TableModel model = tableSV.getModel();</a:t>
            </a:r>
          </a:p>
          <a:p>
            <a:pPr>
              <a:defRPr sz="1060">
                <a:solidFill>
                  <a:srgbClr val="E2E8F0"/>
                </a:solidFill>
                <a:latin typeface="Cascadia Mono"/>
              </a:defRPr>
            </a:pPr>
            <a:r>
              <a:rPr lang="vi-VN" sz="800" dirty="0">
                <a:latin typeface="Cascadia Mono"/>
              </a:rPr>
              <a:t>            int colCount = model.getColumnCount();</a:t>
            </a:r>
          </a:p>
          <a:p>
            <a:pPr>
              <a:defRPr sz="1060">
                <a:solidFill>
                  <a:srgbClr val="E2E8F0"/>
                </a:solidFill>
                <a:latin typeface="Cascadia Mono"/>
              </a:defRPr>
            </a:pPr>
            <a:endParaRPr lang="vi-VN" sz="800" dirty="0">
              <a:latin typeface="Cascadia Mono"/>
            </a:endParaRPr>
          </a:p>
          <a:p>
            <a:pPr>
              <a:defRPr sz="1060">
                <a:solidFill>
                  <a:srgbClr val="E2E8F0"/>
                </a:solidFill>
                <a:latin typeface="Cascadia Mono"/>
              </a:defRPr>
            </a:pPr>
            <a:r>
              <a:rPr lang="vi-VN" sz="800" dirty="0">
                <a:latin typeface="Cascadia Mono"/>
              </a:rPr>
              <a:t>            // Ghi Header</a:t>
            </a:r>
          </a:p>
          <a:p>
            <a:pPr>
              <a:defRPr sz="1060">
                <a:solidFill>
                  <a:srgbClr val="E2E8F0"/>
                </a:solidFill>
                <a:latin typeface="Cascadia Mono"/>
              </a:defRPr>
            </a:pPr>
            <a:r>
              <a:rPr lang="vi-VN" sz="800" dirty="0">
                <a:latin typeface="Cascadia Mono"/>
              </a:rPr>
              <a:t>            for (int i = 0; i &lt; colCount; i++) {</a:t>
            </a:r>
          </a:p>
          <a:p>
            <a:pPr>
              <a:defRPr sz="1060">
                <a:solidFill>
                  <a:srgbClr val="E2E8F0"/>
                </a:solidFill>
                <a:latin typeface="Cascadia Mono"/>
              </a:defRPr>
            </a:pPr>
            <a:r>
              <a:rPr lang="vi-VN" sz="800" dirty="0">
                <a:latin typeface="Cascadia Mono"/>
              </a:rPr>
              <a:t>                bw.write(model.getColumnName(i));</a:t>
            </a:r>
          </a:p>
          <a:p>
            <a:pPr>
              <a:defRPr sz="1060">
                <a:solidFill>
                  <a:srgbClr val="E2E8F0"/>
                </a:solidFill>
                <a:latin typeface="Cascadia Mono"/>
              </a:defRPr>
            </a:pPr>
            <a:r>
              <a:rPr lang="vi-VN" sz="800" dirty="0">
                <a:latin typeface="Cascadia Mono"/>
              </a:rPr>
              <a:t>                if (i &lt; colCount - 1) bw.write(",");</a:t>
            </a:r>
          </a:p>
          <a:p>
            <a:pPr>
              <a:defRPr sz="1060">
                <a:solidFill>
                  <a:srgbClr val="E2E8F0"/>
                </a:solidFill>
                <a:latin typeface="Cascadia Mono"/>
              </a:defRPr>
            </a:pPr>
            <a:r>
              <a:rPr lang="vi-VN" sz="800" dirty="0">
                <a:latin typeface="Cascadia Mono"/>
              </a:rPr>
              <a:t>            }</a:t>
            </a:r>
          </a:p>
          <a:p>
            <a:pPr>
              <a:defRPr sz="1060">
                <a:solidFill>
                  <a:srgbClr val="E2E8F0"/>
                </a:solidFill>
                <a:latin typeface="Cascadia Mono"/>
              </a:defRPr>
            </a:pPr>
            <a:r>
              <a:rPr lang="vi-VN" sz="800" dirty="0">
                <a:latin typeface="Cascadia Mono"/>
              </a:rPr>
              <a:t>            bw.newLine();</a:t>
            </a:r>
          </a:p>
          <a:p>
            <a:pPr>
              <a:defRPr sz="1060">
                <a:solidFill>
                  <a:srgbClr val="E2E8F0"/>
                </a:solidFill>
                <a:latin typeface="Cascadia Mono"/>
              </a:defRPr>
            </a:pPr>
            <a:r>
              <a:rPr lang="vi-VN" sz="800" dirty="0">
                <a:latin typeface="Cascadia Mono"/>
              </a:rPr>
              <a:t>            // Ghi Data</a:t>
            </a:r>
          </a:p>
          <a:p>
            <a:pPr>
              <a:defRPr sz="1060">
                <a:solidFill>
                  <a:srgbClr val="E2E8F0"/>
                </a:solidFill>
                <a:latin typeface="Cascadia Mono"/>
              </a:defRPr>
            </a:pPr>
            <a:r>
              <a:rPr lang="vi-VN" sz="800" dirty="0">
                <a:latin typeface="Cascadia Mono"/>
              </a:rPr>
              <a:t>            for (int i = 0; i &lt; model.getRowCount(); i++) {</a:t>
            </a:r>
          </a:p>
          <a:p>
            <a:pPr>
              <a:defRPr sz="1060">
                <a:solidFill>
                  <a:srgbClr val="E2E8F0"/>
                </a:solidFill>
                <a:latin typeface="Cascadia Mono"/>
              </a:defRPr>
            </a:pPr>
            <a:r>
              <a:rPr lang="vi-VN" sz="800" dirty="0">
                <a:latin typeface="Cascadia Mono"/>
              </a:rPr>
              <a:t>                for (int j = 0; j &lt; colCount; j++) {</a:t>
            </a:r>
          </a:p>
          <a:p>
            <a:pPr>
              <a:defRPr sz="1060">
                <a:solidFill>
                  <a:srgbClr val="E2E8F0"/>
                </a:solidFill>
                <a:latin typeface="Cascadia Mono"/>
              </a:defRPr>
            </a:pPr>
            <a:r>
              <a:rPr lang="vi-VN" sz="800" dirty="0">
                <a:latin typeface="Cascadia Mono"/>
              </a:rPr>
              <a:t>                    Object val = model.getValueAt(i, j);</a:t>
            </a:r>
          </a:p>
          <a:p>
            <a:pPr>
              <a:defRPr sz="1060">
                <a:solidFill>
                  <a:srgbClr val="E2E8F0"/>
                </a:solidFill>
                <a:latin typeface="Cascadia Mono"/>
              </a:defRPr>
            </a:pPr>
            <a:r>
              <a:rPr lang="vi-VN" sz="800" dirty="0">
                <a:latin typeface="Cascadia Mono"/>
              </a:rPr>
              <a:t>                    String s = (val != null) ? val.toString().replace(",", " ") : ""; // Khử dấu phẩy trong dữ liệu</a:t>
            </a:r>
          </a:p>
          <a:p>
            <a:pPr>
              <a:defRPr sz="1060">
                <a:solidFill>
                  <a:srgbClr val="E2E8F0"/>
                </a:solidFill>
                <a:latin typeface="Cascadia Mono"/>
              </a:defRPr>
            </a:pPr>
            <a:r>
              <a:rPr lang="vi-VN" sz="800" dirty="0">
                <a:latin typeface="Cascadia Mono"/>
              </a:rPr>
              <a:t>                    bw.write(s);</a:t>
            </a:r>
          </a:p>
          <a:p>
            <a:pPr>
              <a:defRPr sz="1060">
                <a:solidFill>
                  <a:srgbClr val="E2E8F0"/>
                </a:solidFill>
                <a:latin typeface="Cascadia Mono"/>
              </a:defRPr>
            </a:pPr>
            <a:r>
              <a:rPr lang="vi-VN" sz="800" dirty="0">
                <a:latin typeface="Cascadia Mono"/>
              </a:rPr>
              <a:t>                    if (j &lt; colCount - 1) bw.write(",");</a:t>
            </a:r>
          </a:p>
          <a:p>
            <a:pPr>
              <a:defRPr sz="1060">
                <a:solidFill>
                  <a:srgbClr val="E2E8F0"/>
                </a:solidFill>
                <a:latin typeface="Cascadia Mono"/>
              </a:defRPr>
            </a:pPr>
            <a:r>
              <a:rPr lang="vi-VN" sz="800" dirty="0">
                <a:latin typeface="Cascadia Mono"/>
              </a:rPr>
              <a:t>                }</a:t>
            </a:r>
          </a:p>
          <a:p>
            <a:pPr>
              <a:defRPr sz="1060">
                <a:solidFill>
                  <a:srgbClr val="E2E8F0"/>
                </a:solidFill>
                <a:latin typeface="Cascadia Mono"/>
              </a:defRPr>
            </a:pPr>
            <a:r>
              <a:rPr lang="vi-VN" sz="800" dirty="0">
                <a:latin typeface="Cascadia Mono"/>
              </a:rPr>
              <a:t>                bw.newLine();</a:t>
            </a:r>
          </a:p>
          <a:p>
            <a:pPr>
              <a:defRPr sz="1060">
                <a:solidFill>
                  <a:srgbClr val="E2E8F0"/>
                </a:solidFill>
                <a:latin typeface="Cascadia Mono"/>
              </a:defRPr>
            </a:pPr>
            <a:r>
              <a:rPr lang="vi-VN" sz="800" dirty="0">
                <a:latin typeface="Cascadia Mono"/>
              </a:rPr>
              <a:t>            }</a:t>
            </a:r>
          </a:p>
          <a:p>
            <a:pPr>
              <a:defRPr sz="1060">
                <a:solidFill>
                  <a:srgbClr val="E2E8F0"/>
                </a:solidFill>
                <a:latin typeface="Cascadia Mono"/>
              </a:defRPr>
            </a:pPr>
            <a:r>
              <a:rPr lang="vi-VN" sz="800" dirty="0">
                <a:latin typeface="Cascadia Mono"/>
              </a:rPr>
              <a:t>            JOptionPane.showMessageDialog(this, "Đã xuất file thành công tại: " + file.getAbsolutePath());</a:t>
            </a:r>
          </a:p>
          <a:p>
            <a:pPr>
              <a:defRPr sz="1060">
                <a:solidFill>
                  <a:srgbClr val="E2E8F0"/>
                </a:solidFill>
                <a:latin typeface="Cascadia Mono"/>
              </a:defRPr>
            </a:pPr>
            <a:r>
              <a:rPr lang="vi-VN" sz="800" dirty="0">
                <a:latin typeface="Cascadia Mono"/>
              </a:rPr>
              <a:t>        } catch (Exception ex) {</a:t>
            </a:r>
          </a:p>
          <a:p>
            <a:pPr>
              <a:defRPr sz="1060">
                <a:solidFill>
                  <a:srgbClr val="E2E8F0"/>
                </a:solidFill>
                <a:latin typeface="Cascadia Mono"/>
              </a:defRPr>
            </a:pPr>
            <a:r>
              <a:rPr lang="vi-VN" sz="800" dirty="0">
                <a:latin typeface="Cascadia Mono"/>
              </a:rPr>
              <a:t>            JOptionPane.showMessageDialog(this, "Lỗi xuất file: " + ex.getMessage());</a:t>
            </a:r>
          </a:p>
          <a:p>
            <a:pPr>
              <a:defRPr sz="1060">
                <a:solidFill>
                  <a:srgbClr val="E2E8F0"/>
                </a:solidFill>
                <a:latin typeface="Cascadia Mono"/>
              </a:defRPr>
            </a:pPr>
            <a:r>
              <a:rPr lang="vi-VN" sz="800" dirty="0">
                <a:latin typeface="Cascadia Mono"/>
              </a:rPr>
              <a:t>        }</a:t>
            </a:r>
          </a:p>
          <a:p>
            <a:pPr>
              <a:defRPr sz="1060">
                <a:solidFill>
                  <a:srgbClr val="E2E8F0"/>
                </a:solidFill>
                <a:latin typeface="Cascadia Mono"/>
              </a:defRPr>
            </a:pPr>
            <a:r>
              <a:rPr lang="vi-VN" sz="800" dirty="0">
                <a:latin typeface="Cascadia Mono"/>
              </a:rPr>
              <a:t>    }</a:t>
            </a:r>
          </a:p>
          <a:p>
            <a:pPr>
              <a:defRPr sz="1060">
                <a:solidFill>
                  <a:srgbClr val="E2E8F0"/>
                </a:solidFill>
                <a:latin typeface="Cascadia Mono"/>
              </a:defRPr>
            </a:pPr>
            <a:r>
              <a:rPr lang="vi-VN" sz="800" dirty="0">
                <a:latin typeface="Cascadia Mono"/>
              </a:rPr>
              <a:t>}</a:t>
            </a:r>
          </a:p>
          <a:p>
            <a:pPr>
              <a:defRPr sz="1060">
                <a:solidFill>
                  <a:srgbClr val="E2E8F0"/>
                </a:solidFill>
                <a:latin typeface="Cascadia Mono"/>
              </a:defRPr>
            </a:pPr>
            <a:endParaRPr sz="800" dirty="0">
              <a:latin typeface="Cascadia Mono"/>
            </a:endParaRPr>
          </a:p>
        </p:txBody>
      </p:sp>
    </p:spTree>
    <p:extLst>
      <p:ext uri="{BB962C8B-B14F-4D97-AF65-F5344CB8AC3E}">
        <p14:creationId xmlns:p14="http://schemas.microsoft.com/office/powerpoint/2010/main" val="13720786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D1B2A"/>
                </a:solidFill>
              </a:defRPr>
            </a:pPr>
            <a:r>
              <a:t>Phân tích chức năng tìm kiếm nâng 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510528"/>
            <a:ext cx="11064240" cy="13716"/>
          </a:xfrm>
          <a:prstGeom prst="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16161"/>
                </a:solidFill>
              </a:defRPr>
            </a:pPr>
            <a:r>
              <a:t>Báo cáo BTL: Hệ thống Quản lý Sinh viên | Java Swing + MySQL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16161"/>
                </a:solidFill>
              </a:defRPr>
            </a:pPr>
            <a: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143000"/>
            <a:ext cx="1060704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defRPr sz="1900">
                <a:solidFill>
                  <a:srgbClr val="141414"/>
                </a:solidFill>
              </a:defRPr>
            </a:pPr>
            <a:r>
              <a:rPr sz="1600">
                <a:latin typeface="Cascadia Mono"/>
              </a:rPr>
              <a:t>Khởi tạo SQL cơ bản: SELECT * FROM sinhvien WHERE 1=1 để dễ nối thêm điều kiện.</a:t>
            </a:r>
          </a:p>
          <a:p>
            <a:pPr>
              <a:buChar char="•"/>
              <a:defRPr sz="1900">
                <a:solidFill>
                  <a:srgbClr val="141414"/>
                </a:solidFill>
              </a:defRPr>
            </a:pPr>
            <a:r>
              <a:rPr sz="1600">
                <a:latin typeface="Cascadia Mono"/>
              </a:rPr>
              <a:t>Mỗi ô tìm kiếm có dữ liệu thì thêm một điều kiện AND tương ứng vào câu SQL.</a:t>
            </a:r>
          </a:p>
          <a:p>
            <a:pPr>
              <a:buChar char="•"/>
              <a:defRPr sz="1900">
                <a:solidFill>
                  <a:srgbClr val="141414"/>
                </a:solidFill>
              </a:defRPr>
            </a:pPr>
            <a:r>
              <a:rPr sz="1600">
                <a:latin typeface="Cascadia Mono"/>
              </a:rPr>
              <a:t>ID, tuổi nhỏ nhất và tuổi lớn nhất được kiểm tra kiểu số để tránh lỗi NumberFormatException.</a:t>
            </a:r>
          </a:p>
          <a:p>
            <a:pPr>
              <a:buChar char="•"/>
              <a:defRPr sz="1900">
                <a:solidFill>
                  <a:srgbClr val="141414"/>
                </a:solidFill>
              </a:defRPr>
            </a:pPr>
            <a:r>
              <a:rPr sz="1600">
                <a:latin typeface="Cascadia Mono"/>
              </a:rPr>
              <a:t>Tên sử dụng LIKE %từ khóa% để tìm gần đúng theo chuỗi.</a:t>
            </a:r>
          </a:p>
          <a:p>
            <a:pPr>
              <a:buChar char="•"/>
              <a:defRPr sz="1900">
                <a:solidFill>
                  <a:srgbClr val="141414"/>
                </a:solidFill>
              </a:defRPr>
            </a:pPr>
            <a:r>
              <a:rPr sz="1600">
                <a:latin typeface="Cascadia Mono"/>
              </a:rPr>
              <a:t>Địa chỉ và số điện thoại được gộp chung: (DiaChi LIKE ? OR CAST(SDT AS CHAR) LIKE ?).</a:t>
            </a:r>
          </a:p>
          <a:p>
            <a:pPr>
              <a:buChar char="•"/>
              <a:defRPr sz="1900">
                <a:solidFill>
                  <a:srgbClr val="141414"/>
                </a:solidFill>
              </a:defRPr>
            </a:pPr>
            <a:r>
              <a:rPr sz="1600">
                <a:latin typeface="Cascadia Mono"/>
              </a:rPr>
              <a:t>params.toArray() truyền danh sách tham số sang LoadData để gán vào PreparedStatement.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D1B2A"/>
                </a:solidFill>
              </a:defRPr>
            </a:pPr>
            <a:r>
              <a:t>Code: Load dữ liệu lên JTable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510528"/>
            <a:ext cx="11064240" cy="13716"/>
          </a:xfrm>
          <a:prstGeom prst="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16161"/>
                </a:solidFill>
              </a:defRPr>
            </a:pPr>
            <a:r>
              <a:t>Báo cáo BTL: Hệ thống Quản lý Sinh viên | Java Swing + MySQL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16161"/>
                </a:solidFill>
              </a:defRPr>
            </a:pPr>
            <a: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05840"/>
            <a:ext cx="11064240" cy="5394960"/>
          </a:xfrm>
          <a:prstGeom prst="roundRect">
            <a:avLst/>
          </a:prstGeom>
          <a:solidFill>
            <a:srgbClr val="1E293B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005840"/>
            <a:ext cx="1106424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" y="1078992"/>
            <a:ext cx="1371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87171"/>
                </a:solidFill>
              </a:defRPr>
            </a:pPr>
            <a: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078992"/>
            <a:ext cx="1371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BBF24"/>
                </a:solidFill>
              </a:defRPr>
            </a:pPr>
            <a: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078992"/>
            <a:ext cx="1371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4D399"/>
                </a:solidFill>
              </a:defRPr>
            </a:pPr>
            <a: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069848"/>
            <a:ext cx="10149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frmQuanLiSinhVienUI.java - LoadData()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1417320"/>
            <a:ext cx="10735056" cy="48920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1019">
                <a:solidFill>
                  <a:srgbClr val="E2E8F0"/>
                </a:solidFill>
                <a:latin typeface="Cascadia Mono"/>
              </a:defRPr>
            </a:pPr>
            <a:r>
              <a:rPr sz="1000" dirty="0">
                <a:latin typeface="Cascadia Mono"/>
              </a:rPr>
              <a:t>private void </a:t>
            </a:r>
            <a:r>
              <a:rPr sz="1000" dirty="0" err="1">
                <a:latin typeface="Cascadia Mono"/>
              </a:rPr>
              <a:t>LoadData</a:t>
            </a:r>
            <a:r>
              <a:rPr sz="1000" dirty="0">
                <a:latin typeface="Cascadia Mono"/>
              </a:rPr>
              <a:t>(String </a:t>
            </a:r>
            <a:r>
              <a:rPr sz="1000" dirty="0" err="1">
                <a:latin typeface="Cascadia Mono"/>
              </a:rPr>
              <a:t>sql</a:t>
            </a:r>
            <a:r>
              <a:rPr sz="1000" dirty="0">
                <a:latin typeface="Cascadia Mono"/>
              </a:rPr>
              <a:t>, Object[] params) {</a:t>
            </a:r>
            <a:br>
              <a:rPr sz="1000" dirty="0"/>
            </a:br>
            <a:r>
              <a:rPr sz="1000" dirty="0">
                <a:latin typeface="Cascadia Mono"/>
              </a:rPr>
              <a:t>        </a:t>
            </a:r>
            <a:r>
              <a:rPr sz="1000" dirty="0" err="1">
                <a:latin typeface="Cascadia Mono"/>
              </a:rPr>
              <a:t>ResetFields</a:t>
            </a:r>
            <a:r>
              <a:rPr sz="1000" dirty="0">
                <a:latin typeface="Cascadia Mono"/>
              </a:rPr>
              <a:t>();</a:t>
            </a:r>
            <a:br>
              <a:rPr sz="1000" dirty="0"/>
            </a:br>
            <a:r>
              <a:rPr sz="1000" dirty="0">
                <a:latin typeface="Cascadia Mono"/>
              </a:rPr>
              <a:t>        </a:t>
            </a:r>
            <a:r>
              <a:rPr sz="1000" dirty="0" err="1">
                <a:latin typeface="Cascadia Mono"/>
              </a:rPr>
              <a:t>applyBaseButtonState</a:t>
            </a:r>
            <a:r>
              <a:rPr sz="1000" dirty="0">
                <a:latin typeface="Cascadia Mono"/>
              </a:rPr>
              <a:t>();</a:t>
            </a:r>
            <a:br>
              <a:rPr sz="1000" dirty="0"/>
            </a:br>
            <a:br>
              <a:rPr sz="1000" dirty="0"/>
            </a:br>
            <a:r>
              <a:rPr sz="1000" dirty="0">
                <a:latin typeface="Cascadia Mono"/>
              </a:rPr>
              <a:t>        try {</a:t>
            </a:r>
            <a:br>
              <a:rPr sz="1000" dirty="0"/>
            </a:br>
            <a:r>
              <a:rPr sz="1000" dirty="0">
                <a:latin typeface="Cascadia Mono"/>
              </a:rPr>
              <a:t>            </a:t>
            </a:r>
            <a:r>
              <a:rPr sz="1000" dirty="0" err="1">
                <a:latin typeface="Cascadia Mono"/>
              </a:rPr>
              <a:t>stmt</a:t>
            </a:r>
            <a:r>
              <a:rPr sz="1000" dirty="0">
                <a:latin typeface="Cascadia Mono"/>
              </a:rPr>
              <a:t> = </a:t>
            </a:r>
            <a:r>
              <a:rPr sz="1000" dirty="0" err="1">
                <a:latin typeface="Cascadia Mono"/>
              </a:rPr>
              <a:t>conn.prepareStatement</a:t>
            </a:r>
            <a:r>
              <a:rPr sz="1000" dirty="0">
                <a:latin typeface="Cascadia Mono"/>
              </a:rPr>
              <a:t>(</a:t>
            </a:r>
            <a:r>
              <a:rPr sz="1000" dirty="0" err="1">
                <a:latin typeface="Cascadia Mono"/>
              </a:rPr>
              <a:t>sql</a:t>
            </a:r>
            <a:r>
              <a:rPr sz="1000" dirty="0">
                <a:latin typeface="Cascadia Mono"/>
              </a:rPr>
              <a:t>);</a:t>
            </a:r>
            <a:br>
              <a:rPr sz="1000" dirty="0"/>
            </a:br>
            <a:r>
              <a:rPr sz="1000" dirty="0">
                <a:latin typeface="Cascadia Mono"/>
              </a:rPr>
              <a:t>            for (int </a:t>
            </a:r>
            <a:r>
              <a:rPr sz="1000" dirty="0" err="1">
                <a:latin typeface="Cascadia Mono"/>
              </a:rPr>
              <a:t>i</a:t>
            </a:r>
            <a:r>
              <a:rPr sz="1000" dirty="0">
                <a:latin typeface="Cascadia Mono"/>
              </a:rPr>
              <a:t> = 0; </a:t>
            </a:r>
            <a:r>
              <a:rPr sz="1000" dirty="0" err="1">
                <a:latin typeface="Cascadia Mono"/>
              </a:rPr>
              <a:t>i</a:t>
            </a:r>
            <a:r>
              <a:rPr sz="1000" dirty="0">
                <a:latin typeface="Cascadia Mono"/>
              </a:rPr>
              <a:t> &lt; </a:t>
            </a:r>
            <a:r>
              <a:rPr sz="1000" dirty="0" err="1">
                <a:latin typeface="Cascadia Mono"/>
              </a:rPr>
              <a:t>params.length</a:t>
            </a:r>
            <a:r>
              <a:rPr sz="1000" dirty="0">
                <a:latin typeface="Cascadia Mono"/>
              </a:rPr>
              <a:t>; </a:t>
            </a:r>
            <a:r>
              <a:rPr sz="1000" dirty="0" err="1">
                <a:latin typeface="Cascadia Mono"/>
              </a:rPr>
              <a:t>i</a:t>
            </a:r>
            <a:r>
              <a:rPr sz="1000" dirty="0">
                <a:latin typeface="Cascadia Mono"/>
              </a:rPr>
              <a:t>++) {</a:t>
            </a:r>
            <a:br>
              <a:rPr sz="1000" dirty="0"/>
            </a:br>
            <a:r>
              <a:rPr sz="1000" dirty="0">
                <a:latin typeface="Cascadia Mono"/>
              </a:rPr>
              <a:t>                </a:t>
            </a:r>
            <a:r>
              <a:rPr sz="1000" dirty="0" err="1">
                <a:latin typeface="Cascadia Mono"/>
              </a:rPr>
              <a:t>stmt.setObject</a:t>
            </a:r>
            <a:r>
              <a:rPr sz="1000" dirty="0">
                <a:latin typeface="Cascadia Mono"/>
              </a:rPr>
              <a:t>(</a:t>
            </a:r>
            <a:r>
              <a:rPr sz="1000" dirty="0" err="1">
                <a:latin typeface="Cascadia Mono"/>
              </a:rPr>
              <a:t>i</a:t>
            </a:r>
            <a:r>
              <a:rPr sz="1000" dirty="0">
                <a:latin typeface="Cascadia Mono"/>
              </a:rPr>
              <a:t> + 1, params[</a:t>
            </a:r>
            <a:r>
              <a:rPr sz="1000" dirty="0" err="1">
                <a:latin typeface="Cascadia Mono"/>
              </a:rPr>
              <a:t>i</a:t>
            </a:r>
            <a:r>
              <a:rPr sz="1000" dirty="0">
                <a:latin typeface="Cascadia Mono"/>
              </a:rPr>
              <a:t>]);</a:t>
            </a:r>
            <a:br>
              <a:rPr sz="1000" dirty="0"/>
            </a:br>
            <a:r>
              <a:rPr sz="1000" dirty="0">
                <a:latin typeface="Cascadia Mono"/>
              </a:rPr>
              <a:t>            }</a:t>
            </a:r>
            <a:br>
              <a:rPr sz="1000" dirty="0"/>
            </a:br>
            <a:r>
              <a:rPr sz="1000" dirty="0">
                <a:latin typeface="Cascadia Mono"/>
              </a:rPr>
              <a:t>            </a:t>
            </a:r>
            <a:r>
              <a:rPr sz="1000" dirty="0" err="1">
                <a:latin typeface="Cascadia Mono"/>
              </a:rPr>
              <a:t>rs</a:t>
            </a:r>
            <a:r>
              <a:rPr sz="1000" dirty="0">
                <a:latin typeface="Cascadia Mono"/>
              </a:rPr>
              <a:t> = </a:t>
            </a:r>
            <a:r>
              <a:rPr sz="1000" dirty="0" err="1">
                <a:latin typeface="Cascadia Mono"/>
              </a:rPr>
              <a:t>stmt.executeQuery</a:t>
            </a:r>
            <a:r>
              <a:rPr sz="1000" dirty="0">
                <a:latin typeface="Cascadia Mono"/>
              </a:rPr>
              <a:t>();</a:t>
            </a:r>
            <a:br>
              <a:rPr sz="1000" dirty="0"/>
            </a:br>
            <a:br>
              <a:rPr sz="1000" dirty="0"/>
            </a:br>
            <a:r>
              <a:rPr sz="1000" dirty="0">
                <a:latin typeface="Cascadia Mono"/>
              </a:rPr>
              <a:t>            Vector&lt;String&gt; columns = new Vector&lt;&gt;();</a:t>
            </a:r>
            <a:br>
              <a:rPr sz="1000" dirty="0"/>
            </a:br>
            <a:r>
              <a:rPr sz="1000" dirty="0">
                <a:latin typeface="Cascadia Mono"/>
              </a:rPr>
              <a:t>            </a:t>
            </a:r>
            <a:r>
              <a:rPr sz="1000" dirty="0" err="1">
                <a:latin typeface="Cascadia Mono"/>
              </a:rPr>
              <a:t>columns.add</a:t>
            </a:r>
            <a:r>
              <a:rPr sz="1000" dirty="0">
                <a:latin typeface="Cascadia Mono"/>
              </a:rPr>
              <a:t>("</a:t>
            </a:r>
            <a:r>
              <a:rPr sz="1000" dirty="0" err="1">
                <a:latin typeface="Cascadia Mono"/>
              </a:rPr>
              <a:t>Mã</a:t>
            </a:r>
            <a:r>
              <a:rPr sz="1000" dirty="0">
                <a:latin typeface="Cascadia Mono"/>
              </a:rPr>
              <a:t> SV"); </a:t>
            </a:r>
            <a:r>
              <a:rPr sz="1000" dirty="0" err="1">
                <a:latin typeface="Cascadia Mono"/>
              </a:rPr>
              <a:t>columns.add</a:t>
            </a:r>
            <a:r>
              <a:rPr sz="1000" dirty="0">
                <a:latin typeface="Cascadia Mono"/>
              </a:rPr>
              <a:t>("</a:t>
            </a:r>
            <a:r>
              <a:rPr sz="1000" dirty="0" err="1">
                <a:latin typeface="Cascadia Mono"/>
              </a:rPr>
              <a:t>Họ</a:t>
            </a:r>
            <a:r>
              <a:rPr sz="1000" dirty="0">
                <a:latin typeface="Cascadia Mono"/>
              </a:rPr>
              <a:t> </a:t>
            </a:r>
            <a:r>
              <a:rPr sz="1000" dirty="0" err="1">
                <a:latin typeface="Cascadia Mono"/>
              </a:rPr>
              <a:t>Tên</a:t>
            </a:r>
            <a:r>
              <a:rPr sz="1000" dirty="0">
                <a:latin typeface="Cascadia Mono"/>
              </a:rPr>
              <a:t>"); </a:t>
            </a:r>
            <a:r>
              <a:rPr sz="1000" dirty="0" err="1">
                <a:latin typeface="Cascadia Mono"/>
              </a:rPr>
              <a:t>columns.add</a:t>
            </a:r>
            <a:r>
              <a:rPr sz="1000" dirty="0">
                <a:latin typeface="Cascadia Mono"/>
              </a:rPr>
              <a:t>("</a:t>
            </a:r>
            <a:r>
              <a:rPr sz="1000" dirty="0" err="1">
                <a:latin typeface="Cascadia Mono"/>
              </a:rPr>
              <a:t>Tuổi</a:t>
            </a:r>
            <a:r>
              <a:rPr sz="1000" dirty="0">
                <a:latin typeface="Cascadia Mono"/>
              </a:rPr>
              <a:t>");</a:t>
            </a:r>
            <a:br>
              <a:rPr sz="1000" dirty="0"/>
            </a:br>
            <a:r>
              <a:rPr sz="1000" dirty="0">
                <a:latin typeface="Cascadia Mono"/>
              </a:rPr>
              <a:t>            </a:t>
            </a:r>
            <a:r>
              <a:rPr sz="1000" dirty="0" err="1">
                <a:latin typeface="Cascadia Mono"/>
              </a:rPr>
              <a:t>columns.add</a:t>
            </a:r>
            <a:r>
              <a:rPr sz="1000" dirty="0">
                <a:latin typeface="Cascadia Mono"/>
              </a:rPr>
              <a:t>("</a:t>
            </a:r>
            <a:r>
              <a:rPr sz="1000" dirty="0" err="1">
                <a:latin typeface="Cascadia Mono"/>
              </a:rPr>
              <a:t>Giới</a:t>
            </a:r>
            <a:r>
              <a:rPr sz="1000" dirty="0">
                <a:latin typeface="Cascadia Mono"/>
              </a:rPr>
              <a:t> </a:t>
            </a:r>
            <a:r>
              <a:rPr sz="1000" dirty="0" err="1">
                <a:latin typeface="Cascadia Mono"/>
              </a:rPr>
              <a:t>tính</a:t>
            </a:r>
            <a:r>
              <a:rPr sz="1000" dirty="0">
                <a:latin typeface="Cascadia Mono"/>
              </a:rPr>
              <a:t>"); </a:t>
            </a:r>
            <a:r>
              <a:rPr sz="1000" dirty="0" err="1">
                <a:latin typeface="Cascadia Mono"/>
              </a:rPr>
              <a:t>columns.add</a:t>
            </a:r>
            <a:r>
              <a:rPr sz="1000" dirty="0">
                <a:latin typeface="Cascadia Mono"/>
              </a:rPr>
              <a:t>("SĐT"); </a:t>
            </a:r>
            <a:r>
              <a:rPr sz="1000" dirty="0" err="1">
                <a:latin typeface="Cascadia Mono"/>
              </a:rPr>
              <a:t>columns.add</a:t>
            </a:r>
            <a:r>
              <a:rPr sz="1000" dirty="0">
                <a:latin typeface="Cascadia Mono"/>
              </a:rPr>
              <a:t>("</a:t>
            </a:r>
            <a:r>
              <a:rPr sz="1000" dirty="0" err="1">
                <a:latin typeface="Cascadia Mono"/>
              </a:rPr>
              <a:t>Địa</a:t>
            </a:r>
            <a:r>
              <a:rPr sz="1000" dirty="0">
                <a:latin typeface="Cascadia Mono"/>
              </a:rPr>
              <a:t> </a:t>
            </a:r>
            <a:r>
              <a:rPr sz="1000" dirty="0" err="1">
                <a:latin typeface="Cascadia Mono"/>
              </a:rPr>
              <a:t>Chỉ</a:t>
            </a:r>
            <a:r>
              <a:rPr sz="1000" dirty="0">
                <a:latin typeface="Cascadia Mono"/>
              </a:rPr>
              <a:t>");</a:t>
            </a:r>
            <a:br>
              <a:rPr sz="1000" dirty="0"/>
            </a:br>
            <a:br>
              <a:rPr sz="1000" dirty="0"/>
            </a:br>
            <a:r>
              <a:rPr sz="1000" dirty="0">
                <a:latin typeface="Cascadia Mono"/>
              </a:rPr>
              <a:t>            Vector&lt;Vector&lt;Object&gt;&gt; data = new Vector&lt;&gt;();</a:t>
            </a:r>
            <a:br>
              <a:rPr sz="1000" dirty="0"/>
            </a:br>
            <a:r>
              <a:rPr sz="1000" dirty="0">
                <a:latin typeface="Cascadia Mono"/>
              </a:rPr>
              <a:t>            while (</a:t>
            </a:r>
            <a:r>
              <a:rPr sz="1000" dirty="0" err="1">
                <a:latin typeface="Cascadia Mono"/>
              </a:rPr>
              <a:t>rs.next</a:t>
            </a:r>
            <a:r>
              <a:rPr sz="1000" dirty="0">
                <a:latin typeface="Cascadia Mono"/>
              </a:rPr>
              <a:t>()) {</a:t>
            </a:r>
            <a:br>
              <a:rPr sz="1000" dirty="0"/>
            </a:br>
            <a:r>
              <a:rPr sz="1000" dirty="0">
                <a:latin typeface="Cascadia Mono"/>
              </a:rPr>
              <a:t>                Vector&lt;Object&gt; row = new Vector&lt;&gt;();</a:t>
            </a:r>
            <a:br>
              <a:rPr sz="1000" dirty="0"/>
            </a:br>
            <a:r>
              <a:rPr sz="1000" dirty="0">
                <a:latin typeface="Cascadia Mono"/>
              </a:rPr>
              <a:t>                </a:t>
            </a:r>
            <a:r>
              <a:rPr sz="1000" dirty="0" err="1">
                <a:latin typeface="Cascadia Mono"/>
              </a:rPr>
              <a:t>row.add</a:t>
            </a:r>
            <a:r>
              <a:rPr sz="1000" dirty="0">
                <a:latin typeface="Cascadia Mono"/>
              </a:rPr>
              <a:t>(</a:t>
            </a:r>
            <a:r>
              <a:rPr sz="1000" dirty="0" err="1">
                <a:latin typeface="Cascadia Mono"/>
              </a:rPr>
              <a:t>rs.getInt</a:t>
            </a:r>
            <a:r>
              <a:rPr sz="1000" dirty="0">
                <a:latin typeface="Cascadia Mono"/>
              </a:rPr>
              <a:t>("ID"));</a:t>
            </a:r>
            <a:br>
              <a:rPr sz="1000" dirty="0"/>
            </a:br>
            <a:r>
              <a:rPr sz="1000" dirty="0">
                <a:latin typeface="Cascadia Mono"/>
              </a:rPr>
              <a:t>                </a:t>
            </a:r>
            <a:r>
              <a:rPr sz="1000" dirty="0" err="1">
                <a:latin typeface="Cascadia Mono"/>
              </a:rPr>
              <a:t>row.add</a:t>
            </a:r>
            <a:r>
              <a:rPr sz="1000" dirty="0">
                <a:latin typeface="Cascadia Mono"/>
              </a:rPr>
              <a:t>(</a:t>
            </a:r>
            <a:r>
              <a:rPr sz="1000" dirty="0" err="1">
                <a:latin typeface="Cascadia Mono"/>
              </a:rPr>
              <a:t>rs.getString</a:t>
            </a:r>
            <a:r>
              <a:rPr sz="1000" dirty="0">
                <a:latin typeface="Cascadia Mono"/>
              </a:rPr>
              <a:t>("Ten"));</a:t>
            </a:r>
            <a:br>
              <a:rPr sz="1000" dirty="0"/>
            </a:br>
            <a:r>
              <a:rPr sz="1000" dirty="0">
                <a:latin typeface="Cascadia Mono"/>
              </a:rPr>
              <a:t>                </a:t>
            </a:r>
            <a:r>
              <a:rPr sz="1000" dirty="0" err="1">
                <a:latin typeface="Cascadia Mono"/>
              </a:rPr>
              <a:t>row.add</a:t>
            </a:r>
            <a:r>
              <a:rPr sz="1000" dirty="0">
                <a:latin typeface="Cascadia Mono"/>
              </a:rPr>
              <a:t>(</a:t>
            </a:r>
            <a:r>
              <a:rPr sz="1000" dirty="0" err="1">
                <a:latin typeface="Cascadia Mono"/>
              </a:rPr>
              <a:t>rs.getInt</a:t>
            </a:r>
            <a:r>
              <a:rPr sz="1000" dirty="0">
                <a:latin typeface="Cascadia Mono"/>
              </a:rPr>
              <a:t>("Tuoi"));</a:t>
            </a:r>
            <a:br>
              <a:rPr sz="1000" dirty="0"/>
            </a:br>
            <a:r>
              <a:rPr sz="1000" dirty="0">
                <a:latin typeface="Cascadia Mono"/>
              </a:rPr>
              <a:t>                </a:t>
            </a:r>
            <a:r>
              <a:rPr sz="1000" dirty="0" err="1">
                <a:latin typeface="Cascadia Mono"/>
              </a:rPr>
              <a:t>row.add</a:t>
            </a:r>
            <a:r>
              <a:rPr sz="1000" dirty="0">
                <a:latin typeface="Cascadia Mono"/>
              </a:rPr>
              <a:t>(</a:t>
            </a:r>
            <a:r>
              <a:rPr sz="1000" dirty="0" err="1">
                <a:latin typeface="Cascadia Mono"/>
              </a:rPr>
              <a:t>rs.getString</a:t>
            </a:r>
            <a:r>
              <a:rPr sz="1000" dirty="0">
                <a:latin typeface="Cascadia Mono"/>
              </a:rPr>
              <a:t>("</a:t>
            </a:r>
            <a:r>
              <a:rPr sz="1000" dirty="0" err="1">
                <a:latin typeface="Cascadia Mono"/>
              </a:rPr>
              <a:t>GioiTinh</a:t>
            </a:r>
            <a:r>
              <a:rPr sz="1000" dirty="0">
                <a:latin typeface="Cascadia Mono"/>
              </a:rPr>
              <a:t>"));</a:t>
            </a:r>
            <a:br>
              <a:rPr sz="1000" dirty="0"/>
            </a:br>
            <a:br>
              <a:rPr sz="1000" dirty="0"/>
            </a:br>
            <a:r>
              <a:rPr sz="1000" dirty="0">
                <a:latin typeface="Cascadia Mono"/>
              </a:rPr>
              <a:t>                // </a:t>
            </a:r>
            <a:r>
              <a:rPr sz="1000" dirty="0" err="1">
                <a:latin typeface="Cascadia Mono"/>
              </a:rPr>
              <a:t>Sửa</a:t>
            </a:r>
            <a:r>
              <a:rPr sz="1000" dirty="0">
                <a:latin typeface="Cascadia Mono"/>
              </a:rPr>
              <a:t> </a:t>
            </a:r>
            <a:r>
              <a:rPr sz="1000" dirty="0" err="1">
                <a:latin typeface="Cascadia Mono"/>
              </a:rPr>
              <a:t>lỗi</a:t>
            </a:r>
            <a:r>
              <a:rPr sz="1000" dirty="0">
                <a:latin typeface="Cascadia Mono"/>
              </a:rPr>
              <a:t> </a:t>
            </a:r>
            <a:r>
              <a:rPr sz="1000" dirty="0" err="1">
                <a:latin typeface="Cascadia Mono"/>
              </a:rPr>
              <a:t>hiển</a:t>
            </a:r>
            <a:r>
              <a:rPr sz="1000" dirty="0">
                <a:latin typeface="Cascadia Mono"/>
              </a:rPr>
              <a:t> </a:t>
            </a:r>
            <a:r>
              <a:rPr sz="1000" dirty="0" err="1">
                <a:latin typeface="Cascadia Mono"/>
              </a:rPr>
              <a:t>thị</a:t>
            </a:r>
            <a:r>
              <a:rPr sz="1000" dirty="0">
                <a:latin typeface="Cascadia Mono"/>
              </a:rPr>
              <a:t> </a:t>
            </a:r>
            <a:r>
              <a:rPr sz="1000" dirty="0" err="1">
                <a:latin typeface="Cascadia Mono"/>
              </a:rPr>
              <a:t>mất</a:t>
            </a:r>
            <a:r>
              <a:rPr sz="1000" dirty="0">
                <a:latin typeface="Cascadia Mono"/>
              </a:rPr>
              <a:t> </a:t>
            </a:r>
            <a:r>
              <a:rPr sz="1000" dirty="0" err="1">
                <a:latin typeface="Cascadia Mono"/>
              </a:rPr>
              <a:t>số</a:t>
            </a:r>
            <a:r>
              <a:rPr sz="1000" dirty="0">
                <a:latin typeface="Cascadia Mono"/>
              </a:rPr>
              <a:t> 0 ở SĐT</a:t>
            </a:r>
            <a:br>
              <a:rPr sz="1000" dirty="0"/>
            </a:br>
            <a:r>
              <a:rPr sz="1000" dirty="0">
                <a:latin typeface="Cascadia Mono"/>
              </a:rPr>
              <a:t>                String </a:t>
            </a:r>
            <a:r>
              <a:rPr sz="1000" dirty="0" err="1">
                <a:latin typeface="Cascadia Mono"/>
              </a:rPr>
              <a:t>sdt</a:t>
            </a:r>
            <a:r>
              <a:rPr sz="1000" dirty="0">
                <a:latin typeface="Cascadia Mono"/>
              </a:rPr>
              <a:t> = </a:t>
            </a:r>
            <a:r>
              <a:rPr sz="1000" dirty="0" err="1">
                <a:latin typeface="Cascadia Mono"/>
              </a:rPr>
              <a:t>rs.getString</a:t>
            </a:r>
            <a:r>
              <a:rPr sz="1000" dirty="0">
                <a:latin typeface="Cascadia Mono"/>
              </a:rPr>
              <a:t>("SDT");</a:t>
            </a:r>
            <a:br>
              <a:rPr sz="1000" dirty="0"/>
            </a:br>
            <a:r>
              <a:rPr sz="1000" dirty="0">
                <a:latin typeface="Cascadia Mono"/>
              </a:rPr>
              <a:t>                if (</a:t>
            </a:r>
            <a:r>
              <a:rPr sz="1000" dirty="0" err="1">
                <a:latin typeface="Cascadia Mono"/>
              </a:rPr>
              <a:t>sdt</a:t>
            </a:r>
            <a:r>
              <a:rPr sz="1000" dirty="0">
                <a:latin typeface="Cascadia Mono"/>
              </a:rPr>
              <a:t> != null &amp;&amp; !</a:t>
            </a:r>
            <a:r>
              <a:rPr sz="1000" dirty="0" err="1">
                <a:latin typeface="Cascadia Mono"/>
              </a:rPr>
              <a:t>sdt.startsWith</a:t>
            </a:r>
            <a:r>
              <a:rPr sz="1000" dirty="0">
                <a:latin typeface="Cascadia Mono"/>
              </a:rPr>
              <a:t>("0")) {</a:t>
            </a:r>
            <a:br>
              <a:rPr sz="1000" dirty="0"/>
            </a:br>
            <a:r>
              <a:rPr sz="1000" dirty="0">
                <a:latin typeface="Cascadia Mono"/>
              </a:rPr>
              <a:t>                    </a:t>
            </a:r>
            <a:r>
              <a:rPr sz="1000" dirty="0" err="1">
                <a:latin typeface="Cascadia Mono"/>
              </a:rPr>
              <a:t>sdt</a:t>
            </a:r>
            <a:r>
              <a:rPr sz="1000" dirty="0">
                <a:latin typeface="Cascadia Mono"/>
              </a:rPr>
              <a:t> = "0" + </a:t>
            </a:r>
            <a:r>
              <a:rPr sz="1000" dirty="0" err="1">
                <a:latin typeface="Cascadia Mono"/>
              </a:rPr>
              <a:t>sdt</a:t>
            </a:r>
            <a:r>
              <a:rPr sz="1000" dirty="0">
                <a:latin typeface="Cascadia Mono"/>
              </a:rPr>
              <a:t>; // </a:t>
            </a:r>
            <a:r>
              <a:rPr sz="1000" dirty="0" err="1">
                <a:latin typeface="Cascadia Mono"/>
              </a:rPr>
              <a:t>Tự</a:t>
            </a:r>
            <a:r>
              <a:rPr sz="1000" dirty="0">
                <a:latin typeface="Cascadia Mono"/>
              </a:rPr>
              <a:t> </a:t>
            </a:r>
            <a:r>
              <a:rPr sz="1000" dirty="0" err="1">
                <a:latin typeface="Cascadia Mono"/>
              </a:rPr>
              <a:t>động</a:t>
            </a:r>
            <a:r>
              <a:rPr sz="1000" dirty="0">
                <a:latin typeface="Cascadia Mono"/>
              </a:rPr>
              <a:t> </a:t>
            </a:r>
            <a:r>
              <a:rPr sz="1000" dirty="0" err="1">
                <a:latin typeface="Cascadia Mono"/>
              </a:rPr>
              <a:t>chèn</a:t>
            </a:r>
            <a:r>
              <a:rPr sz="1000" dirty="0">
                <a:latin typeface="Cascadia Mono"/>
              </a:rPr>
              <a:t> </a:t>
            </a:r>
            <a:r>
              <a:rPr sz="1000" dirty="0" err="1">
                <a:latin typeface="Cascadia Mono"/>
              </a:rPr>
              <a:t>số</a:t>
            </a:r>
            <a:r>
              <a:rPr sz="1000" dirty="0">
                <a:latin typeface="Cascadia Mono"/>
              </a:rPr>
              <a:t> 0 </a:t>
            </a:r>
            <a:r>
              <a:rPr sz="1000" dirty="0" err="1">
                <a:latin typeface="Cascadia Mono"/>
              </a:rPr>
              <a:t>nếu</a:t>
            </a:r>
            <a:r>
              <a:rPr sz="1000" dirty="0">
                <a:latin typeface="Cascadia Mono"/>
              </a:rPr>
              <a:t> DB </a:t>
            </a:r>
            <a:r>
              <a:rPr sz="1000" dirty="0" err="1">
                <a:latin typeface="Cascadia Mono"/>
              </a:rPr>
              <a:t>đang</a:t>
            </a:r>
            <a:r>
              <a:rPr sz="1000" dirty="0">
                <a:latin typeface="Cascadia Mono"/>
              </a:rPr>
              <a:t> </a:t>
            </a:r>
            <a:r>
              <a:rPr sz="1000" dirty="0" err="1">
                <a:latin typeface="Cascadia Mono"/>
              </a:rPr>
              <a:t>lưu</a:t>
            </a:r>
            <a:r>
              <a:rPr sz="1000" dirty="0">
                <a:latin typeface="Cascadia Mono"/>
              </a:rPr>
              <a:t> </a:t>
            </a:r>
            <a:r>
              <a:rPr sz="1000" dirty="0" err="1">
                <a:latin typeface="Cascadia Mono"/>
              </a:rPr>
              <a:t>kiểu</a:t>
            </a:r>
            <a:r>
              <a:rPr sz="1000" dirty="0">
                <a:latin typeface="Cascadia Mono"/>
              </a:rPr>
              <a:t> </a:t>
            </a:r>
            <a:r>
              <a:rPr sz="1000" dirty="0" err="1">
                <a:latin typeface="Cascadia Mono"/>
              </a:rPr>
              <a:t>số</a:t>
            </a:r>
            <a:r>
              <a:rPr sz="1000" dirty="0">
                <a:latin typeface="Cascadia Mono"/>
              </a:rPr>
              <a:t> </a:t>
            </a:r>
            <a:r>
              <a:rPr sz="1000" dirty="0" err="1">
                <a:latin typeface="Cascadia Mono"/>
              </a:rPr>
              <a:t>nguyên</a:t>
            </a:r>
            <a:r>
              <a:rPr sz="1000" dirty="0">
                <a:latin typeface="Cascadia Mono"/>
              </a:rPr>
              <a:t> </a:t>
            </a:r>
            <a:r>
              <a:rPr sz="1000" dirty="0" err="1">
                <a:latin typeface="Cascadia Mono"/>
              </a:rPr>
              <a:t>làm</a:t>
            </a:r>
            <a:r>
              <a:rPr sz="1000" dirty="0">
                <a:latin typeface="Cascadia Mono"/>
              </a:rPr>
              <a:t> </a:t>
            </a:r>
            <a:r>
              <a:rPr sz="1000" dirty="0" err="1">
                <a:latin typeface="Cascadia Mono"/>
              </a:rPr>
              <a:t>mất</a:t>
            </a:r>
            <a:r>
              <a:rPr sz="1000" dirty="0">
                <a:latin typeface="Cascadia Mono"/>
              </a:rPr>
              <a:t> </a:t>
            </a:r>
            <a:r>
              <a:rPr sz="1000" dirty="0" err="1">
                <a:latin typeface="Cascadia Mono"/>
              </a:rPr>
              <a:t>số</a:t>
            </a:r>
            <a:r>
              <a:rPr sz="1000" dirty="0">
                <a:latin typeface="Cascadia Mono"/>
              </a:rPr>
              <a:t> 0</a:t>
            </a:r>
            <a:br>
              <a:rPr sz="1000" dirty="0"/>
            </a:br>
            <a:r>
              <a:rPr sz="1000" dirty="0">
                <a:latin typeface="Cascadia Mono"/>
              </a:rPr>
              <a:t>                }</a:t>
            </a:r>
            <a:br>
              <a:rPr sz="1000" dirty="0"/>
            </a:br>
            <a:r>
              <a:rPr sz="1000" dirty="0">
                <a:latin typeface="Cascadia Mono"/>
              </a:rPr>
              <a:t>                </a:t>
            </a:r>
            <a:r>
              <a:rPr sz="1000" dirty="0" err="1">
                <a:latin typeface="Cascadia Mono"/>
              </a:rPr>
              <a:t>row.add</a:t>
            </a:r>
            <a:r>
              <a:rPr sz="1000" dirty="0">
                <a:latin typeface="Cascadia Mono"/>
              </a:rPr>
              <a:t>(</a:t>
            </a:r>
            <a:r>
              <a:rPr sz="1000" dirty="0" err="1">
                <a:latin typeface="Cascadia Mono"/>
              </a:rPr>
              <a:t>sdt</a:t>
            </a:r>
            <a:r>
              <a:rPr sz="1000" dirty="0">
                <a:latin typeface="Cascadia Mono"/>
              </a:rPr>
              <a:t>);</a:t>
            </a:r>
            <a:br>
              <a:rPr sz="1000" dirty="0"/>
            </a:br>
            <a:br>
              <a:rPr sz="1000" dirty="0"/>
            </a:br>
            <a:r>
              <a:rPr sz="1000" dirty="0">
                <a:latin typeface="Cascadia Mono"/>
              </a:rPr>
              <a:t>                </a:t>
            </a:r>
            <a:r>
              <a:rPr sz="1000" dirty="0" err="1">
                <a:latin typeface="Cascadia Mono"/>
              </a:rPr>
              <a:t>row.add</a:t>
            </a:r>
            <a:r>
              <a:rPr sz="1000" dirty="0">
                <a:latin typeface="Cascadia Mono"/>
              </a:rPr>
              <a:t>(</a:t>
            </a:r>
            <a:r>
              <a:rPr sz="1000" dirty="0" err="1">
                <a:latin typeface="Cascadia Mono"/>
              </a:rPr>
              <a:t>rs.getString</a:t>
            </a:r>
            <a:r>
              <a:rPr sz="1000" dirty="0">
                <a:latin typeface="Cascadia Mono"/>
              </a:rPr>
              <a:t>("</a:t>
            </a:r>
            <a:r>
              <a:rPr sz="1000" dirty="0" err="1">
                <a:latin typeface="Cascadia Mono"/>
              </a:rPr>
              <a:t>DiaChi</a:t>
            </a:r>
            <a:r>
              <a:rPr sz="1000" dirty="0">
                <a:latin typeface="Cascadia Mono"/>
              </a:rPr>
              <a:t>"));</a:t>
            </a:r>
            <a:br>
              <a:rPr sz="1000" dirty="0"/>
            </a:br>
            <a:r>
              <a:rPr sz="1000" dirty="0">
                <a:latin typeface="Cascadia Mono"/>
              </a:rPr>
              <a:t>// ...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D1B2A"/>
                </a:solidFill>
              </a:defRPr>
            </a:pPr>
            <a:r>
              <a:t>CRUD trong hệ thống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510528"/>
            <a:ext cx="11064240" cy="13716"/>
          </a:xfrm>
          <a:prstGeom prst="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16161"/>
                </a:solidFill>
              </a:defRPr>
            </a:pPr>
            <a:r>
              <a:t>Báo cáo BTL: Hệ thống Quản lý Sinh viên | Java Swing + MySQL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16161"/>
                </a:solidFill>
              </a:defRPr>
            </a:pPr>
            <a:r>
              <a:t>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08760"/>
            <a:ext cx="2377440" cy="3291840"/>
          </a:xfrm>
          <a:prstGeom prst="roundRect">
            <a:avLst/>
          </a:prstGeom>
          <a:solidFill>
            <a:srgbClr val="F5F7FA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2E7D32"/>
                </a:solidFill>
              </a:defRPr>
            </a:pPr>
            <a:r>
              <a:t>Create</a:t>
            </a:r>
          </a:p>
          <a:p>
            <a:pPr algn="ctr">
              <a:defRPr sz="2400" b="1">
                <a:solidFill>
                  <a:srgbClr val="0D1B2A"/>
                </a:solidFill>
              </a:defRPr>
            </a:pPr>
            <a:r>
              <a:t>INSERT</a:t>
            </a:r>
          </a:p>
          <a:p>
            <a:pPr algn="ctr">
              <a:defRPr sz="1300">
                <a:solidFill>
                  <a:srgbClr val="141414"/>
                </a:solidFill>
              </a:defRPr>
            </a:pPr>
            <a:r>
              <a:t>Thêm sinh viên mới vào bảng sinhvien.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1508760"/>
            <a:ext cx="2377440" cy="3291840"/>
          </a:xfrm>
          <a:prstGeom prst="roundRect">
            <a:avLst/>
          </a:prstGeom>
          <a:solidFill>
            <a:srgbClr val="F5F7FA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1976D2"/>
                </a:solidFill>
              </a:defRPr>
            </a:pPr>
            <a:r>
              <a:t>Read</a:t>
            </a:r>
          </a:p>
          <a:p>
            <a:pPr algn="ctr">
              <a:defRPr sz="2400" b="1">
                <a:solidFill>
                  <a:srgbClr val="0D1B2A"/>
                </a:solidFill>
              </a:defRPr>
            </a:pPr>
            <a:r>
              <a:t>SELECT</a:t>
            </a:r>
          </a:p>
          <a:p>
            <a:pPr algn="ctr">
              <a:defRPr sz="1300">
                <a:solidFill>
                  <a:srgbClr val="141414"/>
                </a:solidFill>
              </a:defRPr>
            </a:pPr>
            <a:r>
              <a:t>Lấy danh sách sinh viên và hiển thị lên JTable.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1508760"/>
            <a:ext cx="2377440" cy="3291840"/>
          </a:xfrm>
          <a:prstGeom prst="roundRect">
            <a:avLst/>
          </a:prstGeom>
          <a:solidFill>
            <a:srgbClr val="F5F7FA"/>
          </a:solidFill>
          <a:ln>
            <a:solidFill>
              <a:srgbClr val="EF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EF6C00"/>
                </a:solidFill>
              </a:defRPr>
            </a:pPr>
            <a:r>
              <a:t>Update</a:t>
            </a:r>
          </a:p>
          <a:p>
            <a:pPr algn="ctr">
              <a:defRPr sz="2400" b="1">
                <a:solidFill>
                  <a:srgbClr val="0D1B2A"/>
                </a:solidFill>
              </a:defRPr>
            </a:pPr>
            <a:r>
              <a:t>UPDATE</a:t>
            </a:r>
          </a:p>
          <a:p>
            <a:pPr algn="ctr">
              <a:defRPr sz="1300">
                <a:solidFill>
                  <a:srgbClr val="141414"/>
                </a:solidFill>
              </a:defRPr>
            </a:pPr>
            <a:r>
              <a:t>Cập nhật thông tin sinh viên theo ID.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81160" y="1508760"/>
            <a:ext cx="2377440" cy="3291840"/>
          </a:xfrm>
          <a:prstGeom prst="roundRect">
            <a:avLst/>
          </a:prstGeom>
          <a:solidFill>
            <a:srgbClr val="F5F7FA"/>
          </a:solidFill>
          <a:ln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C62828"/>
                </a:solidFill>
              </a:defRPr>
            </a:pPr>
            <a:r>
              <a:t>Delete</a:t>
            </a:r>
          </a:p>
          <a:p>
            <a:pPr algn="ctr">
              <a:defRPr sz="2400" b="1">
                <a:solidFill>
                  <a:srgbClr val="0D1B2A"/>
                </a:solidFill>
              </a:defRPr>
            </a:pPr>
            <a:r>
              <a:t>DELETE</a:t>
            </a:r>
          </a:p>
          <a:p>
            <a:pPr algn="ctr">
              <a:defRPr sz="1300">
                <a:solidFill>
                  <a:srgbClr val="141414"/>
                </a:solidFill>
              </a:defRPr>
            </a:pPr>
            <a:r>
              <a:t>Xóa sinh viên theo ID, chỉ admin được xóa.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D1B2A"/>
                </a:solidFill>
              </a:defRPr>
            </a:pPr>
            <a:r>
              <a:t>Code: Thêm sinh viên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510528"/>
            <a:ext cx="11064240" cy="13716"/>
          </a:xfrm>
          <a:prstGeom prst="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16161"/>
                </a:solidFill>
              </a:defRPr>
            </a:pPr>
            <a:r>
              <a:t>Báo cáo BTL: Hệ thống Quản lý Sinh viên | Java Swing + MySQL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16161"/>
                </a:solidFill>
              </a:defRPr>
            </a:pPr>
            <a:r>
              <a:t>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05840"/>
            <a:ext cx="11064240" cy="5394960"/>
          </a:xfrm>
          <a:prstGeom prst="roundRect">
            <a:avLst/>
          </a:prstGeom>
          <a:solidFill>
            <a:srgbClr val="1E293B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005840"/>
            <a:ext cx="1106424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" y="1078992"/>
            <a:ext cx="1371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87171"/>
                </a:solidFill>
              </a:defRPr>
            </a:pPr>
            <a: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078992"/>
            <a:ext cx="1371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BBF24"/>
                </a:solidFill>
              </a:defRPr>
            </a:pPr>
            <a: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078992"/>
            <a:ext cx="1371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4D399"/>
                </a:solidFill>
              </a:defRPr>
            </a:pPr>
            <a: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069848"/>
            <a:ext cx="10149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frmQuanLiSinhVienUI.java - LuuThem()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417320"/>
            <a:ext cx="10735056" cy="48920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1019">
                <a:solidFill>
                  <a:srgbClr val="E2E8F0"/>
                </a:solidFill>
                <a:latin typeface="Cascadia Mono"/>
              </a:defRPr>
            </a:pPr>
            <a:r>
              <a:rPr sz="900">
                <a:latin typeface="Cascadia Mono"/>
              </a:rPr>
              <a:t>private void LuuThem() {</a:t>
            </a:r>
            <a:br/>
            <a:r>
              <a:rPr sz="900">
                <a:latin typeface="Cascadia Mono"/>
              </a:rPr>
              <a:t>        String sql = "INSERT INTO sinhvien (ID, Ten, Tuoi, GioiTinh, SDT, DiaChi, Anh) VALUES</a:t>
            </a:r>
            <a:br/>
            <a:r>
              <a:rPr sz="900">
                <a:latin typeface="Cascadia Mono"/>
              </a:rPr>
              <a:t>            (?,?,?,?,?,?,?)";</a:t>
            </a:r>
            <a:br/>
            <a:r>
              <a:rPr sz="900">
                <a:latin typeface="Cascadia Mono"/>
              </a:rPr>
              <a:t>        try {</a:t>
            </a:r>
            <a:br/>
            <a:r>
              <a:rPr sz="900">
                <a:latin typeface="Cascadia Mono"/>
              </a:rPr>
              <a:t>            stmt = conn.prepareStatement(sql);</a:t>
            </a:r>
            <a:br/>
            <a:r>
              <a:rPr sz="900">
                <a:latin typeface="Cascadia Mono"/>
              </a:rPr>
              <a:t>            stmt.setInt(1, Integer.parseInt(txtID.getText().trim()));</a:t>
            </a:r>
            <a:br/>
            <a:r>
              <a:rPr sz="900">
                <a:latin typeface="Cascadia Mono"/>
              </a:rPr>
              <a:t>            stmt.setString(2, txtName.getText().trim());</a:t>
            </a:r>
            <a:br/>
            <a:r>
              <a:rPr sz="900">
                <a:latin typeface="Cascadia Mono"/>
              </a:rPr>
              <a:t>            stmt.setInt(3, Integer.parseInt(txtAge.getText().trim()));</a:t>
            </a:r>
            <a:br/>
            <a:r>
              <a:rPr sz="900">
                <a:latin typeface="Cascadia Mono"/>
              </a:rPr>
              <a:t>            stmt.setString(4, cbnGioiTinh.getSelectedItem().toString());</a:t>
            </a:r>
            <a:br/>
            <a:br/>
            <a:r>
              <a:rPr sz="900">
                <a:latin typeface="Cascadia Mono"/>
              </a:rPr>
              <a:t>            // Xử lý SĐT dưới dạng String để giữ số 0</a:t>
            </a:r>
            <a:br/>
            <a:r>
              <a:rPr sz="900">
                <a:latin typeface="Cascadia Mono"/>
              </a:rPr>
              <a:t>            stmt.setString(5, txtPhoneNumber.getText().trim());</a:t>
            </a:r>
            <a:br/>
            <a:br/>
            <a:r>
              <a:rPr sz="900">
                <a:latin typeface="Cascadia Mono"/>
              </a:rPr>
              <a:t>            stmt.setString(6, txtDiaChi.getText().trim());</a:t>
            </a:r>
            <a:br/>
            <a:br/>
            <a:r>
              <a:rPr sz="900">
                <a:latin typeface="Cascadia Mono"/>
              </a:rPr>
              <a:t>            if (filename != null) {</a:t>
            </a:r>
            <a:br/>
            <a:r>
              <a:rPr sz="900">
                <a:latin typeface="Cascadia Mono"/>
              </a:rPr>
              <a:t>                stmt.setBinaryStream(7, new FileInputStream(new File(filename)));</a:t>
            </a:r>
            <a:br/>
            <a:r>
              <a:rPr sz="900">
                <a:latin typeface="Cascadia Mono"/>
              </a:rPr>
              <a:t>            } else {</a:t>
            </a:r>
            <a:br/>
            <a:r>
              <a:rPr sz="900">
                <a:latin typeface="Cascadia Mono"/>
              </a:rPr>
              <a:t>                stmt.setNull(7, java.sql.Types.BLOB);</a:t>
            </a:r>
            <a:br/>
            <a:r>
              <a:rPr sz="900">
                <a:latin typeface="Cascadia Mono"/>
              </a:rPr>
              <a:t>            }</a:t>
            </a:r>
            <a:br/>
            <a:br/>
            <a:r>
              <a:rPr sz="900">
                <a:latin typeface="Cascadia Mono"/>
              </a:rPr>
              <a:t>            stmt.executeUpdate();</a:t>
            </a:r>
            <a:br/>
            <a:r>
              <a:rPr sz="900">
                <a:latin typeface="Cascadia Mono"/>
              </a:rPr>
              <a:t>            JOptionPane.showMessageDialog(pnlMain, "Thêm sinh viên thành công!");</a:t>
            </a:r>
            <a:br/>
            <a:r>
              <a:rPr sz="900">
                <a:latin typeface="Cascadia Mono"/>
              </a:rPr>
              <a:t>            LoadData(buildDefaultQuery(), new Object[]{});</a:t>
            </a:r>
            <a:br/>
            <a:r>
              <a:rPr sz="900">
                <a:latin typeface="Cascadia Mono"/>
              </a:rPr>
              <a:t>            setButtonStateForEdit(false);</a:t>
            </a:r>
            <a:br/>
            <a:r>
              <a:rPr sz="900">
                <a:latin typeface="Cascadia Mono"/>
              </a:rPr>
              <a:t>            EnableFields(false);</a:t>
            </a:r>
            <a:br/>
            <a:r>
              <a:rPr sz="900">
                <a:latin typeface="Cascadia Mono"/>
              </a:rPr>
              <a:t>        } catch (NumberFormatException ex) {</a:t>
            </a:r>
            <a:br/>
            <a:r>
              <a:rPr sz="900">
                <a:latin typeface="Cascadia Mono"/>
              </a:rPr>
              <a:t>            JOptionPane.showMessageDialog(pnlMain, "ID và Tuổi phải là số!", "Lỗi",</a:t>
            </a:r>
            <a:br/>
            <a:r>
              <a:rPr sz="900">
                <a:latin typeface="Cascadia Mono"/>
              </a:rPr>
              <a:t>                JOptionPane.WARNING_MESSAGE);</a:t>
            </a:r>
            <a:br/>
            <a:r>
              <a:rPr sz="900">
                <a:latin typeface="Cascadia Mono"/>
              </a:rPr>
              <a:t>        } catch (Exception ex) {</a:t>
            </a:r>
            <a:br/>
            <a:r>
              <a:rPr sz="900">
                <a:latin typeface="Cascadia Mono"/>
              </a:rPr>
              <a:t>            JOptionPane.showMessageDialog(pnlMain, "Lỗi Database: " + ex.getMessage(), "Lỗi",</a:t>
            </a:r>
            <a:br/>
            <a:r>
              <a:rPr sz="900">
                <a:latin typeface="Cascadia Mono"/>
              </a:rPr>
              <a:t>// ...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D1B2A"/>
                </a:solidFill>
              </a:defRPr>
            </a:pPr>
            <a:r>
              <a:t>Code: Sửa sinh viên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510528"/>
            <a:ext cx="11064240" cy="13716"/>
          </a:xfrm>
          <a:prstGeom prst="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16161"/>
                </a:solidFill>
              </a:defRPr>
            </a:pPr>
            <a:r>
              <a:t>Báo cáo BTL: Hệ thống Quản lý Sinh viên | Java Swing + MySQL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16161"/>
                </a:solidFill>
              </a:defRPr>
            </a:pPr>
            <a: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05840"/>
            <a:ext cx="11064240" cy="5394960"/>
          </a:xfrm>
          <a:prstGeom prst="roundRect">
            <a:avLst/>
          </a:prstGeom>
          <a:solidFill>
            <a:srgbClr val="1E293B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005840"/>
            <a:ext cx="1106424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" y="1078992"/>
            <a:ext cx="1371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87171"/>
                </a:solidFill>
              </a:defRPr>
            </a:pPr>
            <a: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078992"/>
            <a:ext cx="1371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BBF24"/>
                </a:solidFill>
              </a:defRPr>
            </a:pPr>
            <a: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078992"/>
            <a:ext cx="1371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4D399"/>
                </a:solidFill>
              </a:defRPr>
            </a:pPr>
            <a: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069848"/>
            <a:ext cx="10149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frmQuanLiSinhVienUI.java - LuuSua()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417320"/>
            <a:ext cx="10735056" cy="48920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1019">
                <a:solidFill>
                  <a:srgbClr val="E2E8F0"/>
                </a:solidFill>
                <a:latin typeface="Cascadia Mono"/>
              </a:defRPr>
            </a:pPr>
            <a:r>
              <a:rPr sz="900">
                <a:latin typeface="Cascadia Mono"/>
              </a:rPr>
              <a:t>private void LuuSua() {</a:t>
            </a:r>
            <a:br/>
            <a:r>
              <a:rPr sz="900">
                <a:latin typeface="Cascadia Mono"/>
              </a:rPr>
              <a:t>        String sql = "UPDATE sinhvien SET Ten=?, Tuoi=?, GioiTinh=?, SDT=?, DiaChi=?" +</a:t>
            </a:r>
            <a:br/>
            <a:r>
              <a:rPr sz="900">
                <a:latin typeface="Cascadia Mono"/>
              </a:rPr>
              <a:t>                (filename != null ? ", Anh=?" : "") + " WHERE ID=?";</a:t>
            </a:r>
            <a:br/>
            <a:r>
              <a:rPr sz="900">
                <a:latin typeface="Cascadia Mono"/>
              </a:rPr>
              <a:t>        try {</a:t>
            </a:r>
            <a:br/>
            <a:r>
              <a:rPr sz="900">
                <a:latin typeface="Cascadia Mono"/>
              </a:rPr>
              <a:t>            stmt = conn.prepareStatement(sql);</a:t>
            </a:r>
            <a:br/>
            <a:r>
              <a:rPr sz="900">
                <a:latin typeface="Cascadia Mono"/>
              </a:rPr>
              <a:t>            stmt.setString(1, txtName.getText().trim());</a:t>
            </a:r>
            <a:br/>
            <a:r>
              <a:rPr sz="900">
                <a:latin typeface="Cascadia Mono"/>
              </a:rPr>
              <a:t>            stmt.setInt(2, Integer.parseInt(txtAge.getText().trim()));</a:t>
            </a:r>
            <a:br/>
            <a:r>
              <a:rPr sz="900">
                <a:latin typeface="Cascadia Mono"/>
              </a:rPr>
              <a:t>            stmt.setString(3, cbnGioiTinh.getSelectedItem().toString());</a:t>
            </a:r>
            <a:br/>
            <a:br/>
            <a:r>
              <a:rPr sz="900">
                <a:latin typeface="Cascadia Mono"/>
              </a:rPr>
              <a:t>            // Xử lý SĐT dưới dạng String để giữ số 0</a:t>
            </a:r>
            <a:br/>
            <a:r>
              <a:rPr sz="900">
                <a:latin typeface="Cascadia Mono"/>
              </a:rPr>
              <a:t>            stmt.setString(4, txtPhoneNumber.getText().trim());</a:t>
            </a:r>
            <a:br/>
            <a:br/>
            <a:r>
              <a:rPr sz="900">
                <a:latin typeface="Cascadia Mono"/>
              </a:rPr>
              <a:t>            stmt.setString(5, txtDiaChi.getText().trim());</a:t>
            </a:r>
            <a:br/>
            <a:br/>
            <a:r>
              <a:rPr sz="900">
                <a:latin typeface="Cascadia Mono"/>
              </a:rPr>
              <a:t>            if (filename != null) {</a:t>
            </a:r>
            <a:br/>
            <a:r>
              <a:rPr sz="900">
                <a:latin typeface="Cascadia Mono"/>
              </a:rPr>
              <a:t>                stmt.setBinaryStream(6, new FileInputStream(new File(filename)));</a:t>
            </a:r>
            <a:br/>
            <a:r>
              <a:rPr sz="900">
                <a:latin typeface="Cascadia Mono"/>
              </a:rPr>
              <a:t>                stmt.setInt(7, Integer.parseInt(txtID.getText().trim()));</a:t>
            </a:r>
            <a:br/>
            <a:r>
              <a:rPr sz="900">
                <a:latin typeface="Cascadia Mono"/>
              </a:rPr>
              <a:t>            } else {</a:t>
            </a:r>
            <a:br/>
            <a:r>
              <a:rPr sz="900">
                <a:latin typeface="Cascadia Mono"/>
              </a:rPr>
              <a:t>                stmt.setInt(6, Integer.parseInt(txtID.getText().trim()));</a:t>
            </a:r>
            <a:br/>
            <a:r>
              <a:rPr sz="900">
                <a:latin typeface="Cascadia Mono"/>
              </a:rPr>
              <a:t>            }</a:t>
            </a:r>
            <a:br/>
            <a:br/>
            <a:r>
              <a:rPr sz="900">
                <a:latin typeface="Cascadia Mono"/>
              </a:rPr>
              <a:t>            stmt.executeUpdate();</a:t>
            </a:r>
            <a:br/>
            <a:r>
              <a:rPr sz="900">
                <a:latin typeface="Cascadia Mono"/>
              </a:rPr>
              <a:t>            JOptionPane.showMessageDialog(pnlMain, "Cập nhật thành công!");</a:t>
            </a:r>
            <a:br/>
            <a:r>
              <a:rPr sz="900">
                <a:latin typeface="Cascadia Mono"/>
              </a:rPr>
              <a:t>            LoadData(buildDefaultQuery(), new Object[]{});</a:t>
            </a:r>
            <a:br/>
            <a:r>
              <a:rPr sz="900">
                <a:latin typeface="Cascadia Mono"/>
              </a:rPr>
              <a:t>            setButtonStateForEdit(false);</a:t>
            </a:r>
            <a:br/>
            <a:r>
              <a:rPr sz="900">
                <a:latin typeface="Cascadia Mono"/>
              </a:rPr>
              <a:t>            EnableFields(false);</a:t>
            </a:r>
            <a:br/>
            <a:r>
              <a:rPr sz="900">
                <a:latin typeface="Cascadia Mono"/>
              </a:rPr>
              <a:t>        } catch (NumberFormatException ex) {</a:t>
            </a:r>
            <a:br/>
            <a:r>
              <a:rPr sz="900">
                <a:latin typeface="Cascadia Mono"/>
              </a:rPr>
              <a:t>            JOptionPane.showMessageDialog(pnlMain, "Tuổi phải là số!", "Lỗi",</a:t>
            </a:r>
            <a:br/>
            <a:r>
              <a:rPr sz="900">
                <a:latin typeface="Cascadia Mono"/>
              </a:rPr>
              <a:t>                JOptionPane.WARNING_MESSAGE);</a:t>
            </a:r>
            <a:br/>
            <a:r>
              <a:rPr sz="900">
                <a:latin typeface="Cascadia Mono"/>
              </a:rPr>
              <a:t>        } catch (Exception ex) {</a:t>
            </a:r>
            <a:br/>
            <a:r>
              <a:rPr sz="900">
                <a:latin typeface="Cascadia Mono"/>
              </a:rPr>
              <a:t>            JOptionPane.showMessageDialog(pnlMain, "Lỗi Database: " + ex.getMessage(), "Lỗi",</a:t>
            </a:r>
            <a:br/>
            <a:r>
              <a:rPr sz="900">
                <a:latin typeface="Cascadia Mono"/>
              </a:rPr>
              <a:t>// ...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D1B2A"/>
                </a:solidFill>
              </a:defRPr>
            </a:pPr>
            <a:r>
              <a:t>Code: Xóa sinh viên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510528"/>
            <a:ext cx="11064240" cy="13716"/>
          </a:xfrm>
          <a:prstGeom prst="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16161"/>
                </a:solidFill>
              </a:defRPr>
            </a:pPr>
            <a:r>
              <a:t>Báo cáo BTL: Hệ thống Quản lý Sinh viên | Java Swing + MySQL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16161"/>
                </a:solidFill>
              </a:defRPr>
            </a:pPr>
            <a:r>
              <a:t>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05840"/>
            <a:ext cx="10881360" cy="5394960"/>
          </a:xfrm>
          <a:prstGeom prst="roundRect">
            <a:avLst/>
          </a:prstGeom>
          <a:solidFill>
            <a:srgbClr val="1E293B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005840"/>
            <a:ext cx="1088136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1078992"/>
            <a:ext cx="1371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87171"/>
                </a:solidFill>
              </a:defRPr>
            </a:pPr>
            <a: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078992"/>
            <a:ext cx="1371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BBF24"/>
                </a:solidFill>
              </a:defRPr>
            </a:pPr>
            <a: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078992"/>
            <a:ext cx="1371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4D399"/>
                </a:solidFill>
              </a:defRPr>
            </a:pPr>
            <a: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069848"/>
            <a:ext cx="9966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frmQuanLiSinhVienUI.java - XoaSinhVien()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1417320"/>
            <a:ext cx="10552176" cy="48920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1100">
                <a:solidFill>
                  <a:srgbClr val="E2E8F0"/>
                </a:solidFill>
                <a:latin typeface="Cascadia Mono"/>
              </a:defRPr>
            </a:pPr>
            <a:r>
              <a:rPr sz="900">
                <a:latin typeface="Cascadia Mono"/>
              </a:rPr>
              <a:t>private void XoaSinhVien() {</a:t>
            </a:r>
            <a:br/>
            <a:r>
              <a:rPr sz="900">
                <a:latin typeface="Cascadia Mono"/>
              </a:rPr>
              <a:t>        int row = tableSV.getSelectedRow();</a:t>
            </a:r>
            <a:br/>
            <a:r>
              <a:rPr sz="900">
                <a:latin typeface="Cascadia Mono"/>
              </a:rPr>
              <a:t>        if (row == -1) {</a:t>
            </a:r>
            <a:br/>
            <a:r>
              <a:rPr sz="900">
                <a:latin typeface="Cascadia Mono"/>
              </a:rPr>
              <a:t>            JOptionPane.showMessageDialog(pnlMain, "Vui lòng chọn sinh viên cần xóa trên bảng!");</a:t>
            </a:r>
            <a:br/>
            <a:r>
              <a:rPr sz="900">
                <a:latin typeface="Cascadia Mono"/>
              </a:rPr>
              <a:t>            return;</a:t>
            </a:r>
            <a:br/>
            <a:r>
              <a:rPr sz="900">
                <a:latin typeface="Cascadia Mono"/>
              </a:rPr>
              <a:t>        }</a:t>
            </a:r>
            <a:br/>
            <a:r>
              <a:rPr sz="900">
                <a:latin typeface="Cascadia Mono"/>
              </a:rPr>
              <a:t>        int id = Integer.parseInt(tableSV.getValueAt(row, 0).toString());</a:t>
            </a:r>
            <a:br/>
            <a:r>
              <a:rPr sz="900">
                <a:latin typeface="Cascadia Mono"/>
              </a:rPr>
              <a:t>        if (JOptionPane.showConfirmDialog(pnlMain, "XÓA sinh viên ID " + id + "?", "Xác nhận",</a:t>
            </a:r>
            <a:br/>
            <a:r>
              <a:rPr sz="900">
                <a:latin typeface="Cascadia Mono"/>
              </a:rPr>
              <a:t>            JOptionPane.YES_NO_OPTION) == JOptionPane.YES_OPTION) {</a:t>
            </a:r>
            <a:br/>
            <a:r>
              <a:rPr sz="900">
                <a:latin typeface="Cascadia Mono"/>
              </a:rPr>
              <a:t>            try {</a:t>
            </a:r>
            <a:br/>
            <a:r>
              <a:rPr sz="900">
                <a:latin typeface="Cascadia Mono"/>
              </a:rPr>
              <a:t>                stmt = conn.prepareStatement("DELETE FROM sinhvien WHERE ID = ?");</a:t>
            </a:r>
            <a:br/>
            <a:r>
              <a:rPr sz="900">
                <a:latin typeface="Cascadia Mono"/>
              </a:rPr>
              <a:t>                stmt.setInt(1, id);</a:t>
            </a:r>
            <a:br/>
            <a:r>
              <a:rPr sz="900">
                <a:latin typeface="Cascadia Mono"/>
              </a:rPr>
              <a:t>                stmt.executeUpdate();</a:t>
            </a:r>
            <a:br/>
            <a:r>
              <a:rPr sz="900">
                <a:latin typeface="Cascadia Mono"/>
              </a:rPr>
              <a:t>                JOptionPane.showMessageDialog(pnlMain, "Đã xóa thành công!");</a:t>
            </a:r>
            <a:br/>
            <a:r>
              <a:rPr sz="900">
                <a:latin typeface="Cascadia Mono"/>
              </a:rPr>
              <a:t>                LoadData(buildDefaultQuery(), new Object[]{});</a:t>
            </a:r>
            <a:br/>
            <a:r>
              <a:rPr sz="900">
                <a:latin typeface="Cascadia Mono"/>
              </a:rPr>
              <a:t>            } catch (Exception ex) {</a:t>
            </a:r>
            <a:br/>
            <a:r>
              <a:rPr sz="900">
                <a:latin typeface="Cascadia Mono"/>
              </a:rPr>
              <a:t>                JOptionPane.showMessageDialog(pnlMain, "Lỗi khi xóa: " + ex.getMessage());</a:t>
            </a:r>
            <a:br/>
            <a:r>
              <a:rPr sz="900">
                <a:latin typeface="Cascadia Mono"/>
              </a:rPr>
              <a:t>            }</a:t>
            </a:r>
            <a:br/>
            <a:r>
              <a:rPr sz="900">
                <a:latin typeface="Cascadia Mono"/>
              </a:rPr>
              <a:t>        }</a:t>
            </a:r>
            <a:br/>
            <a:r>
              <a:rPr sz="900">
                <a:latin typeface="Cascadia Mono"/>
              </a:rPr>
              <a:t>    }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D1B2A"/>
                </a:solidFill>
              </a:defRPr>
            </a:pPr>
            <a:r>
              <a:t>Code: Chọn ảnh và hiển thị chi tiết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510528"/>
            <a:ext cx="11064240" cy="13716"/>
          </a:xfrm>
          <a:prstGeom prst="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16161"/>
                </a:solidFill>
              </a:defRPr>
            </a:pPr>
            <a:r>
              <a:t>Báo cáo BTL: Hệ thống Quản lý Sinh viên | Java Swing + MySQL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16161"/>
                </a:solidFill>
              </a:defRPr>
            </a:pPr>
            <a:r>
              <a:t>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05840"/>
            <a:ext cx="11064240" cy="5394960"/>
          </a:xfrm>
          <a:prstGeom prst="roundRect">
            <a:avLst/>
          </a:prstGeom>
          <a:solidFill>
            <a:srgbClr val="1E293B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005840"/>
            <a:ext cx="1106424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" y="1078992"/>
            <a:ext cx="1371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87171"/>
                </a:solidFill>
              </a:defRPr>
            </a:pPr>
            <a: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1078992"/>
            <a:ext cx="1371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BBF24"/>
                </a:solidFill>
              </a:defRPr>
            </a:pPr>
            <a: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078992"/>
            <a:ext cx="1371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4D399"/>
                </a:solidFill>
              </a:defRPr>
            </a:pPr>
            <a: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069848"/>
            <a:ext cx="101498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frmQuanLiSinhVienUI.java - ChonAnh() + HienThiChiTiet()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417320"/>
            <a:ext cx="10735056" cy="48920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1000">
                <a:solidFill>
                  <a:srgbClr val="E2E8F0"/>
                </a:solidFill>
                <a:latin typeface="Cascadia Mono"/>
              </a:defRPr>
            </a:pPr>
            <a:r>
              <a:rPr sz="900">
                <a:latin typeface="Cascadia Mono"/>
              </a:rPr>
              <a:t>private void ChonAnh() {</a:t>
            </a:r>
            <a:br/>
            <a:r>
              <a:rPr sz="900">
                <a:latin typeface="Cascadia Mono"/>
              </a:rPr>
              <a:t>        JFileChooser fc = new JFileChooser();</a:t>
            </a:r>
            <a:br/>
            <a:r>
              <a:rPr sz="900">
                <a:latin typeface="Cascadia Mono"/>
              </a:rPr>
              <a:t>        fc.setFileFilter(new FileNameExtensionFilter("Images", "jpg", "png", "jpeg", "gif"));</a:t>
            </a:r>
            <a:br/>
            <a:r>
              <a:rPr sz="900">
                <a:latin typeface="Cascadia Mono"/>
              </a:rPr>
              <a:t>        if (fc.showOpenDialog(pnlMain) == JFileChooser.APPROVE_OPTION) {</a:t>
            </a:r>
            <a:br/>
            <a:r>
              <a:rPr sz="900">
                <a:latin typeface="Cascadia Mono"/>
              </a:rPr>
              <a:t>            filename = fc.getSelectedFile().getAbsolutePath();</a:t>
            </a:r>
            <a:br/>
            <a:r>
              <a:rPr sz="900">
                <a:latin typeface="Cascadia Mono"/>
              </a:rPr>
              <a:t>            try {</a:t>
            </a:r>
            <a:br/>
            <a:r>
              <a:rPr sz="900">
                <a:latin typeface="Cascadia Mono"/>
              </a:rPr>
              <a:t>                ImageIcon icon = new ImageIcon(new ImageIcon(filename).getImage()</a:t>
            </a:r>
            <a:br/>
            <a:r>
              <a:rPr sz="900">
                <a:latin typeface="Cascadia Mono"/>
              </a:rPr>
              <a:t>                        .getScaledInstance(lblAnh.getWidth(), lblAnh.getHeight(), Image.SCALE_SMOOTH));</a:t>
            </a:r>
            <a:br/>
            <a:r>
              <a:rPr sz="900">
                <a:latin typeface="Cascadia Mono"/>
              </a:rPr>
              <a:t>                lblAnh.setIcon(icon);</a:t>
            </a:r>
            <a:br/>
            <a:r>
              <a:rPr sz="900">
                <a:latin typeface="Cascadia Mono"/>
              </a:rPr>
              <a:t>            } catch (Exception ex) {</a:t>
            </a:r>
            <a:br/>
            <a:r>
              <a:rPr sz="900">
                <a:latin typeface="Cascadia Mono"/>
              </a:rPr>
              <a:t>                JOptionPane.showMessageDialog(pnlMain, "Lỗi hiển thị ảnh!");</a:t>
            </a:r>
            <a:br/>
            <a:r>
              <a:rPr sz="900">
                <a:latin typeface="Cascadia Mono"/>
              </a:rPr>
              <a:t>            }</a:t>
            </a:r>
            <a:br/>
            <a:r>
              <a:rPr sz="900">
                <a:latin typeface="Cascadia Mono"/>
              </a:rPr>
              <a:t>        }</a:t>
            </a:r>
            <a:br/>
            <a:r>
              <a:rPr sz="900">
                <a:latin typeface="Cascadia Mono"/>
              </a:rPr>
              <a:t>    }</a:t>
            </a:r>
            <a:br/>
            <a:br/>
            <a:r>
              <a:rPr sz="900">
                <a:latin typeface="Cascadia Mono"/>
              </a:rPr>
              <a:t>    private void HienThiChiTiet() {</a:t>
            </a:r>
            <a:br/>
            <a:r>
              <a:rPr sz="900">
                <a:latin typeface="Cascadia Mono"/>
              </a:rPr>
              <a:t>        int row = tableSV.getSelectedRow();</a:t>
            </a:r>
            <a:br/>
            <a:r>
              <a:rPr sz="900">
                <a:latin typeface="Cascadia Mono"/>
              </a:rPr>
              <a:t>        if (row == -1) return;</a:t>
            </a:r>
            <a:br/>
            <a:br/>
            <a:r>
              <a:rPr sz="900">
                <a:latin typeface="Cascadia Mono"/>
              </a:rPr>
              <a:t>        txtID.setText(tableSV.getValueAt(row, 0).toString());</a:t>
            </a:r>
            <a:br/>
            <a:r>
              <a:rPr sz="900">
                <a:latin typeface="Cascadia Mono"/>
              </a:rPr>
              <a:t>        txtName.setText(tableSV.getValueAt(row, 1).toString());</a:t>
            </a:r>
            <a:br/>
            <a:r>
              <a:rPr sz="900">
                <a:latin typeface="Cascadia Mono"/>
              </a:rPr>
              <a:t>        txtAge.setText(tableSV.getValueAt(row, 2).toString());</a:t>
            </a:r>
            <a:br/>
            <a:r>
              <a:rPr sz="900">
                <a:latin typeface="Cascadia Mono"/>
              </a:rPr>
              <a:t>        cbnGioiTinh.setSelectedItem(tableSV.getValueAt(row, 3).toString());</a:t>
            </a:r>
            <a:br/>
            <a:br/>
            <a:r>
              <a:rPr sz="900">
                <a:latin typeface="Cascadia Mono"/>
              </a:rPr>
              <a:t>        // Cập nhật lấy sdt ra ô TextField</a:t>
            </a:r>
            <a:br/>
            <a:r>
              <a:rPr sz="900">
                <a:latin typeface="Cascadia Mono"/>
              </a:rPr>
              <a:t>        String sdt = tableSV.getValueAt(row, 4).toString();</a:t>
            </a:r>
            <a:br/>
            <a:r>
              <a:rPr sz="900">
                <a:latin typeface="Cascadia Mono"/>
              </a:rPr>
              <a:t>        txtPhoneNumber.setText(sdt);</a:t>
            </a:r>
            <a:br/>
            <a:br/>
            <a:r>
              <a:rPr sz="900">
                <a:latin typeface="Cascadia Mono"/>
              </a:rPr>
              <a:t>        txtDiaChi.setText(tableSV.getValueAt(row, 5).toString());</a:t>
            </a:r>
            <a:br/>
            <a:br/>
            <a:r>
              <a:rPr sz="900">
                <a:latin typeface="Cascadia Mono"/>
              </a:rPr>
              <a:t>        try {</a:t>
            </a:r>
            <a:br/>
            <a:r>
              <a:rPr sz="900">
                <a:latin typeface="Cascadia Mono"/>
              </a:rPr>
              <a:t>// ...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D1B2A"/>
                </a:solidFill>
              </a:defRPr>
            </a:pPr>
            <a:r>
              <a:t>Xử lý lỗi và trải nghiệm người dùng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510528"/>
            <a:ext cx="11064240" cy="13716"/>
          </a:xfrm>
          <a:prstGeom prst="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16161"/>
                </a:solidFill>
              </a:defRPr>
            </a:pPr>
            <a:r>
              <a:t>Báo cáo BTL: Hệ thống Quản lý Sinh viên | Java Swing + MySQL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16161"/>
                </a:solidFill>
              </a:defRPr>
            </a:pPr>
            <a: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143000"/>
            <a:ext cx="105156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defRPr sz="1900">
                <a:solidFill>
                  <a:srgbClr val="141414"/>
                </a:solidFill>
              </a:defRPr>
            </a:pPr>
            <a:r>
              <a:rPr sz="1600">
                <a:latin typeface="Cascadia Mono"/>
              </a:rPr>
              <a:t>Kiểm tra rỗng khi đăng nhập: nếu chưa nhập đủ tài khoản/mật khẩu thì hiển thị cảnh báo.</a:t>
            </a:r>
          </a:p>
          <a:p>
            <a:pPr>
              <a:buChar char="•"/>
              <a:defRPr sz="1900">
                <a:solidFill>
                  <a:srgbClr val="141414"/>
                </a:solidFill>
              </a:defRPr>
            </a:pPr>
            <a:r>
              <a:rPr sz="1600">
                <a:latin typeface="Cascadia Mono"/>
              </a:rPr>
              <a:t>Kiểm tra kiểu số cho ID và tuổi bằng try/catch NumberFormatException.</a:t>
            </a:r>
          </a:p>
          <a:p>
            <a:pPr>
              <a:buChar char="•"/>
              <a:defRPr sz="1900">
                <a:solidFill>
                  <a:srgbClr val="141414"/>
                </a:solidFill>
              </a:defRPr>
            </a:pPr>
            <a:r>
              <a:rPr sz="1600">
                <a:latin typeface="Cascadia Mono"/>
              </a:rPr>
              <a:t>Thông báo bằng JOptionPane giúp người dùng biết thao tác thành công hay lỗi.</a:t>
            </a:r>
          </a:p>
          <a:p>
            <a:pPr>
              <a:buChar char="•"/>
              <a:defRPr sz="1900">
                <a:solidFill>
                  <a:srgbClr val="141414"/>
                </a:solidFill>
              </a:defRPr>
            </a:pPr>
            <a:r>
              <a:rPr sz="1600">
                <a:latin typeface="Cascadia Mono"/>
              </a:rPr>
              <a:t>Số điện thoại dùng String để không mất số 0 ở đầu.</a:t>
            </a:r>
          </a:p>
          <a:p>
            <a:pPr>
              <a:buChar char="•"/>
              <a:defRPr sz="1900">
                <a:solidFill>
                  <a:srgbClr val="141414"/>
                </a:solidFill>
              </a:defRPr>
            </a:pPr>
            <a:r>
              <a:rPr sz="1600">
                <a:latin typeface="Cascadia Mono"/>
              </a:rPr>
              <a:t>JTable khóa chỉnh sửa trực tiếp bằng isCellEditable() trả về false.</a:t>
            </a:r>
          </a:p>
          <a:p>
            <a:pPr>
              <a:buChar char="•"/>
              <a:defRPr sz="1900">
                <a:solidFill>
                  <a:srgbClr val="141414"/>
                </a:solidFill>
              </a:defRPr>
            </a:pPr>
            <a:r>
              <a:rPr sz="1600">
                <a:latin typeface="Cascadia Mono"/>
              </a:rPr>
              <a:t>Khi chọn dòng trong bảng, dữ liệu tự đổ lên form để sửa hoặc xem chi tiết.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D1B2A"/>
                </a:solidFill>
              </a:defRPr>
            </a:pPr>
            <a:r>
              <a:t>Hướng dẫn chạy chương trình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510528"/>
            <a:ext cx="11064240" cy="13716"/>
          </a:xfrm>
          <a:prstGeom prst="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16161"/>
                </a:solidFill>
              </a:defRPr>
            </a:pPr>
            <a:r>
              <a:t>Báo cáo BTL: Hệ thống Quản lý Sinh viên | Java Swing + MySQL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16161"/>
                </a:solidFill>
              </a:defRPr>
            </a:pPr>
            <a: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14300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defRPr sz="1850">
                <a:solidFill>
                  <a:srgbClr val="141414"/>
                </a:solidFill>
              </a:defRPr>
            </a:pPr>
            <a:r>
              <a:t>Bước 1: Mở XAMPP, bật MySQL.</a:t>
            </a:r>
          </a:p>
          <a:p>
            <a:pPr>
              <a:buChar char="•"/>
              <a:defRPr sz="1850">
                <a:solidFill>
                  <a:srgbClr val="141414"/>
                </a:solidFill>
              </a:defRPr>
            </a:pPr>
            <a:r>
              <a:t>Bước 2: Vào phpMyAdmin, tạo database tên dulieusinhvien.</a:t>
            </a:r>
          </a:p>
          <a:p>
            <a:pPr>
              <a:buChar char="•"/>
              <a:defRPr sz="1850">
                <a:solidFill>
                  <a:srgbClr val="141414"/>
                </a:solidFill>
              </a:defRPr>
            </a:pPr>
            <a:r>
              <a:t>Bước 3: Import file dulieusinhvien.sql để tạo bảng và dữ liệu mẫu.</a:t>
            </a:r>
          </a:p>
          <a:p>
            <a:pPr>
              <a:buChar char="•"/>
              <a:defRPr sz="1850">
                <a:solidFill>
                  <a:srgbClr val="141414"/>
                </a:solidFill>
              </a:defRPr>
            </a:pPr>
            <a:r>
              <a:t>Bước 4: Mở project trong IntelliJ IDEA.</a:t>
            </a:r>
          </a:p>
          <a:p>
            <a:pPr>
              <a:buChar char="•"/>
              <a:defRPr sz="1850">
                <a:solidFill>
                  <a:srgbClr val="141414"/>
                </a:solidFill>
              </a:defRPr>
            </a:pPr>
            <a:r>
              <a:t>Bước 5: Add các thư viện .jar: mysql-connector-j, flatlaf, jcalendar.</a:t>
            </a:r>
          </a:p>
          <a:p>
            <a:pPr>
              <a:buChar char="•"/>
              <a:defRPr sz="1850">
                <a:solidFill>
                  <a:srgbClr val="141414"/>
                </a:solidFill>
              </a:defRPr>
            </a:pPr>
            <a:r>
              <a:t>Bước 6: Chạy file frmDangNhapUI.java để mở màn hình đăng nhập.</a:t>
            </a:r>
          </a:p>
          <a:p>
            <a:pPr>
              <a:buChar char="•"/>
              <a:defRPr sz="1850">
                <a:solidFill>
                  <a:srgbClr val="141414"/>
                </a:solidFill>
              </a:defRPr>
            </a:pPr>
            <a:r>
              <a:t>Tài khoản mẫu: admin/admin123, giaovien/gv123, sinhvien/sv123.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D1B2A"/>
                </a:solidFill>
              </a:defRPr>
            </a:pPr>
            <a:r>
              <a:t>Mô tả giao diện chương trình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510528"/>
            <a:ext cx="11064240" cy="13716"/>
          </a:xfrm>
          <a:prstGeom prst="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16161"/>
                </a:solidFill>
              </a:defRPr>
            </a:pPr>
            <a:r>
              <a:t>Báo cáo BTL: Hệ thống Quản lý Sinh viên | Java Swing + MySQL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16161"/>
                </a:solidFill>
              </a:defRPr>
            </a:pPr>
            <a:r>
              <a:t>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43000"/>
            <a:ext cx="512064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143000"/>
            <a:ext cx="73152" cy="1828800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252728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D1B2A"/>
                </a:solidFill>
              </a:defRPr>
            </a:pPr>
            <a:r>
              <a:t>Form đăng nhập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673352"/>
            <a:ext cx="4800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41414"/>
                </a:solidFill>
              </a:defRPr>
            </a:pPr>
            <a:r>
              <a:t>Ô nhập tên đăng nhập và mật khẩu.</a:t>
            </a:r>
          </a:p>
          <a:p>
            <a:pPr>
              <a:defRPr sz="1400">
                <a:solidFill>
                  <a:srgbClr val="141414"/>
                </a:solidFill>
              </a:defRPr>
            </a:pPr>
            <a:r>
              <a:t>Nút Đăng nhập để xác thực, nút Thoát để đóng ứng dụng.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143000"/>
            <a:ext cx="512064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143000"/>
            <a:ext cx="73152" cy="1828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73952" y="1252728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D1B2A"/>
                </a:solidFill>
              </a:defRPr>
            </a:pPr>
            <a:r>
              <a:t>Form quản lý sinh viên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1673352"/>
            <a:ext cx="4800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41414"/>
                </a:solidFill>
              </a:defRPr>
            </a:pPr>
            <a:r>
              <a:t>Bảng danh sách sinh viên.</a:t>
            </a:r>
          </a:p>
          <a:p>
            <a:pPr>
              <a:defRPr sz="1400">
                <a:solidFill>
                  <a:srgbClr val="141414"/>
                </a:solidFill>
              </a:defRPr>
            </a:pPr>
            <a:r>
              <a:t>Form nhập liệu: ID, tên, tuổi, giới tính, SĐT, địa chỉ, ảnh.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29000"/>
            <a:ext cx="512064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429000"/>
            <a:ext cx="73152" cy="182880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2" y="3538728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D1B2A"/>
                </a:solidFill>
              </a:defRPr>
            </a:pPr>
            <a:r>
              <a:t>Khu vực tìm kiếm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3959352"/>
            <a:ext cx="4800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41414"/>
                </a:solidFill>
              </a:defRPr>
            </a:pPr>
            <a:r>
              <a:t>Tìm theo ID, tên, giới tính, khoảng tuổi, địa chỉ hoặc SĐT.</a:t>
            </a:r>
          </a:p>
          <a:p>
            <a:pPr>
              <a:defRPr sz="1400">
                <a:solidFill>
                  <a:srgbClr val="141414"/>
                </a:solidFill>
              </a:defRPr>
            </a:pPr>
            <a:r>
              <a:t>Có nút xóa bộ lọc và tải lại dữ liệu.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429000"/>
            <a:ext cx="5120640" cy="1828800"/>
          </a:xfrm>
          <a:prstGeom prst="roundRect">
            <a:avLst/>
          </a:prstGeom>
          <a:solidFill>
            <a:srgbClr val="F5F7FA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09360" y="3429000"/>
            <a:ext cx="73152" cy="1828800"/>
          </a:xfrm>
          <a:prstGeom prst="rect">
            <a:avLst/>
          </a:prstGeom>
          <a:solidFill>
            <a:srgbClr val="00A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73952" y="3538728"/>
            <a:ext cx="4800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0D1B2A"/>
                </a:solidFill>
              </a:defRPr>
            </a:pPr>
            <a:r>
              <a:t>Nút chức năng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3959352"/>
            <a:ext cx="4800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41414"/>
                </a:solidFill>
              </a:defRPr>
            </a:pPr>
            <a:r>
              <a:t>Thêm, Sửa, Xóa, Lưu, Tìm kiếm, Tải lại, Trở về, Thêm ảnh.</a:t>
            </a:r>
          </a:p>
          <a:p>
            <a:pPr>
              <a:defRPr sz="1400">
                <a:solidFill>
                  <a:srgbClr val="141414"/>
                </a:solidFill>
              </a:defRPr>
            </a:pPr>
            <a:r>
              <a:t>Các nút tự ẩn/khóa theo vai trò.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D1B2A"/>
                </a:solidFill>
              </a:defRPr>
            </a:pPr>
            <a:r>
              <a:t>Ưu điểm của hệ thống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510528"/>
            <a:ext cx="11064240" cy="13716"/>
          </a:xfrm>
          <a:prstGeom prst="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16161"/>
                </a:solidFill>
              </a:defRPr>
            </a:pPr>
            <a:r>
              <a:t>Báo cáo BTL: Hệ thống Quản lý Sinh viên | Java Swing + MySQL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16161"/>
                </a:solidFill>
              </a:defRPr>
            </a:pPr>
            <a:r>
              <a:t>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14300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defRPr sz="1950">
                <a:solidFill>
                  <a:srgbClr val="141414"/>
                </a:solidFill>
              </a:defRPr>
            </a:pPr>
            <a:r>
              <a:t>Có đầy đủ chức năng cơ bản của một hệ thống quản lý sinh viên.</a:t>
            </a:r>
          </a:p>
          <a:p>
            <a:pPr>
              <a:buChar char="•"/>
              <a:defRPr sz="1950">
                <a:solidFill>
                  <a:srgbClr val="141414"/>
                </a:solidFill>
              </a:defRPr>
            </a:pPr>
            <a:r>
              <a:t>Dữ liệu được lưu trong MySQL nên dễ quản lý, sao lưu và mở rộng.</a:t>
            </a:r>
          </a:p>
          <a:p>
            <a:pPr>
              <a:buChar char="•"/>
              <a:defRPr sz="1950">
                <a:solidFill>
                  <a:srgbClr val="141414"/>
                </a:solidFill>
              </a:defRPr>
            </a:pPr>
            <a:r>
              <a:t>Có phân quyền theo vai trò, giúp kiểm soát thao tác của người dùng.</a:t>
            </a:r>
          </a:p>
          <a:p>
            <a:pPr>
              <a:buChar char="•"/>
              <a:defRPr sz="1950">
                <a:solidFill>
                  <a:srgbClr val="141414"/>
                </a:solidFill>
              </a:defRPr>
            </a:pPr>
            <a:r>
              <a:t>Giao diện Swing kết hợp FlatLaf tạo cảm giác hiện đại hơn so với Swing mặc định.</a:t>
            </a:r>
          </a:p>
          <a:p>
            <a:pPr>
              <a:buChar char="•"/>
              <a:defRPr sz="1950">
                <a:solidFill>
                  <a:srgbClr val="141414"/>
                </a:solidFill>
              </a:defRPr>
            </a:pPr>
            <a:r>
              <a:t>Tìm kiếm nâng cao linh hoạt, hỗ trợ nhiều điều kiện lọc.</a:t>
            </a:r>
          </a:p>
          <a:p>
            <a:pPr>
              <a:buChar char="•"/>
              <a:defRPr sz="1950">
                <a:solidFill>
                  <a:srgbClr val="141414"/>
                </a:solidFill>
              </a:defRPr>
            </a:pPr>
            <a:r>
              <a:t>Code tách thành các phần rõ ràng: kết nối DB, đăng nhập, quản lý dữ liệu.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D1B2A"/>
                </a:solidFill>
              </a:defRPr>
            </a:pPr>
            <a:r>
              <a:t>Hạn chế và hướng phát triển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510528"/>
            <a:ext cx="11064240" cy="13716"/>
          </a:xfrm>
          <a:prstGeom prst="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16161"/>
                </a:solidFill>
              </a:defRPr>
            </a:pPr>
            <a:r>
              <a:t>Báo cáo BTL: Hệ thống Quản lý Sinh viên | Java Swing + MySQL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16161"/>
                </a:solidFill>
              </a:defRPr>
            </a:pPr>
            <a:r>
              <a:t>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143000"/>
            <a:ext cx="5212080" cy="4480560"/>
          </a:xfrm>
          <a:prstGeom prst="roundRect">
            <a:avLst/>
          </a:prstGeom>
          <a:solidFill>
            <a:srgbClr val="F5F7FA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143000"/>
            <a:ext cx="73152" cy="44805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1252728"/>
            <a:ext cx="4892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1B2A"/>
                </a:solidFill>
              </a:defRPr>
            </a:pPr>
            <a:r>
              <a:t>Hạn chế hiện tại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673352"/>
            <a:ext cx="489204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41414"/>
                </a:solidFill>
              </a:defRPr>
            </a:pPr>
            <a:r>
              <a:rPr sz="1600"/>
              <a:t>Mật khẩu đang lưu dạng văn bản thường, chưa mã hóa.</a:t>
            </a:r>
          </a:p>
          <a:p>
            <a:pPr>
              <a:defRPr sz="1400">
                <a:solidFill>
                  <a:srgbClr val="141414"/>
                </a:solidFill>
              </a:defRPr>
            </a:pPr>
            <a:r>
              <a:rPr sz="1600"/>
              <a:t>Dự án dạng desktop, chưa hỗ trợ truy cập qua web.</a:t>
            </a:r>
          </a:p>
          <a:p>
            <a:pPr>
              <a:defRPr sz="1400">
                <a:solidFill>
                  <a:srgbClr val="141414"/>
                </a:solidFill>
              </a:defRPr>
            </a:pPr>
            <a:r>
              <a:rPr sz="1600"/>
              <a:t>Chưa có chức năng quản lý điểm, lớp học, môn học.</a:t>
            </a:r>
          </a:p>
          <a:p>
            <a:pPr>
              <a:defRPr sz="1400">
                <a:solidFill>
                  <a:srgbClr val="141414"/>
                </a:solidFill>
              </a:defRPr>
            </a:pPr>
            <a:r>
              <a:rPr sz="1600"/>
              <a:t>Chưa có báo cáo thống kê, xuất Excel/PDF.</a:t>
            </a:r>
          </a:p>
          <a:p>
            <a:pPr>
              <a:defRPr sz="1400">
                <a:solidFill>
                  <a:srgbClr val="141414"/>
                </a:solidFill>
              </a:defRPr>
            </a:pPr>
            <a:r>
              <a:rPr sz="1600"/>
              <a:t>Dữ liệu ảnh BLOB có thể làm database nặng nếu lưu nhiều ảnh.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143000"/>
            <a:ext cx="5029200" cy="4480560"/>
          </a:xfrm>
          <a:prstGeom prst="roundRect">
            <a:avLst/>
          </a:prstGeom>
          <a:solidFill>
            <a:srgbClr val="F5F7FA"/>
          </a:solidFill>
          <a:ln>
            <a:solidFill>
              <a:srgbClr val="DA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0" y="1143000"/>
            <a:ext cx="73152" cy="44805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65392" y="1252728"/>
            <a:ext cx="4709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D1B2A"/>
                </a:solidFill>
              </a:defRPr>
            </a:pPr>
            <a:r>
              <a:t>Hướng phát triển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1673352"/>
            <a:ext cx="470916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141414"/>
                </a:solidFill>
              </a:defRPr>
            </a:pPr>
            <a:r>
              <a:rPr sz="1600" dirty="0" err="1"/>
              <a:t>Mã</a:t>
            </a:r>
            <a:r>
              <a:rPr sz="1600" dirty="0"/>
              <a:t> </a:t>
            </a:r>
            <a:r>
              <a:rPr sz="1600" dirty="0" err="1"/>
              <a:t>hóa</a:t>
            </a:r>
            <a:r>
              <a:rPr sz="1600" dirty="0"/>
              <a:t> </a:t>
            </a:r>
            <a:r>
              <a:rPr sz="1600" dirty="0" err="1"/>
              <a:t>mật</a:t>
            </a:r>
            <a:r>
              <a:rPr sz="1600" dirty="0"/>
              <a:t> </a:t>
            </a:r>
            <a:r>
              <a:rPr sz="1600" dirty="0" err="1"/>
              <a:t>khẩu</a:t>
            </a:r>
            <a:r>
              <a:rPr sz="1600" dirty="0"/>
              <a:t> </a:t>
            </a:r>
            <a:r>
              <a:rPr sz="1600" dirty="0" err="1"/>
              <a:t>bằng</a:t>
            </a:r>
            <a:r>
              <a:rPr sz="1600" dirty="0"/>
              <a:t> </a:t>
            </a:r>
            <a:r>
              <a:rPr sz="1600" dirty="0" err="1"/>
              <a:t>BCrypt</a:t>
            </a:r>
            <a:r>
              <a:rPr sz="1600" dirty="0"/>
              <a:t> </a:t>
            </a:r>
            <a:r>
              <a:rPr sz="1600" dirty="0" err="1"/>
              <a:t>hoặc</a:t>
            </a:r>
            <a:r>
              <a:rPr sz="1600" dirty="0"/>
              <a:t> SHA-256 + salt.</a:t>
            </a:r>
          </a:p>
          <a:p>
            <a:pPr>
              <a:defRPr sz="1400">
                <a:solidFill>
                  <a:srgbClr val="141414"/>
                </a:solidFill>
              </a:defRPr>
            </a:pPr>
            <a:r>
              <a:rPr sz="1600" dirty="0" err="1"/>
              <a:t>Bổ</a:t>
            </a:r>
            <a:r>
              <a:rPr sz="1600" dirty="0"/>
              <a:t> sung module </a:t>
            </a:r>
            <a:r>
              <a:rPr sz="1600" dirty="0" err="1"/>
              <a:t>điểm</a:t>
            </a:r>
            <a:r>
              <a:rPr sz="1600" dirty="0"/>
              <a:t>, </a:t>
            </a:r>
            <a:r>
              <a:rPr sz="1600" dirty="0" err="1"/>
              <a:t>lớp</a:t>
            </a:r>
            <a:r>
              <a:rPr sz="1600" dirty="0"/>
              <a:t>, </a:t>
            </a:r>
            <a:r>
              <a:rPr sz="1600" dirty="0" err="1"/>
              <a:t>môn</a:t>
            </a:r>
            <a:r>
              <a:rPr sz="1600" dirty="0"/>
              <a:t> </a:t>
            </a:r>
            <a:r>
              <a:rPr sz="1600" dirty="0" err="1"/>
              <a:t>học</a:t>
            </a:r>
            <a:r>
              <a:rPr sz="1600" dirty="0"/>
              <a:t>, </a:t>
            </a:r>
            <a:r>
              <a:rPr sz="1600" dirty="0" err="1"/>
              <a:t>học</a:t>
            </a:r>
            <a:r>
              <a:rPr sz="1600" dirty="0"/>
              <a:t> </a:t>
            </a:r>
            <a:r>
              <a:rPr sz="1600" dirty="0" err="1"/>
              <a:t>kỳ</a:t>
            </a:r>
            <a:r>
              <a:rPr sz="1600" dirty="0"/>
              <a:t>.</a:t>
            </a:r>
          </a:p>
          <a:p>
            <a:pPr>
              <a:defRPr sz="1400">
                <a:solidFill>
                  <a:srgbClr val="141414"/>
                </a:solidFill>
              </a:defRPr>
            </a:pPr>
            <a:r>
              <a:rPr sz="1600" dirty="0" err="1"/>
              <a:t>Thêm</a:t>
            </a:r>
            <a:r>
              <a:rPr sz="1600" dirty="0"/>
              <a:t> </a:t>
            </a:r>
            <a:r>
              <a:rPr sz="1600" dirty="0" err="1"/>
              <a:t>xuất</a:t>
            </a:r>
            <a:r>
              <a:rPr sz="1600" dirty="0"/>
              <a:t> </a:t>
            </a:r>
            <a:r>
              <a:rPr sz="1600" dirty="0" err="1"/>
              <a:t>báo</a:t>
            </a:r>
            <a:r>
              <a:rPr sz="1600" dirty="0"/>
              <a:t> </a:t>
            </a:r>
            <a:r>
              <a:rPr sz="1600" dirty="0" err="1"/>
              <a:t>cáo</a:t>
            </a:r>
            <a:r>
              <a:rPr sz="1600" dirty="0"/>
              <a:t> </a:t>
            </a:r>
            <a:r>
              <a:rPr sz="1600" dirty="0" err="1"/>
              <a:t>ra</a:t>
            </a:r>
            <a:r>
              <a:rPr sz="1600" dirty="0"/>
              <a:t> Excel/PDF.</a:t>
            </a:r>
          </a:p>
          <a:p>
            <a:pPr>
              <a:defRPr sz="1400">
                <a:solidFill>
                  <a:srgbClr val="141414"/>
                </a:solidFill>
              </a:defRPr>
            </a:pPr>
            <a:r>
              <a:rPr sz="1600" dirty="0" err="1"/>
              <a:t>Nâng</a:t>
            </a:r>
            <a:r>
              <a:rPr sz="1600" dirty="0"/>
              <a:t> </a:t>
            </a:r>
            <a:r>
              <a:rPr sz="1600" dirty="0" err="1"/>
              <a:t>cấp</a:t>
            </a:r>
            <a:r>
              <a:rPr sz="1600" dirty="0"/>
              <a:t> </a:t>
            </a:r>
            <a:r>
              <a:rPr sz="1600" dirty="0" err="1"/>
              <a:t>thành</a:t>
            </a:r>
            <a:r>
              <a:rPr sz="1600" dirty="0"/>
              <a:t> </a:t>
            </a:r>
            <a:r>
              <a:rPr sz="1600" dirty="0" err="1"/>
              <a:t>ứng</a:t>
            </a:r>
            <a:r>
              <a:rPr sz="1600" dirty="0"/>
              <a:t> </a:t>
            </a:r>
            <a:r>
              <a:rPr sz="1600" dirty="0" err="1"/>
              <a:t>dụng</a:t>
            </a:r>
            <a:r>
              <a:rPr sz="1600" dirty="0"/>
              <a:t> web </a:t>
            </a:r>
            <a:r>
              <a:rPr sz="1600" dirty="0" err="1"/>
              <a:t>với</a:t>
            </a:r>
            <a:r>
              <a:rPr sz="1600" dirty="0"/>
              <a:t> Spring Boot.</a:t>
            </a:r>
          </a:p>
          <a:p>
            <a:pPr>
              <a:defRPr sz="1400">
                <a:solidFill>
                  <a:srgbClr val="141414"/>
                </a:solidFill>
              </a:defRPr>
            </a:pPr>
            <a:r>
              <a:rPr sz="1600" dirty="0" err="1"/>
              <a:t>Tối</a:t>
            </a:r>
            <a:r>
              <a:rPr sz="1600" dirty="0"/>
              <a:t> </a:t>
            </a:r>
            <a:r>
              <a:rPr sz="1600" dirty="0" err="1"/>
              <a:t>ưu</a:t>
            </a:r>
            <a:r>
              <a:rPr sz="1600" dirty="0"/>
              <a:t> </a:t>
            </a:r>
            <a:r>
              <a:rPr sz="1600" dirty="0" err="1"/>
              <a:t>lưu</a:t>
            </a:r>
            <a:r>
              <a:rPr sz="1600" dirty="0"/>
              <a:t> </a:t>
            </a:r>
            <a:r>
              <a:rPr sz="1600" dirty="0" err="1"/>
              <a:t>ảnh</a:t>
            </a:r>
            <a:r>
              <a:rPr sz="1600" dirty="0"/>
              <a:t> </a:t>
            </a:r>
            <a:r>
              <a:rPr sz="1600" dirty="0" err="1"/>
              <a:t>bằng</a:t>
            </a:r>
            <a:r>
              <a:rPr sz="1600" dirty="0"/>
              <a:t> </a:t>
            </a:r>
            <a:r>
              <a:rPr sz="1600" dirty="0" err="1"/>
              <a:t>đường</a:t>
            </a:r>
            <a:r>
              <a:rPr sz="1600" dirty="0"/>
              <a:t> </a:t>
            </a:r>
            <a:r>
              <a:rPr sz="1600" dirty="0" err="1"/>
              <a:t>dẫn</a:t>
            </a:r>
            <a:r>
              <a:rPr sz="1600" dirty="0"/>
              <a:t> file </a:t>
            </a:r>
            <a:r>
              <a:rPr sz="1600" dirty="0" err="1"/>
              <a:t>hoặc</a:t>
            </a:r>
            <a:r>
              <a:rPr sz="1600" dirty="0"/>
              <a:t> cloud storage.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D1B2A"/>
                </a:solidFill>
              </a:defRPr>
            </a:pPr>
            <a:r>
              <a:t>Kết luận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510528"/>
            <a:ext cx="11064240" cy="13716"/>
          </a:xfrm>
          <a:prstGeom prst="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16161"/>
                </a:solidFill>
              </a:defRPr>
            </a:pPr>
            <a:r>
              <a:t>Báo cáo BTL: Hệ thống Quản lý Sinh viên | Java Swing + MySQL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16161"/>
                </a:solidFill>
              </a:defRPr>
            </a:pPr>
            <a:r>
              <a:t>32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25880"/>
            <a:ext cx="105156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defRPr sz="2200">
                <a:solidFill>
                  <a:srgbClr val="141414"/>
                </a:solidFill>
              </a:defRPr>
            </a:pPr>
            <a:r>
              <a:t>Đề tài đã xây dựng được ứng dụng quản lý sinh viên bằng Java Swing và MySQL.</a:t>
            </a:r>
          </a:p>
          <a:p>
            <a:pPr>
              <a:buChar char="•"/>
              <a:defRPr sz="2200">
                <a:solidFill>
                  <a:srgbClr val="141414"/>
                </a:solidFill>
              </a:defRPr>
            </a:pPr>
            <a:r>
              <a:t>Hệ thống có đăng nhập, phân quyền, CRUD, tìm kiếm nâng cao và quản lý ảnh sinh viên.</a:t>
            </a:r>
          </a:p>
          <a:p>
            <a:pPr>
              <a:buChar char="•"/>
              <a:defRPr sz="2200">
                <a:solidFill>
                  <a:srgbClr val="141414"/>
                </a:solidFill>
              </a:defRPr>
            </a:pPr>
            <a:r>
              <a:t>Code sử dụng JDBC và PreparedStatement để thao tác với cơ sở dữ liệu.</a:t>
            </a:r>
          </a:p>
          <a:p>
            <a:pPr>
              <a:buChar char="•"/>
              <a:defRPr sz="2200">
                <a:solidFill>
                  <a:srgbClr val="141414"/>
                </a:solidFill>
              </a:defRPr>
            </a:pPr>
            <a:r>
              <a:t>Qua bài tập lớn, nhóm rèn luyện được kỹ năng thiết kế giao diện, xử lý sự kiện, truy vấn SQL và tổ chức project Java.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9496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976D2"/>
                </a:solidFill>
              </a:defRPr>
            </a:pPr>
            <a:r>
              <a:t>Xin cảm ơn thầy/cô và các bạn đã lắng nghe!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PHỤ LỤC CODE CHÍNH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461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BFDBFE"/>
                </a:solidFill>
              </a:defRPr>
            </a:pPr>
            <a:r>
              <a:t>Các đoạn code quan trọng được trích từ file dự án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D1B2A"/>
                </a:solidFill>
              </a:defRPr>
            </a:pPr>
            <a:r>
              <a:rPr dirty="0" err="1"/>
              <a:t>Phụ</a:t>
            </a:r>
            <a:r>
              <a:rPr dirty="0"/>
              <a:t> </a:t>
            </a:r>
            <a:r>
              <a:rPr dirty="0" err="1"/>
              <a:t>lục</a:t>
            </a:r>
            <a:r>
              <a:rPr dirty="0"/>
              <a:t>: </a:t>
            </a:r>
            <a:r>
              <a:rPr dirty="0" err="1"/>
              <a:t>Trạng</a:t>
            </a:r>
            <a:r>
              <a:rPr dirty="0"/>
              <a:t> </a:t>
            </a:r>
            <a:r>
              <a:rPr dirty="0" err="1"/>
              <a:t>thái</a:t>
            </a:r>
            <a:r>
              <a:rPr dirty="0"/>
              <a:t> </a:t>
            </a:r>
            <a:r>
              <a:rPr dirty="0" err="1"/>
              <a:t>nút</a:t>
            </a:r>
            <a:r>
              <a:rPr dirty="0"/>
              <a:t> </a:t>
            </a:r>
            <a:r>
              <a:rPr dirty="0" err="1"/>
              <a:t>theo</a:t>
            </a:r>
            <a:r>
              <a:rPr dirty="0"/>
              <a:t> </a:t>
            </a:r>
            <a:r>
              <a:rPr dirty="0" err="1"/>
              <a:t>vai</a:t>
            </a:r>
            <a:r>
              <a:rPr dirty="0"/>
              <a:t> </a:t>
            </a:r>
            <a:r>
              <a:rPr dirty="0" err="1"/>
              <a:t>trò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548640" y="6510528"/>
            <a:ext cx="11064240" cy="13716"/>
          </a:xfrm>
          <a:prstGeom prst="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16161"/>
                </a:solidFill>
              </a:defRPr>
            </a:pPr>
            <a:r>
              <a:t>Báo cáo BTL: Hệ thống Quản lý Sinh viên | Java Swing + MySQL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16161"/>
                </a:solidFill>
              </a:defRPr>
            </a:pPr>
            <a:r>
              <a:t>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05840"/>
            <a:ext cx="10881360" cy="5394960"/>
          </a:xfrm>
          <a:prstGeom prst="roundRect">
            <a:avLst/>
          </a:prstGeom>
          <a:solidFill>
            <a:srgbClr val="1E293B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005840"/>
            <a:ext cx="1088136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1078992"/>
            <a:ext cx="1371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87171"/>
                </a:solidFill>
              </a:defRPr>
            </a:pPr>
            <a: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078992"/>
            <a:ext cx="1371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BBF24"/>
                </a:solidFill>
              </a:defRPr>
            </a:pPr>
            <a: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078992"/>
            <a:ext cx="1371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4D399"/>
                </a:solidFill>
              </a:defRPr>
            </a:pPr>
            <a: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069848"/>
            <a:ext cx="9966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frmQuanLiSinhVienUI.java - Button state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1417320"/>
            <a:ext cx="10552176" cy="48920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1100">
                <a:solidFill>
                  <a:srgbClr val="E2E8F0"/>
                </a:solidFill>
                <a:latin typeface="Cascadia Mono"/>
              </a:defRPr>
            </a:pPr>
            <a:r>
              <a:rPr sz="1000">
                <a:latin typeface="Cascadia Mono"/>
              </a:rPr>
              <a:t>private void applyBaseButtonState() {</a:t>
            </a:r>
            <a:br>
              <a:rPr sz="1000"/>
            </a:br>
            <a:br>
              <a:rPr sz="1000"/>
            </a:br>
            <a:r>
              <a:rPr sz="1000">
                <a:latin typeface="Cascadia Mono"/>
              </a:rPr>
              <a:t>        boolean canEdit = !vaiTro.equals("sinhvien");</a:t>
            </a:r>
            <a:br>
              <a:rPr sz="1000"/>
            </a:br>
            <a:r>
              <a:rPr sz="1000">
                <a:latin typeface="Cascadia Mono"/>
              </a:rPr>
              <a:t>        boolean canDelete = vaiTro.equals("admin");</a:t>
            </a:r>
            <a:br>
              <a:rPr sz="1000"/>
            </a:br>
            <a:br>
              <a:rPr sz="1000"/>
            </a:br>
            <a:r>
              <a:rPr sz="1000">
                <a:latin typeface="Cascadia Mono"/>
              </a:rPr>
              <a:t>        if (btnThem != null) btnThem.setEnabled(canEdit);</a:t>
            </a:r>
            <a:br>
              <a:rPr sz="1000"/>
            </a:br>
            <a:r>
              <a:rPr sz="1000">
                <a:latin typeface="Cascadia Mono"/>
              </a:rPr>
              <a:t>        if (btnSua  != null) btnSua.setEnabled(canEdit);</a:t>
            </a:r>
            <a:br>
              <a:rPr sz="1000"/>
            </a:br>
            <a:r>
              <a:rPr sz="1000">
                <a:latin typeface="Cascadia Mono"/>
              </a:rPr>
              <a:t>        if (btnXoa  != null) btnXoa.setEnabled(canDelete);</a:t>
            </a:r>
            <a:br>
              <a:rPr sz="1000"/>
            </a:br>
            <a:r>
              <a:rPr sz="1000">
                <a:latin typeface="Cascadia Mono"/>
              </a:rPr>
              <a:t>        if (btnLuu  != null) btnLuu.setEnabled(false);</a:t>
            </a:r>
            <a:br>
              <a:rPr sz="1000"/>
            </a:br>
            <a:r>
              <a:rPr sz="1000">
                <a:latin typeface="Cascadia Mono"/>
              </a:rPr>
              <a:t>        isInsert = false;</a:t>
            </a:r>
            <a:br>
              <a:rPr sz="1000"/>
            </a:br>
            <a:r>
              <a:rPr sz="1000">
                <a:latin typeface="Cascadia Mono"/>
              </a:rPr>
              <a:t>        isUpdate = false;</a:t>
            </a:r>
            <a:br>
              <a:rPr sz="1000"/>
            </a:br>
            <a:r>
              <a:rPr sz="1000">
                <a:latin typeface="Cascadia Mono"/>
              </a:rPr>
              <a:t>    }</a:t>
            </a:r>
            <a:br>
              <a:rPr sz="1000"/>
            </a:br>
            <a:br>
              <a:rPr sz="1000"/>
            </a:br>
            <a:r>
              <a:rPr sz="1000">
                <a:latin typeface="Cascadia Mono"/>
              </a:rPr>
              <a:t>    private void setButtonStateForEdit(boolean editing) {</a:t>
            </a:r>
            <a:br>
              <a:rPr sz="1000"/>
            </a:br>
            <a:r>
              <a:rPr sz="1000">
                <a:latin typeface="Cascadia Mono"/>
              </a:rPr>
              <a:t>        if (btnThem != null) btnThem.setEnabled(!editing);</a:t>
            </a:r>
            <a:br>
              <a:rPr sz="1000"/>
            </a:br>
            <a:r>
              <a:rPr sz="1000">
                <a:latin typeface="Cascadia Mono"/>
              </a:rPr>
              <a:t>        if (btnSua  != null) btnSua.setEnabled(!editing);</a:t>
            </a:r>
            <a:br>
              <a:rPr sz="1000"/>
            </a:br>
            <a:r>
              <a:rPr sz="1000">
                <a:latin typeface="Cascadia Mono"/>
              </a:rPr>
              <a:t>        if (btnXoa  != null) btnXoa.setEnabled(!editing);</a:t>
            </a:r>
            <a:br>
              <a:rPr sz="1000"/>
            </a:br>
            <a:r>
              <a:rPr sz="1000">
                <a:latin typeface="Cascadia Mono"/>
              </a:rPr>
              <a:t>        if (btnLuu  != null) btnLuu.setEnabled(editing);</a:t>
            </a:r>
            <a:br>
              <a:rPr sz="1000"/>
            </a:br>
            <a:r>
              <a:rPr sz="1000">
                <a:latin typeface="Cascadia Mono"/>
              </a:rPr>
              <a:t>    }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D1B2A"/>
                </a:solidFill>
              </a:defRPr>
            </a:pPr>
            <a:r>
              <a:t>Phụ lục: Constructor form quản lý sinh viên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6510528"/>
            <a:ext cx="11064240" cy="13716"/>
          </a:xfrm>
          <a:prstGeom prst="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16161"/>
                </a:solidFill>
              </a:defRPr>
            </a:pPr>
            <a:r>
              <a:t>Báo cáo BTL: Hệ thống Quản lý Sinh viên | Java Swing + MySQL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16161"/>
                </a:solidFill>
              </a:defRPr>
            </a:pPr>
            <a:r>
              <a:t>35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05840"/>
            <a:ext cx="10881360" cy="5394960"/>
          </a:xfrm>
          <a:prstGeom prst="roundRect">
            <a:avLst/>
          </a:prstGeom>
          <a:solidFill>
            <a:srgbClr val="1E293B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005840"/>
            <a:ext cx="1088136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1078992"/>
            <a:ext cx="1371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87171"/>
                </a:solidFill>
              </a:defRPr>
            </a:pPr>
            <a: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078992"/>
            <a:ext cx="1371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BBF24"/>
                </a:solidFill>
              </a:defRPr>
            </a:pPr>
            <a: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078992"/>
            <a:ext cx="1371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4D399"/>
                </a:solidFill>
              </a:defRPr>
            </a:pPr>
            <a: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069848"/>
            <a:ext cx="9966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frmQuanLiSinhVienUI.java - constructor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1417320"/>
            <a:ext cx="10552176" cy="48920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1070">
                <a:solidFill>
                  <a:srgbClr val="E2E8F0"/>
                </a:solidFill>
                <a:latin typeface="Cascadia Mono"/>
              </a:defRPr>
            </a:pPr>
            <a:r>
              <a:rPr sz="900">
                <a:latin typeface="Cascadia Mono"/>
              </a:rPr>
              <a:t>public frmQuanLiSinhVienUI(String vaiTro) {</a:t>
            </a:r>
            <a:br/>
            <a:r>
              <a:rPr sz="900">
                <a:latin typeface="Cascadia Mono"/>
              </a:rPr>
              <a:t>        this.vaiTro = (vaiTro != null) ? vaiTro : "giaovien";</a:t>
            </a:r>
            <a:br/>
            <a:r>
              <a:rPr sz="900">
                <a:latin typeface="Cascadia Mono"/>
              </a:rPr>
              <a:t>        conn = DBConnection.Ketnoi();</a:t>
            </a:r>
            <a:br/>
            <a:br/>
            <a:r>
              <a:rPr sz="900">
                <a:latin typeface="Cascadia Mono"/>
              </a:rPr>
              <a:t>        if (cbnSearchGioiTinh != null) {</a:t>
            </a:r>
            <a:br/>
            <a:r>
              <a:rPr sz="900">
                <a:latin typeface="Cascadia Mono"/>
              </a:rPr>
              <a:t>            cbnSearchGioiTinh.removeAllItems();</a:t>
            </a:r>
            <a:br/>
            <a:r>
              <a:rPr sz="900">
                <a:latin typeface="Cascadia Mono"/>
              </a:rPr>
              <a:t>            cbnSearchGioiTinh.addItem("Tất cả");</a:t>
            </a:r>
            <a:br/>
            <a:r>
              <a:rPr sz="900">
                <a:latin typeface="Cascadia Mono"/>
              </a:rPr>
              <a:t>            cbnSearchGioiTinh.addItem("Nam");</a:t>
            </a:r>
            <a:br/>
            <a:r>
              <a:rPr sz="900">
                <a:latin typeface="Cascadia Mono"/>
              </a:rPr>
              <a:t>            cbnSearchGioiTinh.addItem("Nữ");</a:t>
            </a:r>
            <a:br/>
            <a:r>
              <a:rPr sz="900">
                <a:latin typeface="Cascadia Mono"/>
              </a:rPr>
              <a:t>            cbnSearchGioiTinh.setSelectedIndex(0);</a:t>
            </a:r>
            <a:br/>
            <a:r>
              <a:rPr sz="900">
                <a:latin typeface="Cascadia Mono"/>
              </a:rPr>
              <a:t>        }</a:t>
            </a:r>
            <a:br/>
            <a:br/>
            <a:r>
              <a:rPr sz="900">
                <a:latin typeface="Cascadia Mono"/>
              </a:rPr>
              <a:t>        this.setContentPane(pnlMain);</a:t>
            </a:r>
            <a:br/>
            <a:r>
              <a:rPr sz="900">
                <a:latin typeface="Cascadia Mono"/>
              </a:rPr>
              <a:t>        this.setTitle("Quản Lý Sinh Viên [" + getTenVaiTro() + "]");</a:t>
            </a:r>
            <a:br/>
            <a:r>
              <a:rPr sz="900">
                <a:latin typeface="Cascadia Mono"/>
              </a:rPr>
              <a:t>        this.setSize(1100, 750);</a:t>
            </a:r>
            <a:br/>
            <a:r>
              <a:rPr sz="900">
                <a:latin typeface="Cascadia Mono"/>
              </a:rPr>
              <a:t>        this.setLocationRelativeTo(null);</a:t>
            </a:r>
            <a:br/>
            <a:r>
              <a:rPr sz="900">
                <a:latin typeface="Cascadia Mono"/>
              </a:rPr>
              <a:t>        this.setDefaultCloseOperation(JFrame.EXIT_ON_CLOSE);</a:t>
            </a:r>
            <a:br/>
            <a:br/>
            <a:r>
              <a:rPr sz="900">
                <a:latin typeface="Cascadia Mono"/>
              </a:rPr>
              <a:t>        if (pnlSearch != null) {</a:t>
            </a:r>
            <a:br/>
            <a:r>
              <a:rPr sz="900">
                <a:latin typeface="Cascadia Mono"/>
              </a:rPr>
              <a:t>            pnlSearch.setBorder(BorderFactory.createTitledBorder(</a:t>
            </a:r>
            <a:br/>
            <a:r>
              <a:rPr sz="900">
                <a:latin typeface="Cascadia Mono"/>
              </a:rPr>
              <a:t>                    BorderFactory.createEtchedBorder(), "🔍 Tìm kiếm nâng cao"));</a:t>
            </a:r>
            <a:br/>
            <a:r>
              <a:rPr sz="900">
                <a:latin typeface="Cascadia Mono"/>
              </a:rPr>
              <a:t>        }</a:t>
            </a:r>
            <a:br/>
            <a:br/>
            <a:r>
              <a:rPr sz="900">
                <a:latin typeface="Cascadia Mono"/>
              </a:rPr>
              <a:t>        LoadData(buildDefaultQuery(), new Object[]{});</a:t>
            </a:r>
            <a:br/>
            <a:r>
              <a:rPr sz="900">
                <a:latin typeface="Cascadia Mono"/>
              </a:rPr>
              <a:t>        apDungPhanQuyen();</a:t>
            </a:r>
            <a:br/>
            <a:br/>
            <a:r>
              <a:rPr sz="900">
                <a:latin typeface="Cascadia Mono"/>
              </a:rPr>
              <a:t>        EnableSearch(false);</a:t>
            </a:r>
            <a:br/>
            <a:r>
              <a:rPr sz="900">
                <a:latin typeface="Cascadia Mono"/>
              </a:rPr>
              <a:t>        EnableFields(false);</a:t>
            </a:r>
            <a:br/>
            <a:br/>
            <a:r>
              <a:rPr sz="900">
                <a:latin typeface="Cascadia Mono"/>
              </a:rPr>
              <a:t>        dangKySuKien();</a:t>
            </a:r>
            <a:br/>
            <a:r>
              <a:rPr sz="900">
                <a:latin typeface="Cascadia Mono"/>
              </a:rPr>
              <a:t>        this.setVisible(true);</a:t>
            </a:r>
            <a:br/>
            <a:r>
              <a:rPr sz="900">
                <a:latin typeface="Cascadia Mono"/>
              </a:rPr>
              <a:t>// ...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D1B2A"/>
                </a:solidFill>
              </a:defRPr>
            </a:pPr>
            <a:r>
              <a:rPr dirty="0" err="1"/>
              <a:t>Phụ</a:t>
            </a:r>
            <a:r>
              <a:rPr dirty="0"/>
              <a:t> </a:t>
            </a:r>
            <a:r>
              <a:rPr dirty="0" err="1"/>
              <a:t>lục</a:t>
            </a:r>
            <a:r>
              <a:rPr dirty="0"/>
              <a:t>: Main </a:t>
            </a:r>
            <a:r>
              <a:rPr dirty="0" err="1"/>
              <a:t>chạy</a:t>
            </a:r>
            <a:r>
              <a:rPr dirty="0"/>
              <a:t> </a:t>
            </a:r>
            <a:r>
              <a:rPr dirty="0" err="1"/>
              <a:t>giao</a:t>
            </a:r>
            <a:r>
              <a:rPr dirty="0"/>
              <a:t> </a:t>
            </a:r>
            <a:r>
              <a:rPr dirty="0" err="1"/>
              <a:t>diện</a:t>
            </a:r>
            <a:r>
              <a:rPr dirty="0"/>
              <a:t> </a:t>
            </a:r>
            <a:r>
              <a:rPr dirty="0" err="1"/>
              <a:t>quản</a:t>
            </a:r>
            <a:r>
              <a:rPr dirty="0"/>
              <a:t> </a:t>
            </a:r>
            <a:r>
              <a:rPr dirty="0" err="1"/>
              <a:t>lý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548640" y="6510528"/>
            <a:ext cx="11064240" cy="13716"/>
          </a:xfrm>
          <a:prstGeom prst="rect">
            <a:avLst/>
          </a:prstGeom>
          <a:solidFill>
            <a:srgbClr val="E1E6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6547104"/>
            <a:ext cx="6400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>
                <a:solidFill>
                  <a:srgbClr val="616161"/>
                </a:solidFill>
              </a:defRPr>
            </a:pPr>
            <a:r>
              <a:t>Báo cáo BTL: Hệ thống Quản lý Sinh viên | Java Swing + MySQL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547104"/>
            <a:ext cx="640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616161"/>
                </a:solidFill>
              </a:defRPr>
            </a:pPr>
            <a:r>
              <a:t>36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005840"/>
            <a:ext cx="10881360" cy="5394960"/>
          </a:xfrm>
          <a:prstGeom prst="roundRect">
            <a:avLst/>
          </a:prstGeom>
          <a:solidFill>
            <a:srgbClr val="1E293B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005840"/>
            <a:ext cx="10881360" cy="3200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8096" y="1078992"/>
            <a:ext cx="1371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87171"/>
                </a:solidFill>
              </a:defRPr>
            </a:pPr>
            <a:r>
              <a:t>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078992"/>
            <a:ext cx="1371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BBF24"/>
                </a:solidFill>
              </a:defRPr>
            </a:pPr>
            <a:r>
              <a:t>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078992"/>
            <a:ext cx="137160" cy="1097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34D399"/>
                </a:solidFill>
              </a:defRPr>
            </a:pPr>
            <a:r>
              <a:t>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1069848"/>
            <a:ext cx="9966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frmQuanLiSinhVienUI.java - main()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1417320"/>
            <a:ext cx="10552176" cy="489204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1060">
                <a:solidFill>
                  <a:srgbClr val="E2E8F0"/>
                </a:solidFill>
                <a:latin typeface="Cascadia Mono"/>
              </a:defRPr>
            </a:pPr>
            <a:r>
              <a:rPr sz="900" dirty="0">
                <a:latin typeface="Cascadia Mono"/>
              </a:rPr>
              <a:t>public static void main(String[] </a:t>
            </a:r>
            <a:r>
              <a:rPr sz="900" dirty="0" err="1">
                <a:latin typeface="Cascadia Mono"/>
              </a:rPr>
              <a:t>args</a:t>
            </a:r>
            <a:r>
              <a:rPr sz="900" dirty="0">
                <a:latin typeface="Cascadia Mono"/>
              </a:rPr>
              <a:t>) {</a:t>
            </a:r>
            <a:br>
              <a:rPr dirty="0"/>
            </a:br>
            <a:r>
              <a:rPr sz="900" dirty="0">
                <a:latin typeface="Cascadia Mono"/>
              </a:rPr>
              <a:t>        try {</a:t>
            </a:r>
            <a:br>
              <a:rPr dirty="0"/>
            </a:br>
            <a:r>
              <a:rPr sz="900" dirty="0">
                <a:latin typeface="Cascadia Mono"/>
              </a:rPr>
              <a:t>            // 1. </a:t>
            </a:r>
            <a:r>
              <a:rPr sz="900" dirty="0" err="1">
                <a:latin typeface="Cascadia Mono"/>
              </a:rPr>
              <a:t>Cấu</a:t>
            </a:r>
            <a:r>
              <a:rPr sz="900" dirty="0">
                <a:latin typeface="Cascadia Mono"/>
              </a:rPr>
              <a:t> </a:t>
            </a:r>
            <a:r>
              <a:rPr sz="900" dirty="0" err="1">
                <a:latin typeface="Cascadia Mono"/>
              </a:rPr>
              <a:t>hình</a:t>
            </a:r>
            <a:r>
              <a:rPr sz="900" dirty="0">
                <a:latin typeface="Cascadia Mono"/>
              </a:rPr>
              <a:t> </a:t>
            </a:r>
            <a:r>
              <a:rPr sz="900" dirty="0" err="1">
                <a:latin typeface="Cascadia Mono"/>
              </a:rPr>
              <a:t>bo</a:t>
            </a:r>
            <a:r>
              <a:rPr sz="900" dirty="0">
                <a:latin typeface="Cascadia Mono"/>
              </a:rPr>
              <a:t> </a:t>
            </a:r>
            <a:r>
              <a:rPr sz="900" dirty="0" err="1">
                <a:latin typeface="Cascadia Mono"/>
              </a:rPr>
              <a:t>góc</a:t>
            </a:r>
            <a:r>
              <a:rPr sz="900" dirty="0">
                <a:latin typeface="Cascadia Mono"/>
              </a:rPr>
              <a:t> </a:t>
            </a:r>
            <a:r>
              <a:rPr sz="900" dirty="0" err="1">
                <a:latin typeface="Cascadia Mono"/>
              </a:rPr>
              <a:t>tròn</a:t>
            </a:r>
            <a:r>
              <a:rPr sz="900" dirty="0">
                <a:latin typeface="Cascadia Mono"/>
              </a:rPr>
              <a:t> </a:t>
            </a:r>
            <a:r>
              <a:rPr sz="900" dirty="0" err="1">
                <a:latin typeface="Cascadia Mono"/>
              </a:rPr>
              <a:t>trịa</a:t>
            </a:r>
            <a:r>
              <a:rPr sz="900" dirty="0">
                <a:latin typeface="Cascadia Mono"/>
              </a:rPr>
              <a:t> </a:t>
            </a:r>
            <a:r>
              <a:rPr sz="900" dirty="0" err="1">
                <a:latin typeface="Cascadia Mono"/>
              </a:rPr>
              <a:t>hơn</a:t>
            </a:r>
            <a:br>
              <a:rPr dirty="0"/>
            </a:br>
            <a:r>
              <a:rPr sz="900" dirty="0">
                <a:latin typeface="Cascadia Mono"/>
              </a:rPr>
              <a:t>            </a:t>
            </a:r>
            <a:r>
              <a:rPr sz="900" dirty="0" err="1">
                <a:latin typeface="Cascadia Mono"/>
              </a:rPr>
              <a:t>UIManager.put</a:t>
            </a:r>
            <a:r>
              <a:rPr sz="900" dirty="0">
                <a:latin typeface="Cascadia Mono"/>
              </a:rPr>
              <a:t>("Button.arc", 15);</a:t>
            </a:r>
            <a:br>
              <a:rPr dirty="0"/>
            </a:br>
            <a:r>
              <a:rPr sz="900" dirty="0">
                <a:latin typeface="Cascadia Mono"/>
              </a:rPr>
              <a:t>            </a:t>
            </a:r>
            <a:r>
              <a:rPr sz="900" dirty="0" err="1">
                <a:latin typeface="Cascadia Mono"/>
              </a:rPr>
              <a:t>UIManager.put</a:t>
            </a:r>
            <a:r>
              <a:rPr sz="900" dirty="0">
                <a:latin typeface="Cascadia Mono"/>
              </a:rPr>
              <a:t>("Component.arc", 15);</a:t>
            </a:r>
            <a:br>
              <a:rPr dirty="0"/>
            </a:br>
            <a:r>
              <a:rPr sz="900" dirty="0">
                <a:latin typeface="Cascadia Mono"/>
              </a:rPr>
              <a:t>            </a:t>
            </a:r>
            <a:r>
              <a:rPr sz="900" dirty="0" err="1">
                <a:latin typeface="Cascadia Mono"/>
              </a:rPr>
              <a:t>UIManager.put</a:t>
            </a:r>
            <a:r>
              <a:rPr sz="900" dirty="0">
                <a:latin typeface="Cascadia Mono"/>
              </a:rPr>
              <a:t>("TextComponent.arc", 15);</a:t>
            </a:r>
            <a:br>
              <a:rPr dirty="0"/>
            </a:br>
            <a:br>
              <a:rPr dirty="0"/>
            </a:br>
            <a:r>
              <a:rPr sz="900" dirty="0">
                <a:latin typeface="Cascadia Mono"/>
              </a:rPr>
              <a:t>            // 2. ÉP MÀU XANH CHO TOÀN BỘ NÚT BẤM</a:t>
            </a:r>
            <a:br>
              <a:rPr dirty="0"/>
            </a:br>
            <a:r>
              <a:rPr sz="900" dirty="0">
                <a:latin typeface="Cascadia Mono"/>
              </a:rPr>
              <a:t>            Color </a:t>
            </a:r>
            <a:r>
              <a:rPr sz="900" dirty="0" err="1">
                <a:latin typeface="Cascadia Mono"/>
              </a:rPr>
              <a:t>modernBlue</a:t>
            </a:r>
            <a:r>
              <a:rPr sz="900" dirty="0">
                <a:latin typeface="Cascadia Mono"/>
              </a:rPr>
              <a:t> = new Color(21, 124, 219);</a:t>
            </a:r>
            <a:br>
              <a:rPr dirty="0"/>
            </a:br>
            <a:r>
              <a:rPr sz="900" dirty="0">
                <a:latin typeface="Cascadia Mono"/>
              </a:rPr>
              <a:t>            </a:t>
            </a:r>
            <a:r>
              <a:rPr sz="900" dirty="0" err="1">
                <a:latin typeface="Cascadia Mono"/>
              </a:rPr>
              <a:t>UIManager.put</a:t>
            </a:r>
            <a:r>
              <a:rPr sz="900" dirty="0">
                <a:latin typeface="Cascadia Mono"/>
              </a:rPr>
              <a:t>("</a:t>
            </a:r>
            <a:r>
              <a:rPr sz="900" dirty="0" err="1">
                <a:latin typeface="Cascadia Mono"/>
              </a:rPr>
              <a:t>Button.background</a:t>
            </a:r>
            <a:r>
              <a:rPr sz="900" dirty="0">
                <a:latin typeface="Cascadia Mono"/>
              </a:rPr>
              <a:t>", </a:t>
            </a:r>
            <a:r>
              <a:rPr sz="900" dirty="0" err="1">
                <a:latin typeface="Cascadia Mono"/>
              </a:rPr>
              <a:t>modernBlue</a:t>
            </a:r>
            <a:r>
              <a:rPr sz="900" dirty="0">
                <a:latin typeface="Cascadia Mono"/>
              </a:rPr>
              <a:t>);                   </a:t>
            </a:r>
            <a:br>
              <a:rPr dirty="0"/>
            </a:br>
            <a:r>
              <a:rPr sz="900" dirty="0">
                <a:latin typeface="Cascadia Mono"/>
              </a:rPr>
              <a:t>            </a:t>
            </a:r>
            <a:r>
              <a:rPr sz="900" dirty="0" err="1">
                <a:latin typeface="Cascadia Mono"/>
              </a:rPr>
              <a:t>UIManager.put</a:t>
            </a:r>
            <a:r>
              <a:rPr sz="900" dirty="0">
                <a:latin typeface="Cascadia Mono"/>
              </a:rPr>
              <a:t>("</a:t>
            </a:r>
            <a:r>
              <a:rPr sz="900" dirty="0" err="1">
                <a:latin typeface="Cascadia Mono"/>
              </a:rPr>
              <a:t>Button.foreground</a:t>
            </a:r>
            <a:r>
              <a:rPr sz="900" dirty="0">
                <a:latin typeface="Cascadia Mono"/>
              </a:rPr>
              <a:t>", </a:t>
            </a:r>
            <a:r>
              <a:rPr sz="900" dirty="0" err="1">
                <a:latin typeface="Cascadia Mono"/>
              </a:rPr>
              <a:t>Color.WHITE</a:t>
            </a:r>
            <a:r>
              <a:rPr sz="900" dirty="0">
                <a:latin typeface="Cascadia Mono"/>
              </a:rPr>
              <a:t>);                  </a:t>
            </a:r>
            <a:br>
              <a:rPr dirty="0"/>
            </a:br>
            <a:r>
              <a:rPr sz="900" dirty="0">
                <a:latin typeface="Cascadia Mono"/>
              </a:rPr>
              <a:t>            </a:t>
            </a:r>
            <a:r>
              <a:rPr sz="900" dirty="0" err="1">
                <a:latin typeface="Cascadia Mono"/>
              </a:rPr>
              <a:t>UIManager.put</a:t>
            </a:r>
            <a:r>
              <a:rPr sz="900" dirty="0">
                <a:latin typeface="Cascadia Mono"/>
              </a:rPr>
              <a:t>("</a:t>
            </a:r>
            <a:r>
              <a:rPr sz="900" dirty="0" err="1">
                <a:latin typeface="Cascadia Mono"/>
              </a:rPr>
              <a:t>Button.hoverBackground</a:t>
            </a:r>
            <a:r>
              <a:rPr sz="900" dirty="0">
                <a:latin typeface="Cascadia Mono"/>
              </a:rPr>
              <a:t>", new Color(51, 153, 255)); </a:t>
            </a:r>
            <a:br>
              <a:rPr dirty="0"/>
            </a:br>
            <a:r>
              <a:rPr sz="900" dirty="0">
                <a:latin typeface="Cascadia Mono"/>
              </a:rPr>
              <a:t>                </a:t>
            </a:r>
            <a:r>
              <a:rPr sz="900" dirty="0" err="1">
                <a:latin typeface="Cascadia Mono"/>
              </a:rPr>
              <a:t>chuột</a:t>
            </a:r>
            <a:r>
              <a:rPr sz="900" dirty="0">
                <a:latin typeface="Cascadia Mono"/>
              </a:rPr>
              <a:t> </a:t>
            </a:r>
            <a:r>
              <a:rPr sz="900" dirty="0" err="1">
                <a:latin typeface="Cascadia Mono"/>
              </a:rPr>
              <a:t>vào</a:t>
            </a:r>
            <a:br>
              <a:rPr dirty="0"/>
            </a:br>
            <a:br>
              <a:rPr dirty="0"/>
            </a:br>
            <a:r>
              <a:rPr sz="900" dirty="0">
                <a:latin typeface="Cascadia Mono"/>
              </a:rPr>
              <a:t>            // 3. </a:t>
            </a:r>
            <a:r>
              <a:rPr sz="900" dirty="0" err="1">
                <a:latin typeface="Cascadia Mono"/>
              </a:rPr>
              <a:t>Màu</a:t>
            </a:r>
            <a:r>
              <a:rPr sz="900" dirty="0">
                <a:latin typeface="Cascadia Mono"/>
              </a:rPr>
              <a:t> </a:t>
            </a:r>
            <a:r>
              <a:rPr sz="900" dirty="0" err="1">
                <a:latin typeface="Cascadia Mono"/>
              </a:rPr>
              <a:t>của</a:t>
            </a:r>
            <a:r>
              <a:rPr sz="900" dirty="0">
                <a:latin typeface="Cascadia Mono"/>
              </a:rPr>
              <a:t> </a:t>
            </a:r>
            <a:r>
              <a:rPr sz="900" dirty="0" err="1">
                <a:latin typeface="Cascadia Mono"/>
              </a:rPr>
              <a:t>các</a:t>
            </a:r>
            <a:r>
              <a:rPr sz="900" dirty="0">
                <a:latin typeface="Cascadia Mono"/>
              </a:rPr>
              <a:t> </a:t>
            </a:r>
            <a:r>
              <a:rPr sz="900" dirty="0" err="1">
                <a:latin typeface="Cascadia Mono"/>
              </a:rPr>
              <a:t>thành</a:t>
            </a:r>
            <a:r>
              <a:rPr sz="900" dirty="0">
                <a:latin typeface="Cascadia Mono"/>
              </a:rPr>
              <a:t> </a:t>
            </a:r>
            <a:r>
              <a:rPr sz="900" dirty="0" err="1">
                <a:latin typeface="Cascadia Mono"/>
              </a:rPr>
              <a:t>phần</a:t>
            </a:r>
            <a:r>
              <a:rPr sz="900" dirty="0">
                <a:latin typeface="Cascadia Mono"/>
              </a:rPr>
              <a:t> </a:t>
            </a:r>
            <a:r>
              <a:rPr sz="900" dirty="0" err="1">
                <a:latin typeface="Cascadia Mono"/>
              </a:rPr>
              <a:t>khác</a:t>
            </a:r>
            <a:r>
              <a:rPr sz="900" dirty="0">
                <a:latin typeface="Cascadia Mono"/>
              </a:rPr>
              <a:t> (</a:t>
            </a:r>
            <a:r>
              <a:rPr sz="900" dirty="0" err="1">
                <a:latin typeface="Cascadia Mono"/>
              </a:rPr>
              <a:t>viền</a:t>
            </a:r>
            <a:r>
              <a:rPr sz="900" dirty="0">
                <a:latin typeface="Cascadia Mono"/>
              </a:rPr>
              <a:t> focus, </a:t>
            </a:r>
            <a:r>
              <a:rPr sz="900" dirty="0" err="1">
                <a:latin typeface="Cascadia Mono"/>
              </a:rPr>
              <a:t>bảng</a:t>
            </a:r>
            <a:r>
              <a:rPr sz="900" dirty="0">
                <a:latin typeface="Cascadia Mono"/>
              </a:rPr>
              <a:t>...)</a:t>
            </a:r>
            <a:br>
              <a:rPr dirty="0"/>
            </a:br>
            <a:r>
              <a:rPr sz="900" dirty="0">
                <a:latin typeface="Cascadia Mono"/>
              </a:rPr>
              <a:t>            </a:t>
            </a:r>
            <a:r>
              <a:rPr sz="900" dirty="0" err="1">
                <a:latin typeface="Cascadia Mono"/>
              </a:rPr>
              <a:t>UIManager.put</a:t>
            </a:r>
            <a:r>
              <a:rPr sz="900" dirty="0">
                <a:latin typeface="Cascadia Mono"/>
              </a:rPr>
              <a:t>("</a:t>
            </a:r>
            <a:r>
              <a:rPr sz="900" dirty="0" err="1">
                <a:latin typeface="Cascadia Mono"/>
              </a:rPr>
              <a:t>Component.focusColor</a:t>
            </a:r>
            <a:r>
              <a:rPr sz="900" dirty="0">
                <a:latin typeface="Cascadia Mono"/>
              </a:rPr>
              <a:t>", </a:t>
            </a:r>
            <a:r>
              <a:rPr sz="900" dirty="0" err="1">
                <a:latin typeface="Cascadia Mono"/>
              </a:rPr>
              <a:t>modernBlue</a:t>
            </a:r>
            <a:r>
              <a:rPr sz="900" dirty="0">
                <a:latin typeface="Cascadia Mono"/>
              </a:rPr>
              <a:t>);</a:t>
            </a:r>
            <a:br>
              <a:rPr dirty="0"/>
            </a:br>
            <a:r>
              <a:rPr sz="900" dirty="0">
                <a:latin typeface="Cascadia Mono"/>
              </a:rPr>
              <a:t>            </a:t>
            </a:r>
            <a:r>
              <a:rPr sz="900" dirty="0" err="1">
                <a:latin typeface="Cascadia Mono"/>
              </a:rPr>
              <a:t>UIManager.put</a:t>
            </a:r>
            <a:r>
              <a:rPr sz="900" dirty="0">
                <a:latin typeface="Cascadia Mono"/>
              </a:rPr>
              <a:t>("</a:t>
            </a:r>
            <a:r>
              <a:rPr sz="900" dirty="0" err="1">
                <a:latin typeface="Cascadia Mono"/>
              </a:rPr>
              <a:t>Component.accentColor</a:t>
            </a:r>
            <a:r>
              <a:rPr sz="900" dirty="0">
                <a:latin typeface="Cascadia Mono"/>
              </a:rPr>
              <a:t>", </a:t>
            </a:r>
            <a:r>
              <a:rPr sz="900" dirty="0" err="1">
                <a:latin typeface="Cascadia Mono"/>
              </a:rPr>
              <a:t>modernBlue</a:t>
            </a:r>
            <a:r>
              <a:rPr sz="900" dirty="0">
                <a:latin typeface="Cascadia Mono"/>
              </a:rPr>
              <a:t>);</a:t>
            </a:r>
            <a:br>
              <a:rPr dirty="0"/>
            </a:br>
            <a:br>
              <a:rPr dirty="0"/>
            </a:br>
            <a:r>
              <a:rPr sz="900" dirty="0">
                <a:latin typeface="Cascadia Mono"/>
              </a:rPr>
              <a:t>            </a:t>
            </a:r>
            <a:r>
              <a:rPr sz="900" dirty="0" err="1">
                <a:latin typeface="Cascadia Mono"/>
              </a:rPr>
              <a:t>UIManager.put</a:t>
            </a:r>
            <a:r>
              <a:rPr sz="900" dirty="0">
                <a:latin typeface="Cascadia Mono"/>
              </a:rPr>
              <a:t>("</a:t>
            </a:r>
            <a:r>
              <a:rPr sz="900" dirty="0" err="1">
                <a:latin typeface="Cascadia Mono"/>
              </a:rPr>
              <a:t>Table.showHorizontalLines</a:t>
            </a:r>
            <a:r>
              <a:rPr sz="900" dirty="0">
                <a:latin typeface="Cascadia Mono"/>
              </a:rPr>
              <a:t>", true);</a:t>
            </a:r>
            <a:br>
              <a:rPr dirty="0"/>
            </a:br>
            <a:r>
              <a:rPr sz="900" dirty="0">
                <a:latin typeface="Cascadia Mono"/>
              </a:rPr>
              <a:t>            </a:t>
            </a:r>
            <a:r>
              <a:rPr sz="900" dirty="0" err="1">
                <a:latin typeface="Cascadia Mono"/>
              </a:rPr>
              <a:t>UIManager.put</a:t>
            </a:r>
            <a:r>
              <a:rPr sz="900" dirty="0">
                <a:latin typeface="Cascadia Mono"/>
              </a:rPr>
              <a:t>("</a:t>
            </a:r>
            <a:r>
              <a:rPr sz="900" dirty="0" err="1">
                <a:latin typeface="Cascadia Mono"/>
              </a:rPr>
              <a:t>Table.showVerticalLines</a:t>
            </a:r>
            <a:r>
              <a:rPr sz="900" dirty="0">
                <a:latin typeface="Cascadia Mono"/>
              </a:rPr>
              <a:t>", true);</a:t>
            </a:r>
            <a:br>
              <a:rPr dirty="0"/>
            </a:br>
            <a:r>
              <a:rPr sz="900" dirty="0">
                <a:latin typeface="Cascadia Mono"/>
              </a:rPr>
              <a:t>            </a:t>
            </a:r>
            <a:r>
              <a:rPr sz="900" dirty="0" err="1">
                <a:latin typeface="Cascadia Mono"/>
              </a:rPr>
              <a:t>UIManager.put</a:t>
            </a:r>
            <a:r>
              <a:rPr sz="900" dirty="0">
                <a:latin typeface="Cascadia Mono"/>
              </a:rPr>
              <a:t>("</a:t>
            </a:r>
            <a:r>
              <a:rPr sz="900" dirty="0" err="1">
                <a:latin typeface="Cascadia Mono"/>
              </a:rPr>
              <a:t>Table.gridColor</a:t>
            </a:r>
            <a:r>
              <a:rPr sz="900" dirty="0">
                <a:latin typeface="Cascadia Mono"/>
              </a:rPr>
              <a:t>", new Color(180,180,180));</a:t>
            </a:r>
            <a:br>
              <a:rPr dirty="0"/>
            </a:br>
            <a:br>
              <a:rPr dirty="0"/>
            </a:br>
            <a:r>
              <a:rPr sz="900" dirty="0">
                <a:latin typeface="Cascadia Mono"/>
              </a:rPr>
              <a:t>            </a:t>
            </a:r>
            <a:r>
              <a:rPr sz="900" dirty="0" err="1">
                <a:latin typeface="Cascadia Mono"/>
              </a:rPr>
              <a:t>UIManager.put</a:t>
            </a:r>
            <a:r>
              <a:rPr sz="900" dirty="0">
                <a:latin typeface="Cascadia Mono"/>
              </a:rPr>
              <a:t>("</a:t>
            </a:r>
            <a:r>
              <a:rPr sz="900" dirty="0" err="1">
                <a:latin typeface="Cascadia Mono"/>
              </a:rPr>
              <a:t>Table.selectionBackground</a:t>
            </a:r>
            <a:r>
              <a:rPr sz="900" dirty="0">
                <a:latin typeface="Cascadia Mono"/>
              </a:rPr>
              <a:t>", new Color(51, 153, 255));</a:t>
            </a:r>
            <a:br>
              <a:rPr dirty="0"/>
            </a:br>
            <a:r>
              <a:rPr sz="900" dirty="0">
                <a:latin typeface="Cascadia Mono"/>
              </a:rPr>
              <a:t>            </a:t>
            </a:r>
            <a:r>
              <a:rPr sz="900" dirty="0" err="1">
                <a:latin typeface="Cascadia Mono"/>
              </a:rPr>
              <a:t>UIManager.put</a:t>
            </a:r>
            <a:r>
              <a:rPr sz="900" dirty="0">
                <a:latin typeface="Cascadia Mono"/>
              </a:rPr>
              <a:t>("</a:t>
            </a:r>
            <a:r>
              <a:rPr sz="900" dirty="0" err="1">
                <a:latin typeface="Cascadia Mono"/>
              </a:rPr>
              <a:t>Table.selectionForeground</a:t>
            </a:r>
            <a:r>
              <a:rPr sz="900" dirty="0">
                <a:latin typeface="Cascadia Mono"/>
              </a:rPr>
              <a:t>", </a:t>
            </a:r>
            <a:r>
              <a:rPr sz="900" dirty="0" err="1">
                <a:latin typeface="Cascadia Mono"/>
              </a:rPr>
              <a:t>Color.WHITE</a:t>
            </a:r>
            <a:r>
              <a:rPr sz="900" dirty="0">
                <a:latin typeface="Cascadia Mono"/>
              </a:rPr>
              <a:t>);</a:t>
            </a:r>
            <a:br>
              <a:rPr dirty="0"/>
            </a:br>
            <a:br>
              <a:rPr dirty="0"/>
            </a:br>
            <a:r>
              <a:rPr sz="900" dirty="0">
                <a:latin typeface="Cascadia Mono"/>
              </a:rPr>
              <a:t>            </a:t>
            </a:r>
            <a:r>
              <a:rPr sz="900" dirty="0" err="1">
                <a:latin typeface="Cascadia Mono"/>
              </a:rPr>
              <a:t>UIManager.put</a:t>
            </a:r>
            <a:r>
              <a:rPr sz="900" dirty="0">
                <a:latin typeface="Cascadia Mono"/>
              </a:rPr>
              <a:t>("</a:t>
            </a:r>
            <a:r>
              <a:rPr sz="900" dirty="0" err="1">
                <a:latin typeface="Cascadia Mono"/>
              </a:rPr>
              <a:t>TableHeader.background</a:t>
            </a:r>
            <a:r>
              <a:rPr sz="900" dirty="0">
                <a:latin typeface="Cascadia Mono"/>
              </a:rPr>
              <a:t>", new Color(230,230,230));</a:t>
            </a:r>
            <a:br>
              <a:rPr dirty="0"/>
            </a:br>
            <a:r>
              <a:rPr sz="900" dirty="0">
                <a:latin typeface="Cascadia Mono"/>
              </a:rPr>
              <a:t>            // 4. </a:t>
            </a:r>
            <a:r>
              <a:rPr sz="900" dirty="0" err="1">
                <a:latin typeface="Cascadia Mono"/>
              </a:rPr>
              <a:t>Khởi</a:t>
            </a:r>
            <a:r>
              <a:rPr sz="900" dirty="0">
                <a:latin typeface="Cascadia Mono"/>
              </a:rPr>
              <a:t> </a:t>
            </a:r>
            <a:r>
              <a:rPr sz="900" dirty="0" err="1">
                <a:latin typeface="Cascadia Mono"/>
              </a:rPr>
              <a:t>tạo</a:t>
            </a:r>
            <a:r>
              <a:rPr sz="900" dirty="0">
                <a:latin typeface="Cascadia Mono"/>
              </a:rPr>
              <a:t> </a:t>
            </a:r>
            <a:r>
              <a:rPr sz="900" dirty="0" err="1">
                <a:latin typeface="Cascadia Mono"/>
              </a:rPr>
              <a:t>FlatLaf</a:t>
            </a:r>
            <a:br>
              <a:rPr dirty="0"/>
            </a:br>
            <a:r>
              <a:rPr sz="900" dirty="0">
                <a:latin typeface="Cascadia Mono"/>
              </a:rPr>
              <a:t>            </a:t>
            </a:r>
            <a:r>
              <a:rPr sz="900" dirty="0" err="1">
                <a:latin typeface="Cascadia Mono"/>
              </a:rPr>
              <a:t>com.formdev.flatlaf.FlatLightLaf.setup</a:t>
            </a:r>
            <a:r>
              <a:rPr sz="900" dirty="0">
                <a:latin typeface="Cascadia Mono"/>
              </a:rPr>
              <a:t>();</a:t>
            </a:r>
            <a:br>
              <a:rPr dirty="0"/>
            </a:br>
            <a:br>
              <a:rPr dirty="0"/>
            </a:br>
            <a:r>
              <a:rPr sz="900" dirty="0">
                <a:latin typeface="Cascadia Mono"/>
              </a:rPr>
              <a:t>        } catch (Exception ex) {</a:t>
            </a:r>
            <a:br>
              <a:rPr dirty="0"/>
            </a:br>
            <a:r>
              <a:rPr sz="900" dirty="0">
                <a:latin typeface="Cascadia Mono"/>
              </a:rPr>
              <a:t>            </a:t>
            </a:r>
            <a:r>
              <a:rPr sz="900" dirty="0" err="1">
                <a:latin typeface="Cascadia Mono"/>
              </a:rPr>
              <a:t>System.err.println</a:t>
            </a:r>
            <a:r>
              <a:rPr sz="900" dirty="0">
                <a:latin typeface="Cascadia Mono"/>
              </a:rPr>
              <a:t>("</a:t>
            </a:r>
            <a:r>
              <a:rPr sz="900" dirty="0" err="1">
                <a:latin typeface="Cascadia Mono"/>
              </a:rPr>
              <a:t>Không</a:t>
            </a:r>
            <a:r>
              <a:rPr sz="900" dirty="0">
                <a:latin typeface="Cascadia Mono"/>
              </a:rPr>
              <a:t> </a:t>
            </a:r>
            <a:r>
              <a:rPr sz="900" dirty="0" err="1">
                <a:latin typeface="Cascadia Mono"/>
              </a:rPr>
              <a:t>thể</a:t>
            </a:r>
            <a:r>
              <a:rPr sz="900" dirty="0">
                <a:latin typeface="Cascadia Mono"/>
              </a:rPr>
              <a:t> </a:t>
            </a:r>
            <a:r>
              <a:rPr sz="900" dirty="0" err="1">
                <a:latin typeface="Cascadia Mono"/>
              </a:rPr>
              <a:t>khởi</a:t>
            </a:r>
            <a:r>
              <a:rPr sz="900" dirty="0">
                <a:latin typeface="Cascadia Mono"/>
              </a:rPr>
              <a:t> </a:t>
            </a:r>
            <a:r>
              <a:rPr sz="900" dirty="0" err="1">
                <a:latin typeface="Cascadia Mono"/>
              </a:rPr>
              <a:t>tạo</a:t>
            </a:r>
            <a:r>
              <a:rPr sz="900" dirty="0">
                <a:latin typeface="Cascadia Mono"/>
              </a:rPr>
              <a:t> </a:t>
            </a:r>
            <a:r>
              <a:rPr sz="900" dirty="0" err="1">
                <a:latin typeface="Cascadia Mono"/>
              </a:rPr>
              <a:t>FlatLaf</a:t>
            </a:r>
            <a:r>
              <a:rPr sz="900" dirty="0">
                <a:latin typeface="Cascadia Mono"/>
              </a:rPr>
              <a:t>");</a:t>
            </a:r>
            <a:br>
              <a:rPr dirty="0"/>
            </a:br>
            <a:r>
              <a:rPr sz="900" dirty="0">
                <a:latin typeface="Cascadia Mono"/>
              </a:rPr>
              <a:t>// ...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29E02FE-C612-F237-E21E-1C401D990B8A}"/>
              </a:ext>
            </a:extLst>
          </p:cNvPr>
          <p:cNvSpPr txBox="1"/>
          <p:nvPr/>
        </p:nvSpPr>
        <p:spPr>
          <a:xfrm>
            <a:off x="442451" y="310799"/>
            <a:ext cx="11307097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0D1B2A"/>
                </a:solidFill>
              </a:defRPr>
            </a:pP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endParaRPr lang="en-US" dirty="0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88CDB272-B8B3-596D-FFAD-E81582CAFE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7565" y="1313180"/>
            <a:ext cx="7416869" cy="4231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96411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2901F-7C99-6FAB-D6C4-987A8BD36A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912E71C-3840-24D6-B3F5-74A7334EE6A8}"/>
              </a:ext>
            </a:extLst>
          </p:cNvPr>
          <p:cNvSpPr txBox="1"/>
          <p:nvPr/>
        </p:nvSpPr>
        <p:spPr>
          <a:xfrm>
            <a:off x="442451" y="310799"/>
            <a:ext cx="11307097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0D1B2A"/>
                </a:solidFill>
              </a:defRPr>
            </a:pP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2194851-F654-E190-D805-22737323F4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3641" y="1158350"/>
            <a:ext cx="7564718" cy="45412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83934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0B1DE-2EEE-EC2F-784F-1F4FDE186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9B547B-025C-527A-FAD8-C1203FFC199C}"/>
              </a:ext>
            </a:extLst>
          </p:cNvPr>
          <p:cNvSpPr txBox="1"/>
          <p:nvPr/>
        </p:nvSpPr>
        <p:spPr>
          <a:xfrm>
            <a:off x="442451" y="310799"/>
            <a:ext cx="11307097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0D1B2A"/>
                </a:solidFill>
              </a:defRPr>
            </a:pP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diện</a:t>
            </a:r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FB00CD3-6C90-4F64-453B-36A0EEE703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2481" y="1202820"/>
            <a:ext cx="6527036" cy="4452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17289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B56307F-9814-5FEF-9F5E-AC15342A953A}"/>
              </a:ext>
            </a:extLst>
          </p:cNvPr>
          <p:cNvSpPr/>
          <p:nvPr/>
        </p:nvSpPr>
        <p:spPr>
          <a:xfrm>
            <a:off x="3638835" y="1305342"/>
            <a:ext cx="4914329" cy="212365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6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YOU!</a:t>
            </a:r>
          </a:p>
          <a:p>
            <a:pPr algn="ctr"/>
            <a:endParaRPr lang="en-US" sz="6600" b="1" cap="none" spc="0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DB0F4DA-F7DB-927D-CB5A-31367DE4339A}"/>
              </a:ext>
            </a:extLst>
          </p:cNvPr>
          <p:cNvCxnSpPr>
            <a:cxnSpLocks/>
          </p:cNvCxnSpPr>
          <p:nvPr/>
        </p:nvCxnSpPr>
        <p:spPr>
          <a:xfrm flipH="1">
            <a:off x="3775586" y="2674374"/>
            <a:ext cx="467925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7FFF87BC-372D-F79F-8DCD-A27850151E46}"/>
              </a:ext>
            </a:extLst>
          </p:cNvPr>
          <p:cNvSpPr/>
          <p:nvPr/>
        </p:nvSpPr>
        <p:spPr>
          <a:xfrm>
            <a:off x="2380533" y="3152418"/>
            <a:ext cx="7430931" cy="132343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Cảm</a:t>
            </a:r>
            <a:r>
              <a:rPr lang="en-US" sz="40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 </a:t>
            </a:r>
            <a:r>
              <a:rPr lang="en-US" sz="4000" b="1" dirty="0" err="1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ơn</a:t>
            </a:r>
            <a:r>
              <a:rPr lang="en-US" sz="40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 </a:t>
            </a:r>
            <a:r>
              <a:rPr lang="en-US" sz="4000" b="1" dirty="0" err="1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thầy</a:t>
            </a:r>
            <a:r>
              <a:rPr lang="en-US" sz="40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 </a:t>
            </a:r>
            <a:r>
              <a:rPr lang="en-US" sz="4000" b="1" dirty="0" err="1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cô</a:t>
            </a:r>
            <a:r>
              <a:rPr lang="en-US" sz="40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 </a:t>
            </a:r>
            <a:r>
              <a:rPr lang="en-US" sz="4000" b="1" dirty="0" err="1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và</a:t>
            </a:r>
            <a:r>
              <a:rPr lang="en-US" sz="40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 </a:t>
            </a:r>
            <a:r>
              <a:rPr lang="en-US" sz="4000" b="1" dirty="0" err="1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các</a:t>
            </a:r>
            <a:r>
              <a:rPr lang="en-US" sz="40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 </a:t>
            </a:r>
            <a:r>
              <a:rPr lang="en-US" sz="4000" b="1" dirty="0" err="1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bạn</a:t>
            </a:r>
            <a:r>
              <a:rPr lang="en-US" sz="40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 </a:t>
            </a:r>
            <a:r>
              <a:rPr lang="en-US" sz="4000" b="1" dirty="0" err="1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đã</a:t>
            </a:r>
            <a:r>
              <a:rPr lang="en-US" sz="40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 </a:t>
            </a:r>
            <a:r>
              <a:rPr lang="en-US" sz="4000" b="1" dirty="0" err="1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lắng</a:t>
            </a:r>
            <a:r>
              <a:rPr lang="en-US" sz="40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 </a:t>
            </a:r>
            <a:r>
              <a:rPr lang="en-US" sz="4000" b="1" dirty="0" err="1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nghe</a:t>
            </a:r>
            <a:endParaRPr lang="en-US" sz="40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2DF7888-1350-D64C-956F-8D4EAB723144}"/>
              </a:ext>
            </a:extLst>
          </p:cNvPr>
          <p:cNvSpPr/>
          <p:nvPr/>
        </p:nvSpPr>
        <p:spPr>
          <a:xfrm>
            <a:off x="2340640" y="4601497"/>
            <a:ext cx="7510716" cy="161249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accent1"/>
                </a:solidFill>
              </a:rPr>
              <a:t>                                  HỆ THỐNG QUẢN LÍ SINH VIÊN</a:t>
            </a:r>
          </a:p>
          <a:p>
            <a:r>
              <a:rPr lang="en-US" sz="2400" dirty="0">
                <a:solidFill>
                  <a:schemeClr val="accent1"/>
                </a:solidFill>
              </a:rPr>
              <a:t>                                  Java Swing + My SQL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04ADE28-3941-9F43-EB01-B271E23BD449}"/>
              </a:ext>
            </a:extLst>
          </p:cNvPr>
          <p:cNvCxnSpPr>
            <a:cxnSpLocks/>
          </p:cNvCxnSpPr>
          <p:nvPr/>
        </p:nvCxnSpPr>
        <p:spPr>
          <a:xfrm flipV="1">
            <a:off x="4041058" y="4601497"/>
            <a:ext cx="0" cy="16124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2D4CDF74-1996-3792-6882-3B197DA63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6637" y="4721288"/>
            <a:ext cx="928424" cy="1372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6723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6997</Words>
  <Application>Microsoft Office PowerPoint</Application>
  <PresentationFormat>Widescreen</PresentationFormat>
  <Paragraphs>417</Paragraphs>
  <Slides>41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5" baseType="lpstr">
      <vt:lpstr>Arial</vt:lpstr>
      <vt:lpstr>Calibri</vt:lpstr>
      <vt:lpstr>Cascadia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A50045 NGUYỄN QUANG HIỆP</cp:lastModifiedBy>
  <cp:revision>4</cp:revision>
  <dcterms:created xsi:type="dcterms:W3CDTF">2013-01-27T09:14:16Z</dcterms:created>
  <dcterms:modified xsi:type="dcterms:W3CDTF">2026-05-27T15:28:25Z</dcterms:modified>
  <cp:category/>
</cp:coreProperties>
</file>